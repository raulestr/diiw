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4803" r:id="rId1"/>
  </p:sldMasterIdLst>
  <p:notesMasterIdLst>
    <p:notesMasterId r:id="rId18"/>
  </p:notesMasterIdLst>
  <p:handoutMasterIdLst>
    <p:handoutMasterId r:id="rId19"/>
  </p:handoutMasterIdLst>
  <p:sldIdLst>
    <p:sldId id="277" r:id="rId2"/>
    <p:sldId id="603" r:id="rId3"/>
    <p:sldId id="608" r:id="rId4"/>
    <p:sldId id="611" r:id="rId5"/>
    <p:sldId id="612" r:id="rId6"/>
    <p:sldId id="618" r:id="rId7"/>
    <p:sldId id="613" r:id="rId8"/>
    <p:sldId id="609" r:id="rId9"/>
    <p:sldId id="610" r:id="rId10"/>
    <p:sldId id="614" r:id="rId11"/>
    <p:sldId id="616" r:id="rId12"/>
    <p:sldId id="617" r:id="rId13"/>
    <p:sldId id="615" r:id="rId14"/>
    <p:sldId id="607" r:id="rId15"/>
    <p:sldId id="604" r:id="rId16"/>
    <p:sldId id="605" r:id="rId17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200"/>
    <a:srgbClr val="F2B800"/>
    <a:srgbClr val="E1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85" autoAdjust="0"/>
    <p:restoredTop sz="99112" autoAdjust="0"/>
  </p:normalViewPr>
  <p:slideViewPr>
    <p:cSldViewPr>
      <p:cViewPr varScale="1">
        <p:scale>
          <a:sx n="117" d="100"/>
          <a:sy n="117" d="100"/>
        </p:scale>
        <p:origin x="178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20" y="-90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0EE77-5F38-457B-96A8-67CE15DC456B}" type="datetimeFigureOut">
              <a:rPr lang="es-ES" smtClean="0"/>
              <a:pPr/>
              <a:t>24/09/2026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415D2-09C9-45E9-8984-F1E4AAC1ABA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2561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11E10-B218-48E2-B7C9-DEE9015F2796}" type="datetimeFigureOut">
              <a:rPr lang="es-ES" smtClean="0"/>
              <a:pPr/>
              <a:t>24/09/2026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3F345-9B85-45FE-A289-6E9AEA1DBE5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716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3F345-9B85-45FE-A289-6E9AEA1DBE5E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171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C8F5EBE-D15D-4979-B44E-9A846C4182D8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91974DF9-AD47-4691-BA21-BBFCE3637A9A}" type="slidenum">
              <a:rPr kumimoji="0" lang="en-US" smtClean="0"/>
              <a:pPr eaLnBrk="1" latinLnBrk="0" hangingPunct="1"/>
              <a:t>‹Nº›</a:t>
            </a:fld>
            <a:endParaRPr kumimoji="0" lang="en-US" dirty="0"/>
          </a:p>
        </p:txBody>
      </p:sp>
      <p:sp>
        <p:nvSpPr>
          <p:cNvPr id="7" name="Rectangle 1"/>
          <p:cNvSpPr>
            <a:spLocks noChangeArrowheads="1"/>
          </p:cNvSpPr>
          <p:nvPr userDrawn="1"/>
        </p:nvSpPr>
        <p:spPr bwMode="auto">
          <a:xfrm>
            <a:off x="2483768" y="5824119"/>
            <a:ext cx="42484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24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I.E.S. </a:t>
            </a:r>
            <a:r>
              <a:rPr kumimoji="0" lang="es-ES_tradnl" sz="2400" b="1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Txurdinaga-Artabe</a:t>
            </a:r>
            <a:endParaRPr kumimoji="0" lang="es-ES_tradnl" sz="2400" b="1" i="0" u="none" strike="noStrike" cap="none" normalizeH="0" baseline="0" dirty="0" smtClean="0">
              <a:ln>
                <a:noFill/>
              </a:ln>
              <a:solidFill>
                <a:schemeClr val="tx2">
                  <a:lumMod val="25000"/>
                </a:schemeClr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62596F2-6DAB-484A-B3EA-2A00C6A078B3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E45677C-7103-4026-AEC7-719DD3604233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3F78F60-EF38-4D24-9E29-087DF885C579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328C616-A571-4B28-9F11-B9706C3AA4F6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1701934-CBED-4B3E-ACCF-0BC2CF96F07F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2520F7D-3AF7-4B81-AC04-DECB38F90354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DE42B5D-E325-420D-8A79-7C7E7112DD93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BF23FF8-97B8-4246-AF60-916A0235E389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2FC5A4F-CAD3-4D49-8F7F-C0223B70D2E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D3D7A2B-CEF8-4F8B-85EC-76CD387D8B13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eaLnBrk="1" latinLnBrk="0" hangingPunct="1"/>
            <a:fld id="{B37FA328-F8CC-4DA5-9300-48729342F3F3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4" r:id="rId1"/>
    <p:sldLayoutId id="2147484805" r:id="rId2"/>
    <p:sldLayoutId id="2147484806" r:id="rId3"/>
    <p:sldLayoutId id="2147484807" r:id="rId4"/>
    <p:sldLayoutId id="2147484808" r:id="rId5"/>
    <p:sldLayoutId id="2147484809" r:id="rId6"/>
    <p:sldLayoutId id="2147484810" r:id="rId7"/>
    <p:sldLayoutId id="2147484811" r:id="rId8"/>
    <p:sldLayoutId id="2147484812" r:id="rId9"/>
    <p:sldLayoutId id="2147484813" r:id="rId10"/>
    <p:sldLayoutId id="214748481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3_backgrounds.asp" TargetMode="External"/><Relationship Id="rId2" Type="http://schemas.openxmlformats.org/officeDocument/2006/relationships/hyperlink" Target="https://www.w3schools.com/css/css_background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sarrolloweb.com/articulos/degradado-lineal-css3.html" TargetMode="External"/><Relationship Id="rId4" Type="http://schemas.openxmlformats.org/officeDocument/2006/relationships/hyperlink" Target="https://www.w3schools.com/css/css3_gradients.asp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5175" y="3717032"/>
            <a:ext cx="7772400" cy="1362456"/>
          </a:xfrm>
        </p:spPr>
        <p:txBody>
          <a:bodyPr>
            <a:normAutofit/>
          </a:bodyPr>
          <a:lstStyle/>
          <a:p>
            <a:pPr algn="ctr"/>
            <a:r>
              <a:rPr lang="es-ES" dirty="0" err="1" smtClean="0">
                <a:solidFill>
                  <a:schemeClr val="tx1"/>
                </a:solidFill>
              </a:rPr>
              <a:t>CSS</a:t>
            </a:r>
            <a:r>
              <a:rPr lang="es-ES" dirty="0" smtClean="0">
                <a:solidFill>
                  <a:schemeClr val="tx1"/>
                </a:solidFill>
              </a:rPr>
              <a:t> – FONDOS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AutoShape 4" descr="data:image/jpeg;base64,/9j/4AAQSkZJRgABAQAAAQABAAD/2wCEAAkGBxITDxQUEhIWFBQVGBQXFRQVFBQUFRQXFRQWFxcUFRQYHSggGBolGxQUITEhJSkrLi4uFx8zODMsNygtLisBCgoKDg0OGxAQGywkHyQsLCwsLCwsLCwsLCwsLCwsLCwsLCwsLCwsLCwsLCwsLCwsLCwsLCwsLCwsLCwsLCwsLP/AABEIALQBGQMBEQACEQEDEQH/xAAbAAEAAgMBAQAAAAAAAAAAAAAABQYCAwQBB//EAEIQAAEDAgMEBgcFBwIHAAAAAAEAAhEDBBIhMQUGQVETYXGBkaEHIjJCUrHBcoKy0eEUIzNikqLC8PEVFiRDY4Pi/8QAGgEBAAMBAQEAAAAAAAAAAAAAAAIDBAEFBv/EACwRAAICAgIBBAIBAwUBAAAAAAABAhEDBBIhMQUTIkEyUWEUI3EVQoGR8OH/2gAMAwEAAhEDEQA/APuKAIAgCAIAgCAIAgCAIAgCAIAgCAIAgCAIAgCAIAgCAIAgCAIAgCAIAgCAIAgCAIAgCAIAgCAIAgCAIAgCAIAgCAIAgCAIAgCAIAgCAIAgCAIAgCAIAgCAIAgCAIAgCAIAgCAIAgCAIAgCAIAgCAIAgCAIAgCAIAgCAIAgCAIAgCAIAgCAIAgCAIAgCAIAgCAIAgCAIAgCAIAgCAIAgCAIAgCAIAgCAIAgEoAgCAIDyUFiUB7KAIAgCAIAgCAIAgCAIAgCAIAgCAIAgCAIAgCAIAgCAIDwlAeBwSmR5I5LnadGm7DUrU2O1hz2tMc4JXVjk/xQc4o5/wDmC1mOnpz9ofNW/wBNlq+JX7+P9nBdb7WVNxa6rmDBhro7jEFWQ0c0vohLbxx+zGhvxZu95w68Mj+2VbL0vOldEFu42Ql16T2Mc4fsdxAJAfDS0gH2vVJIB10XV6bOrkHuR/2mih6VqNQFtNg6QghjXEwXRkDlMdikvTrf5HP6ppXRw3PpA2i1pJtqMDM4HPcYHU4BaF6bFdO2VPdb8Mz2L6Ua1Z5YbaCAXEmWiAQNZPNcfpi/lf5D3JLt0XPd3eB1y9zTSwYQCXYpGZ00WHa1PYSuRp19j3CwLIaQgCAIAgCAwe8DXJEm/BxtLycjLzHPRwQJBcdARGUd6scOLqRSsvLuJC3u0ndJhFQmNSMhPUOS14sCceTPPz7MlLiib2cT0Ykkk5yVlyJKXR6GFtxtnQMgoFjaXbOX9rafZcJ61L22Zv6iLtJmuy2xTe7CfVfyPHsPFTnryirI4t7HN8fskgVnNx4XBd7ONpGp93Tb7T2jtcApKE34RFzivLPaN0x4lj2uHNpB+S44SXlBZIvwzg2zvFa2pY24qtpl8lgOrsMTHiPFShjlP8Tk8ih5I5++1oNHOd2MP1WqGhml4Rne7iRust77SoYx4D/OMPnouZNDPD/aSht45fZX96/SZRtLnoRSNUYGv6Rrxh9actDOg05qOLWb/J0Snnr8ezitvSh0pAptpydGlzsXgYW7H6ZGXfIyZNzJHzE67rfas6kRTptZUkQ4nG2OOWo81JelJS7doqfqVxIK533vGkhz4I+BrPyV8dHAvMSP9VkkrTO/Zm910WtcH42nOHtE8tRHEJP07A/CorW/ODpuymbzXF7Rmq28qu6SoZY4y1uLE6BJ9kREQux1eLqBOG17rfIx3W2xc1axa8wA0uL2kg8ABketXe211OJDLPgrgyc2psWlcOx1gX1IAxlzsWWmc8FxYYLpIzx2sj8lItGVBUaxlR4OIN9oke1GhW+WrCOPki/3X9n0N9Fo4LMm/Bju2UY1JuQ4aGo0jsxBblNSxUWuNF3qtyOXArEn3TIq0ypbt2TDcYmgeoCcuZyH18Ffmx44pcS5zlXZZdofwqn2XfIqmMlF2RUbZCbnEPY+qBEkME9Qk/MeCty51lkqJThw6Prm41rhoF/F7vJuXzlfM+o5OWWv0erpQqFlmWE2hAEAQHhXAYVqoa0ucYAzJPBdSb6RyTUVbKbtTatVxdUeHNotgMpADFUxSA5+ct7OC9LDigkkvP3/AAebmyTbbfg8qXD7axOWF7nmSDIGI5RyyAVkYRy5/wCCpuWLB15Nm7NkHtFV85mWjgY4nvXN3LxfCI09fkuUiyWjngHG4O5Q3DA+q8+VPwejBSXTMNrXWCi5wGLh2TlKlhhymkQ2JNQdEBQqlzHEHA6lm+QQQDp26ada2SXGSXlM8XhKUG/DRA3t+CZnPg4ZFeljwdUzxnkalaLPurvB0n7qofX90/GB9V5e7qPH84ro+i9M3/c/tzfZCekei5tWnUBIDmlpEmJaZ07D5KOnOrRu2I32UrH60EcJ18fp4r6DA4zXSPG2G8b7Oq1uX0zLHOYebXEfLVWT14T6kjNHblHwVv0g7SrV61I1XYsNPC0xHvEunr9nwXk5taOKfxR62tneWHy8nBusXmsAHODQCS2cjlGmmpC060ZXZVuSUYF1H+s1vaPI5tld31t5p03j3XEHscB9QsWzi5VR6GjlfaZwbpUZuB/KHHyj6q/FBRiWbUriy8NUzy0V68fiqOPWfLL6LLJ9nr4lUSV2Af3UcnO8/W/yV0X0Yc6qZq3uH/SOPJzT5x9VKD4uyWurlRzbjUf3b6nxHCD1NzJ8T5JknzJ7KrotEKpdGaPkomy6BO13t92m57/qPxBdeeUvj9HpTSjiv7LbtWthovPVA7TkPmumOK7KUdQeRB8CpQnSaNUl0XypoVFlMPJX9y7TBbufxqPce5pLR9T3rkLLs0raRNVvWpujMFrvMFSfghD8uzg3ZtOjtKTYzLcRHW/OPMKPUI2WZHzmfaNmWvR0WMHutA7+Pmvlssuc3I9vFHjBI61AsCAIAgPCgKhvptsU6tGjORmpU6mNBI8x5Lfo6sskZSMG1nUZpFQ2Rt4vviTEVCGjF7rWyWgDnML2NjRcNdV9HnYNnln7+y7GsCIIBHI5r55Nxdo9uUVJdmyjVDQABAGQAyAC6227YUUvBlcXbwxxYAXx6oOhPWuw48kpHMilxbiQw22+2LxVbLIxA4hm8gFzWg5lsnuW2Gqs1e2efPYlhtTKxX3kquDwA1ofk6BLi3P1S46jMr18fp2OLVni5Nyck0jiovc9wa0FzjkANStc+OONy6RijBzlxR30baqx5AltVoFSmPjggkAnWBi8IWLJnxzj12n0zVDWyY534a8Fr3hri72U2uNWFriORHqvHmSvC9v2M7g//I+lx5Vmwc/s+c1DD2nrLfH9QF7enKpNHm70bx2dQXonjLwQO+FGadN3JxB7CP8A5WPZx8uz0dGdNow3Po+2/saPmforcaVdHd19UWcKxnn+Di29QxW1QcQMX9Of0Krn+Jo13U0Q24gnpXx8LR5k/RV45cjZvLjUS429Iuc1o1cQ0d5j6ruSajFt/RhxR5SSKvWplrnNOrSQe4wsifJWevVOiT3ed/EHW0+II+gWiHgwbXUjZvZTxWNb7IP9Lgfok/BzVlWRHTu/a9Fa0mcQ0E9rsz81yKpHM0uU2dtCuHiW6S4d7SQfMFdIVRF2FjhvbmrHtCkB3tl3yCikrNGTJeNI17zVfUa3mZ7m/qQpsYkVmsPVPYVwufZe5kdykUfZx1iKFuY0Y2B28PNShG3RK7dnmxjNtTn4APDJGu6O/ZO7uWgfc02xk04iOpvD5LHuz44WX60eU0fTQvmk/s90yXQEAQBAeFcYPiG/V4X31Q6w4tH3ThhfZelwUMFs+Z2m5ZmbNn7LaaQeGONVpzYXYRAPExrHCeKy7W9/ccW+jVravwUq7LiyuvnpP9Hsm1tVcQNoqqcU26X2Rk0lbKRtPagvHMpso4ahdAcSJIg5Expx7l9Hra71YubfVHz+zljstRS7J2huoxoGeIw4kvHqRkC2BmDmSCOSyZPUJydfRatGEUjVQ3ffTqtq0zhhpcySHAPGjXGPZM5cUlu88fCXZGOlUuUSJ23Vu2OpurvkyXMEg4SIOUZcR4LbqQwTTUF9dmfaWaEk5f8ABZNw6pq07qg8RjGOIgDpAWmBwGhXmeqY4xlGUf8AH/Rt9LbcZRf+SjXlMgOB9ppOXW06eIU8E6pl+eHJNHRTMgEcV7V+D55qpNEdvNTm0qRq2HeB/KVVmVxNOm0sq/k93WoYbVnN0u8dPIBMKqPZ3cleRr9EqagBaDq6Y7hKm32UKNq0bHNkEHQgg9hUZK1Qi2pJkTunZdFQc069I/8AtOEfJV44cTVtzU5J/wAFz3Ut8d3T5Nlx+6MvMhZPUJ8cL/ks9PhyzIq29lv0d9cN/wDIT/VDv8lTryvGj0Mq+bNOwnRVI5t+RH5rbjMG0icuaIexzDo4QVNmOLa7PbmsGMc7kCR3aBRonFcpERunWJoOB1D3T96HfMqVF2ZEyXIkVV0Q29dthbQf8YqeDXAfUrOsnLI4/o3QhxgmVt5yVlnS621SabDza38IVqXRm+2Qe996G02snNxk9jf1K458C3FDkjt3aq4rWmftfiKKV9iSpn0DcG1l1SpGkMHfmf8AFeP6pk7UD0dGH2XMLyao9H7PUAQGMoD2UB45cYfg+TWmzcVzWfUb7D3YSfixTMdh1619BsbK/p4wgzydfB/dlJkg6QvFlyvs9NUZMqLiOs3tqKSRBs3MqdauxRbkqK5tKLso1XaMVHOosbSnIEAFw4EgnSY4L6jHq3Bc2fNZdmpPijKw2lUbUbUxkuaZGIly7m1YTjxoze/OE+Vktf713D2NAIY4HNzYz6iDKyYvTscZd9mt+o5XHwR3TOuMQqPc6pBNPlIzLABpIHkr5QjhacVS+znKWdNPyWz0X1nuNTEfVa0BuXIzr3ryvV1FNcT1fTeTTbRBb52fR31UAZOIePvCT5ys+tK4GrLGmyGsT6kfCS3wOXlC97FLlBM+d2Y8Zs23FLGxzfiBHiFNq0Vwlxaf6MranhY1o90AeAhKpCb5Nv8AZx7SP7xjp/hkHuMYv7Vmnk/uJGzDj/ttkoCtJiaPWADT/UrlHV/JbvR/QmpUf8LQ3vcZP4V4fq2TpRPa9Kx+ZFZ9Jlvh2gT8bGO8BhP4U0ZXA07CqRW9mviuzrkeLT+S9HGzBnjcSydIr6PProitv3YbSifaPyz/ACVeV8UadeFs4N2boF9UDk0/MfkuYJci3YgTVSstDVFCJP0jbOIt7VjPbpsOKRkcWGc+0FfP4Mz5yl+2e1PElGK/g+XXLazfaYe7MLV7xV7RZbK9JpMAmcLch2L0458agrMLxTcmcW1tlOrODi4gxAHLu715+fJKc7ibcGPiiZ3e2RXZRa3E3DJIMHQnkpR2JVVEJYVKR9V3RinbtYRnJJdzJ49S8bbm55OTPR14KMOiwgrMXnqAIDFAJQCVxgpG124bioIIkyOvKcu4jwWpdxRR4bOBz1KhdnmIcl1RRFtmTSF2l9nLIHey7cAxgya6STOscPOV7fpmCMuzzN/K0qK4169ujxHH7NtJy5JEXE9NwNFHiTUTNlUtIc0wQZB5EKM4KS4v7LYNxdo+oejqmTbmoWhoccgOsyT3zPevkvUmll4r6PptNP27I70nWedGqP5mO/E3/JVakvKJ514ZRLcw9w5gHwyP+K+g05WqPC3od2dQcttHn0ZByi0dSdkfcmS6eM/kvKyzTnZ7WGFY6OuwrYqTTxiD2jI+YXo43yimeXlhxmzpxKdEEj6JuDQw2hd8b3HubDR+Er5j1GfLMz6P0+HHEVL0v1GipRc3N+FwI6pBBnxUdTLw6LdjHy7PmlvtB3TMkR67fnB+a9LDluRizY/iy3VLmOK9dcftnlqLIrall04BmImF5e5kuVI9LUh12c2wtlV2VjgGIFpBgxxEEyo62V4/KJ7GNSiW7ZWzKvTUzVAwhzSQDJMGY5K7PstwaXRVi11yRYduVRWrO6ob4a+a8rBBqJvyO2Q1TY86DVXUVkzS2KGgANAjkFYskaK+PZG3WyR0pEakR3x+an7i4E0ix0dkhoAHAALN7xziT+zLUCmO/wCa87LK5G7EuiQCrLAgCAxQHiA8KAr29Vk0t6UjICH/AGZkHuJPirsUn4RVNJdsrburPrV0k4vvz+iEfNLs1EriYPQV2zlEdtzZhrNBaYc2YB0M8Oor0tLcWGVMx7Wv7iK23ZleSOidI6vrovee5iq7PI/pcl1R3f8AAa4ZiIboSRiEgATms/8AqOJz4pk5aU1HkyMbC331ZlJHZNh0tVrOeZHUOA7TAWLb2Pag5GnUw+5ko+1bKtBSpNYOAzjmvi8k3KTkfURgoLiiL33s+ksakDNkPH3dfKVZglU0Ryq4nxqpct6RsHOSO4j8wF72lkSnR5G3juNnYKq9nieRxNtA4nNaPeIb4kD6qjP8INluGHOaRHb4XRddVeiGFmKAPsiCZ7l8xDO35PovZrwc+wLz1HNccw6c+Tv1BXuaeSLh2zyNvE1LpErTuwTAzPVJV88+OP2UQ15y+j7JsSh0drSYODGzHMiT5kr5LYnyyNn0mCHGCR8+35pdJdOGuABvlJ+alBUhJ9lZo7Ca+o1pbMuHdnqr8TdlWT8WW+huzRHuSebiXfNb3k/bMCOXauy8L4aIBAMDTl9FBfJl8PB37vbJhrnEamO4Lk506OSX0TtOzDSDGmfgqp5LVCHTI5luHEniST4mUg0kWNOzts7WajRyzPcmSdROUTIt1l5nUji/YJuZ4AA9+il7nxJUSbaIVXJnaOugICpk7NOPwbFwmEAQHiAxKAxcUBpqkEEHMHIg6Eciuq76ONJqj5Xt/Z9Wwql1MY7dxyB92fdJ908jxX0OvLDtw4z6mjx8vu4JWvBls/abKzZGR0LTE93MLBs6uTC/FmzBnhlX6OvEsjdGhJszBQ5Rm0pyYo25FpxezBmdIjOVZjclL4kJ/j2Uio1oqnCCQS7AwCSQT6ohfWwk1i+R83OPKfFH0ncvdnof31b+I4ezwbPBfN+ob/uvhHwe5p6ntdy8lrrXQaF5R6KKfvptGobWoA4gERllrkkSMl0fHqli8GWjMGV6WDLxyJmTLBSiTVCzru0pnvyC+ge9FrpHjrWlfZM7H2Y+nUFWrEMBdAM5gGJWHb2Jzh0a9bFGM7ZEG1LjJzJM+K8SKZ6j8k9u/sFjgXOYHZgCRy1+a34korsxZ5uyy0NmgaNA7BCm8iRnV/st2y2xSb2R4LyMn5nr4pXAod4zpKr3/E4nzy8lavBBvs7NhbOBrSR7IJ8cvqpKVFObwWRtoF15GZ6IzbltGEgcx9VPHkLYIlbC0w02jqz7TmVVOduw12dJohQ5HUivU7YSrI2y76JjZlHU9gXM0voi0d0Zqk4keinmTxMeX+642So9a3VGdSs3MGSgXx8GSEggCAIDByA56z4QEfcXMJVghtoXQc0tcAWkQQdCFLHNxfJdM5OKmqaPn219gtDsVEx/KTp9ly9zW9UT+OY8vNoPzBmGwq9cVgx5dhg5EYhPD1uCnuf008fLGR1/fjOploYvEPT8mxpQUKlUQRIzBHiFOGTjIjKFxIvZ+wmsIeyrUZVGlRuHKeGBwIWzN6jKfVdGfFpRx9/ZYKFa+aMq1KoP56bmHvLHEeSw8sL8po0pZF9nSLm+P/Ztz/76o8jSK6o4f2zjeVeKIfef9p6ICpSpNDnD2az3nLPQ0xkrIRw/tkHLN9pf9/8AwrlvY1C4DCzMji78lfCOLl02VTeVR7os1OxuPipD7jz/AJBbHkivBh4y+2b/APhtyQRjomRGdN41+8qpZItU0SXTIQWVdhM0mPj4Hw7+l4A81VCEF4NnKTRZth3FLC2mcVOpmejqNLHGcyWg5OGmYlRk39GaTt9k/ToqlyCR01H4aD+wx35LPLuRvwv4FZZbqwkTWxbaA484Hh/uoyZRPskozAUbIcTVdW+IN6nA93FdjKiaVG94yKidoyaFxkkiMNDM9pWiL6Okja04aFRN2yVHrD6y4EjY4LlnUjGiwgLsmiXE3BQJo9Q6EAQHhQGqoUBHXdVAQN7cICFubhAcDmlxQ4aLotYOs6cytGLHOX30Vymo/wCTOkxwzLjPaYHUFFpLpHY2+zbhPEnxK4SNlOkuAkbYdSNAl7YhRoEzbUwokiE3vIx02hpMAnxMfRWQK5kXsy0JqA4YjPNacXTtlOZ/EnG0DxIHcr3NGOjeyh1uPYqnMcSMvNmE1fbcMUEDLPmuqao0R/E772zD2YKrMbeB9lzSNHNcPZPWFFP9FLhbPdm1q1Om5tQGthdDHNLcbmRljbPtDMGNdVXKCkyXGUV0jtNV1WgCGOaXH2HiHQCeCr8SNGH8TiZRzVkeybZM2lOGDxVUn2VtGZ9oLn0SUTdCjZ3ia6qkjvE2NGSizqRz1aJnTIqan0d4nUGquySQwBc5EqMgEFHqHQgCAIAgBQGitogIa/KAr14gIuqwkoDKoAxhJ71bixuUiucklZAtl9UE8/DqC9Vw9uHRgUuU7J1tJeW/2egbqdqVwHbRsl0GylXaH4XNgAxK1PWahaM6zfKmSjDSBHrDPiDMdqz+2/st9xEza3LcMNBd2NPzKqlAmpddEJtX16xJkQAI4jL9SrIxog5WZ2NuMzmO9XXSKMhI06QGgUGyqjOmZErjFGupRl7XfDPmEvo6nRA73bR6NjYHvAns4qyOP4ncb7JLddxOcyCJ/VZpt3TNsaZYoUCTijhu7bOeZVuOX0VTjR0sGSgyKBYuWT4mwBcs6kMHNLJ8TIBcO0eoAgCAIAgCAIAgCAIDVV0QEResQEJcUUByfs0AuPBTxwcpURlLjGyKvKDnmT3DgF7mHFGK6PMnNy8nMNnqcl8WQj5LTS2fkF4cvyZ6kO0dlKxXCR3ULHqQicNzZ/vXZcfot2PJ8DDl/M7bLL1SAWnUEc1TlV9ncc3dE20ABYvs9BVRXqtOXuPMlXorZ32dL1V1szz7Ojo1GzkYnjKUI5E5wDqa7ZDj0VveXZ5fTceDYJ78svFXLJSOwifNGb83Ng8Mphr2QRDpyLSQQD3LTk14zimiMcriyTb6YLojK3p/1O/JI+m33ZyW7X0dltvpfXApvJYxgq08bWNMluMSC4k5R2LX/p2KMX+6Mkt+UpqJ9aptyXz7f0evGCo2LhYEAQBAEAQBAEAQBAEAQBAEBregOG4poCPqW6A03lCKOmpH5/RadX87KM7+NHCLcHgvQeWvsw8bO2nsHnA7iqXtl8cBL0bIAAAaCFilK3ZqiqVHSy3HJQ5HaNzWQotnUjiv6EkEa8Vbik0qMmyknZgyjCm5GdHVRcdDoqZLs14pv7OAUlMuZ3UWQAotlLXZtYFFkors9c1Ey2UbMcKWV8TF9sHNc0jJwgpyd2TjDo+N74bg1jUJZDhJMGRmeIPWvVwbEeNSMeTC14IrZ26Fy3J1IHtd+i9LFuY4RqjDl1Zz8MuW7+6NY5Ow02EgmJccuUgZrLteoJrolg9P+SbZ9NY2O5eA+3Z7aVGSHQgCAIAgCAIAgCAIAgCAIAgMXBAaKjEBzmkgNlG2bnImeBU1N/RBwV2zdStmt0aAuSm2OCNuFRJUewgoIDzGOa7TOOcV9nNUMlWR6MeWSk+jyF0ro3U2Kts1Y4WY1aXEImXNdGbWJZBQ7M2tXGyajR6uEj1AeIDCpSDtRK6pNHHFM1CyYPdUubI8Eb2sAGQUG2ySVGSHQgCAIAgCAIAgCAIAgCAIAgCAIDBwQGBYgGHwXURZtC4SPUB4UBz3LzorIIy55tdI0ypmX/kyC4SRm1qi2WQg2zoaFWzZGNGSEggCAIAgCAIAgCAIAgCAIAgCAIAgCAIAgCAIAgCAIAgPIQCEB4EOLoyQ6EBpq0pUoyooy4uXaNOBTbM3tuzNlNcbLYYze0KDNSVGS4dCAIAgCAIAgCAIAgCAIAgCAIAgCAIAgCAIAgCAIAgCAIAgCA8hBQCA9QHiAwNNdsqePuzINXCaijJCQQBAEAQBAEAQBAEAQBAEAQBAEAQBAEAQBAEAQBAEAQBAEAQBAEAQBAEB4gPUAQBAEAQBAEAQBAEAQBAEAQBAEAQBAEAQBAEAQBAEAQ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AutoShape 6" descr="data:image/jpeg;base64,/9j/4AAQSkZJRgABAQAAAQABAAD/2wCEAAkGBxITDxQUEhIWFBQVGBQXFRQVFBQUFRQXFRQWFxcUFRQYHSggGBolGxQUITEhJSkrLi4uFx8zODMsNygtLisBCgoKDg0OGxAQGywkHyQsLCwsLCwsLCwsLCwsLCwsLCwsLCwsLCwsLCwsLCwsLCwsLCwsLCwsLCwsLCwsLCwsLP/AABEIALQBGQMBEQACEQEDEQH/xAAbAAEAAgMBAQAAAAAAAAAAAAAABQYCAwQBB//EAEIQAAEDAgMEBgcFBwIHAAAAAAEAAhEDBBIhMQUGQVETYXGBkaEHIjJCUrHBcoKy0eEUIzNikqLC8PEVFiRDY4Pi/8QAGgEBAAMBAQEAAAAAAAAAAAAAAAIDBAEFBv/EACwRAAICAgIBBAIBAwUBAAAAAAABAhEDBBIhMQUTIkEyUWEUI3EVQoGR8OH/2gAMAwEAAhEDEQA/APuKAIAgCAIAgCAIAgCAIAgCAIAgCAIAgCAIAgCAIAgCAIAgCAIAgCAIAgCAIAgCAIAgCAIAgCAIAgCAIAgCAIAgCAIAgCAIAgCAIAgCAIAgCAIAgCAIAgCAIAgCAIAgCAIAgCAIAgCAIAgCAIAgCAIAgCAIAgCAIAgCAIAgCAIAgCAIAgCAIAgCAIAgCAIAgCAIAgCAIAgCAIAgCAIAgCAIAgCAIAgCAIAgEoAgCAIDyUFiUB7KAIAgCAIAgCAIAgCAIAgCAIAgCAIAgCAIAgCAIAgCAIDwlAeBwSmR5I5LnadGm7DUrU2O1hz2tMc4JXVjk/xQc4o5/wDmC1mOnpz9ofNW/wBNlq+JX7+P9nBdb7WVNxa6rmDBhro7jEFWQ0c0vohLbxx+zGhvxZu95w68Mj+2VbL0vOldEFu42Ql16T2Mc4fsdxAJAfDS0gH2vVJIB10XV6bOrkHuR/2mih6VqNQFtNg6QghjXEwXRkDlMdikvTrf5HP6ppXRw3PpA2i1pJtqMDM4HPcYHU4BaF6bFdO2VPdb8Mz2L6Ua1Z5YbaCAXEmWiAQNZPNcfpi/lf5D3JLt0XPd3eB1y9zTSwYQCXYpGZ00WHa1PYSuRp19j3CwLIaQgCAIAgCAwe8DXJEm/BxtLycjLzHPRwQJBcdARGUd6scOLqRSsvLuJC3u0ndJhFQmNSMhPUOS14sCceTPPz7MlLiib2cT0Ykkk5yVlyJKXR6GFtxtnQMgoFjaXbOX9rafZcJ61L22Zv6iLtJmuy2xTe7CfVfyPHsPFTnryirI4t7HN8fskgVnNx4XBd7ONpGp93Tb7T2jtcApKE34RFzivLPaN0x4lj2uHNpB+S44SXlBZIvwzg2zvFa2pY24qtpl8lgOrsMTHiPFShjlP8Tk8ih5I5++1oNHOd2MP1WqGhml4Rne7iRust77SoYx4D/OMPnouZNDPD/aSht45fZX96/SZRtLnoRSNUYGv6Rrxh9actDOg05qOLWb/J0Snnr8ezitvSh0pAptpydGlzsXgYW7H6ZGXfIyZNzJHzE67rfas6kRTptZUkQ4nG2OOWo81JelJS7doqfqVxIK533vGkhz4I+BrPyV8dHAvMSP9VkkrTO/Zm910WtcH42nOHtE8tRHEJP07A/CorW/ODpuymbzXF7Rmq28qu6SoZY4y1uLE6BJ9kREQux1eLqBOG17rfIx3W2xc1axa8wA0uL2kg8ABketXe211OJDLPgrgyc2psWlcOx1gX1IAxlzsWWmc8FxYYLpIzx2sj8lItGVBUaxlR4OIN9oke1GhW+WrCOPki/3X9n0N9Fo4LMm/Bju2UY1JuQ4aGo0jsxBblNSxUWuNF3qtyOXArEn3TIq0ypbt2TDcYmgeoCcuZyH18Ffmx44pcS5zlXZZdofwqn2XfIqmMlF2RUbZCbnEPY+qBEkME9Qk/MeCty51lkqJThw6Prm41rhoF/F7vJuXzlfM+o5OWWv0erpQqFlmWE2hAEAQHhXAYVqoa0ucYAzJPBdSb6RyTUVbKbtTatVxdUeHNotgMpADFUxSA5+ct7OC9LDigkkvP3/AAebmyTbbfg8qXD7axOWF7nmSDIGI5RyyAVkYRy5/wCCpuWLB15Nm7NkHtFV85mWjgY4nvXN3LxfCI09fkuUiyWjngHG4O5Q3DA+q8+VPwejBSXTMNrXWCi5wGLh2TlKlhhymkQ2JNQdEBQqlzHEHA6lm+QQQDp26ada2SXGSXlM8XhKUG/DRA3t+CZnPg4ZFeljwdUzxnkalaLPurvB0n7qofX90/GB9V5e7qPH84ro+i9M3/c/tzfZCekei5tWnUBIDmlpEmJaZ07D5KOnOrRu2I32UrH60EcJ18fp4r6DA4zXSPG2G8b7Oq1uX0zLHOYebXEfLVWT14T6kjNHblHwVv0g7SrV61I1XYsNPC0xHvEunr9nwXk5taOKfxR62tneWHy8nBusXmsAHODQCS2cjlGmmpC060ZXZVuSUYF1H+s1vaPI5tld31t5p03j3XEHscB9QsWzi5VR6GjlfaZwbpUZuB/KHHyj6q/FBRiWbUriy8NUzy0V68fiqOPWfLL6LLJ9nr4lUSV2Af3UcnO8/W/yV0X0Yc6qZq3uH/SOPJzT5x9VKD4uyWurlRzbjUf3b6nxHCD1NzJ8T5JknzJ7KrotEKpdGaPkomy6BO13t92m57/qPxBdeeUvj9HpTSjiv7LbtWthovPVA7TkPmumOK7KUdQeRB8CpQnSaNUl0XypoVFlMPJX9y7TBbufxqPce5pLR9T3rkLLs0raRNVvWpujMFrvMFSfghD8uzg3ZtOjtKTYzLcRHW/OPMKPUI2WZHzmfaNmWvR0WMHutA7+Pmvlssuc3I9vFHjBI61AsCAIAgPCgKhvptsU6tGjORmpU6mNBI8x5Lfo6sskZSMG1nUZpFQ2Rt4vviTEVCGjF7rWyWgDnML2NjRcNdV9HnYNnln7+y7GsCIIBHI5r55Nxdo9uUVJdmyjVDQABAGQAyAC6227YUUvBlcXbwxxYAXx6oOhPWuw48kpHMilxbiQw22+2LxVbLIxA4hm8gFzWg5lsnuW2Gqs1e2efPYlhtTKxX3kquDwA1ofk6BLi3P1S46jMr18fp2OLVni5Nyck0jiovc9wa0FzjkANStc+OONy6RijBzlxR30baqx5AltVoFSmPjggkAnWBi8IWLJnxzj12n0zVDWyY534a8Fr3hri72U2uNWFriORHqvHmSvC9v2M7g//I+lx5Vmwc/s+c1DD2nrLfH9QF7enKpNHm70bx2dQXonjLwQO+FGadN3JxB7CP8A5WPZx8uz0dGdNow3Po+2/saPmforcaVdHd19UWcKxnn+Di29QxW1QcQMX9Of0Krn+Jo13U0Q24gnpXx8LR5k/RV45cjZvLjUS429Iuc1o1cQ0d5j6ruSajFt/RhxR5SSKvWplrnNOrSQe4wsifJWevVOiT3ed/EHW0+II+gWiHgwbXUjZvZTxWNb7IP9Lgfok/BzVlWRHTu/a9Fa0mcQ0E9rsz81yKpHM0uU2dtCuHiW6S4d7SQfMFdIVRF2FjhvbmrHtCkB3tl3yCikrNGTJeNI17zVfUa3mZ7m/qQpsYkVmsPVPYVwufZe5kdykUfZx1iKFuY0Y2B28PNShG3RK7dnmxjNtTn4APDJGu6O/ZO7uWgfc02xk04iOpvD5LHuz44WX60eU0fTQvmk/s90yXQEAQBAeFcYPiG/V4X31Q6w4tH3ThhfZelwUMFs+Z2m5ZmbNn7LaaQeGONVpzYXYRAPExrHCeKy7W9/ccW+jVravwUq7LiyuvnpP9Hsm1tVcQNoqqcU26X2Rk0lbKRtPagvHMpso4ahdAcSJIg5Expx7l9Hra71YubfVHz+zljstRS7J2huoxoGeIw4kvHqRkC2BmDmSCOSyZPUJydfRatGEUjVQ3ffTqtq0zhhpcySHAPGjXGPZM5cUlu88fCXZGOlUuUSJ23Vu2OpurvkyXMEg4SIOUZcR4LbqQwTTUF9dmfaWaEk5f8ABZNw6pq07qg8RjGOIgDpAWmBwGhXmeqY4xlGUf8AH/Rt9LbcZRf+SjXlMgOB9ppOXW06eIU8E6pl+eHJNHRTMgEcV7V+D55qpNEdvNTm0qRq2HeB/KVVmVxNOm0sq/k93WoYbVnN0u8dPIBMKqPZ3cleRr9EqagBaDq6Y7hKm32UKNq0bHNkEHQgg9hUZK1Qi2pJkTunZdFQc069I/8AtOEfJV44cTVtzU5J/wAFz3Ut8d3T5Nlx+6MvMhZPUJ8cL/ks9PhyzIq29lv0d9cN/wDIT/VDv8lTryvGj0Mq+bNOwnRVI5t+RH5rbjMG0icuaIexzDo4QVNmOLa7PbmsGMc7kCR3aBRonFcpERunWJoOB1D3T96HfMqVF2ZEyXIkVV0Q29dthbQf8YqeDXAfUrOsnLI4/o3QhxgmVt5yVlnS621SabDza38IVqXRm+2Qe996G02snNxk9jf1K458C3FDkjt3aq4rWmftfiKKV9iSpn0DcG1l1SpGkMHfmf8AFeP6pk7UD0dGH2XMLyao9H7PUAQGMoD2UB45cYfg+TWmzcVzWfUb7D3YSfixTMdh1619BsbK/p4wgzydfB/dlJkg6QvFlyvs9NUZMqLiOs3tqKSRBs3MqdauxRbkqK5tKLso1XaMVHOosbSnIEAFw4EgnSY4L6jHq3Bc2fNZdmpPijKw2lUbUbUxkuaZGIly7m1YTjxoze/OE+Vktf713D2NAIY4HNzYz6iDKyYvTscZd9mt+o5XHwR3TOuMQqPc6pBNPlIzLABpIHkr5QjhacVS+znKWdNPyWz0X1nuNTEfVa0BuXIzr3ryvV1FNcT1fTeTTbRBb52fR31UAZOIePvCT5ys+tK4GrLGmyGsT6kfCS3wOXlC97FLlBM+d2Y8Zs23FLGxzfiBHiFNq0Vwlxaf6MranhY1o90AeAhKpCb5Nv8AZx7SP7xjp/hkHuMYv7Vmnk/uJGzDj/ttkoCtJiaPWADT/UrlHV/JbvR/QmpUf8LQ3vcZP4V4fq2TpRPa9Kx+ZFZ9Jlvh2gT8bGO8BhP4U0ZXA07CqRW9mviuzrkeLT+S9HGzBnjcSydIr6PProitv3YbSifaPyz/ACVeV8UadeFs4N2boF9UDk0/MfkuYJci3YgTVSstDVFCJP0jbOIt7VjPbpsOKRkcWGc+0FfP4Mz5yl+2e1PElGK/g+XXLazfaYe7MLV7xV7RZbK9JpMAmcLch2L0458agrMLxTcmcW1tlOrODi4gxAHLu715+fJKc7ibcGPiiZ3e2RXZRa3E3DJIMHQnkpR2JVVEJYVKR9V3RinbtYRnJJdzJ49S8bbm55OTPR14KMOiwgrMXnqAIDFAJQCVxgpG124bioIIkyOvKcu4jwWpdxRR4bOBz1KhdnmIcl1RRFtmTSF2l9nLIHey7cAxgya6STOscPOV7fpmCMuzzN/K0qK4169ujxHH7NtJy5JEXE9NwNFHiTUTNlUtIc0wQZB5EKM4KS4v7LYNxdo+oejqmTbmoWhoccgOsyT3zPevkvUmll4r6PptNP27I70nWedGqP5mO/E3/JVakvKJ514ZRLcw9w5gHwyP+K+g05WqPC3od2dQcttHn0ZByi0dSdkfcmS6eM/kvKyzTnZ7WGFY6OuwrYqTTxiD2jI+YXo43yimeXlhxmzpxKdEEj6JuDQw2hd8b3HubDR+Er5j1GfLMz6P0+HHEVL0v1GipRc3N+FwI6pBBnxUdTLw6LdjHy7PmlvtB3TMkR67fnB+a9LDluRizY/iy3VLmOK9dcftnlqLIrall04BmImF5e5kuVI9LUh12c2wtlV2VjgGIFpBgxxEEyo62V4/KJ7GNSiW7ZWzKvTUzVAwhzSQDJMGY5K7PstwaXRVi11yRYduVRWrO6ob4a+a8rBBqJvyO2Q1TY86DVXUVkzS2KGgANAjkFYskaK+PZG3WyR0pEakR3x+an7i4E0ix0dkhoAHAALN7xziT+zLUCmO/wCa87LK5G7EuiQCrLAgCAxQHiA8KAr29Vk0t6UjICH/AGZkHuJPirsUn4RVNJdsrburPrV0k4vvz+iEfNLs1EriYPQV2zlEdtzZhrNBaYc2YB0M8Oor0tLcWGVMx7Wv7iK23ZleSOidI6vrovee5iq7PI/pcl1R3f8AAa4ZiIboSRiEgATms/8AqOJz4pk5aU1HkyMbC331ZlJHZNh0tVrOeZHUOA7TAWLb2Pag5GnUw+5ko+1bKtBSpNYOAzjmvi8k3KTkfURgoLiiL33s+ksakDNkPH3dfKVZglU0Ryq4nxqpct6RsHOSO4j8wF72lkSnR5G3juNnYKq9nieRxNtA4nNaPeIb4kD6qjP8INluGHOaRHb4XRddVeiGFmKAPsiCZ7l8xDO35PovZrwc+wLz1HNccw6c+Tv1BXuaeSLh2zyNvE1LpErTuwTAzPVJV88+OP2UQ15y+j7JsSh0drSYODGzHMiT5kr5LYnyyNn0mCHGCR8+35pdJdOGuABvlJ+alBUhJ9lZo7Ca+o1pbMuHdnqr8TdlWT8WW+huzRHuSebiXfNb3k/bMCOXauy8L4aIBAMDTl9FBfJl8PB37vbJhrnEamO4Lk506OSX0TtOzDSDGmfgqp5LVCHTI5luHEniST4mUg0kWNOzts7WajRyzPcmSdROUTIt1l5nUji/YJuZ4AA9+il7nxJUSbaIVXJnaOugICpk7NOPwbFwmEAQHiAxKAxcUBpqkEEHMHIg6Eciuq76ONJqj5Xt/Z9Wwql1MY7dxyB92fdJ908jxX0OvLDtw4z6mjx8vu4JWvBls/abKzZGR0LTE93MLBs6uTC/FmzBnhlX6OvEsjdGhJszBQ5Rm0pyYo25FpxezBmdIjOVZjclL4kJ/j2Uio1oqnCCQS7AwCSQT6ohfWwk1i+R83OPKfFH0ncvdnof31b+I4ezwbPBfN+ob/uvhHwe5p6ntdy8lrrXQaF5R6KKfvptGobWoA4gERllrkkSMl0fHqli8GWjMGV6WDLxyJmTLBSiTVCzru0pnvyC+ge9FrpHjrWlfZM7H2Y+nUFWrEMBdAM5gGJWHb2Jzh0a9bFGM7ZEG1LjJzJM+K8SKZ6j8k9u/sFjgXOYHZgCRy1+a34korsxZ5uyy0NmgaNA7BCm8iRnV/st2y2xSb2R4LyMn5nr4pXAod4zpKr3/E4nzy8lavBBvs7NhbOBrSR7IJ8cvqpKVFObwWRtoF15GZ6IzbltGEgcx9VPHkLYIlbC0w02jqz7TmVVOduw12dJohQ5HUivU7YSrI2y76JjZlHU9gXM0voi0d0Zqk4keinmTxMeX+642So9a3VGdSs3MGSgXx8GSEggCAIDByA56z4QEfcXMJVghtoXQc0tcAWkQQdCFLHNxfJdM5OKmqaPn219gtDsVEx/KTp9ly9zW9UT+OY8vNoPzBmGwq9cVgx5dhg5EYhPD1uCnuf008fLGR1/fjOploYvEPT8mxpQUKlUQRIzBHiFOGTjIjKFxIvZ+wmsIeyrUZVGlRuHKeGBwIWzN6jKfVdGfFpRx9/ZYKFa+aMq1KoP56bmHvLHEeSw8sL8po0pZF9nSLm+P/Ztz/76o8jSK6o4f2zjeVeKIfef9p6ICpSpNDnD2az3nLPQ0xkrIRw/tkHLN9pf9/8AwrlvY1C4DCzMji78lfCOLl02VTeVR7os1OxuPipD7jz/AJBbHkivBh4y+2b/APhtyQRjomRGdN41+8qpZItU0SXTIQWVdhM0mPj4Hw7+l4A81VCEF4NnKTRZth3FLC2mcVOpmejqNLHGcyWg5OGmYlRk39GaTt9k/ToqlyCR01H4aD+wx35LPLuRvwv4FZZbqwkTWxbaA484Hh/uoyZRPskozAUbIcTVdW+IN6nA93FdjKiaVG94yKidoyaFxkkiMNDM9pWiL6Okja04aFRN2yVHrD6y4EjY4LlnUjGiwgLsmiXE3BQJo9Q6EAQHhQGqoUBHXdVAQN7cICFubhAcDmlxQ4aLotYOs6cytGLHOX30Vymo/wCTOkxwzLjPaYHUFFpLpHY2+zbhPEnxK4SNlOkuAkbYdSNAl7YhRoEzbUwokiE3vIx02hpMAnxMfRWQK5kXsy0JqA4YjPNacXTtlOZ/EnG0DxIHcr3NGOjeyh1uPYqnMcSMvNmE1fbcMUEDLPmuqao0R/E772zD2YKrMbeB9lzSNHNcPZPWFFP9FLhbPdm1q1Om5tQGthdDHNLcbmRljbPtDMGNdVXKCkyXGUV0jtNV1WgCGOaXH2HiHQCeCr8SNGH8TiZRzVkeybZM2lOGDxVUn2VtGZ9oLn0SUTdCjZ3ia6qkjvE2NGSizqRz1aJnTIqan0d4nUGquySQwBc5EqMgEFHqHQgCAIAgBQGitogIa/KAr14gIuqwkoDKoAxhJ71bixuUiucklZAtl9UE8/DqC9Vw9uHRgUuU7J1tJeW/2egbqdqVwHbRsl0GylXaH4XNgAxK1PWahaM6zfKmSjDSBHrDPiDMdqz+2/st9xEza3LcMNBd2NPzKqlAmpddEJtX16xJkQAI4jL9SrIxog5WZ2NuMzmO9XXSKMhI06QGgUGyqjOmZErjFGupRl7XfDPmEvo6nRA73bR6NjYHvAns4qyOP4ncb7JLddxOcyCJ/VZpt3TNsaZYoUCTijhu7bOeZVuOX0VTjR0sGSgyKBYuWT4mwBcs6kMHNLJ8TIBcO0eoAgCAIAgCAIAgCAIDVV0QEResQEJcUUByfs0AuPBTxwcpURlLjGyKvKDnmT3DgF7mHFGK6PMnNy8nMNnqcl8WQj5LTS2fkF4cvyZ6kO0dlKxXCR3ULHqQicNzZ/vXZcfot2PJ8DDl/M7bLL1SAWnUEc1TlV9ncc3dE20ABYvs9BVRXqtOXuPMlXorZ32dL1V1szz7Ojo1GzkYnjKUI5E5wDqa7ZDj0VveXZ5fTceDYJ78svFXLJSOwifNGb83Ng8Mphr2QRDpyLSQQD3LTk14zimiMcriyTb6YLojK3p/1O/JI+m33ZyW7X0dltvpfXApvJYxgq08bWNMluMSC4k5R2LX/p2KMX+6Mkt+UpqJ9aptyXz7f0evGCo2LhYEAQBAEAQBAEAQBAEAQBAEBregOG4poCPqW6A03lCKOmpH5/RadX87KM7+NHCLcHgvQeWvsw8bO2nsHnA7iqXtl8cBL0bIAAAaCFilK3ZqiqVHSy3HJQ5HaNzWQotnUjiv6EkEa8Vbik0qMmyknZgyjCm5GdHVRcdDoqZLs14pv7OAUlMuZ3UWQAotlLXZtYFFkors9c1Ey2UbMcKWV8TF9sHNc0jJwgpyd2TjDo+N74bg1jUJZDhJMGRmeIPWvVwbEeNSMeTC14IrZ26Fy3J1IHtd+i9LFuY4RqjDl1Zz8MuW7+6NY5Ow02EgmJccuUgZrLteoJrolg9P+SbZ9NY2O5eA+3Z7aVGSHQgCAIAgCAIAgCAIAgCAIAgMXBAaKjEBzmkgNlG2bnImeBU1N/RBwV2zdStmt0aAuSm2OCNuFRJUewgoIDzGOa7TOOcV9nNUMlWR6MeWSk+jyF0ro3U2Kts1Y4WY1aXEImXNdGbWJZBQ7M2tXGyajR6uEj1AeIDCpSDtRK6pNHHFM1CyYPdUubI8Eb2sAGQUG2ySVGSHQgCAIAgCAIAgCAIAgCAIAgCAIDBwQGBYgGHwXURZtC4SPUB4UBz3LzorIIy55tdI0ypmX/kyC4SRm1qi2WQg2zoaFWzZGNGSEggCAIAgCAIAgCAIAgCAIAgCAIAgCAIAgCAIAgCAIAgPIQCEB4EOLoyQ6EBpq0pUoyooy4uXaNOBTbM3tuzNlNcbLYYze0KDNSVGS4dCAIAgCAIAgCAIAgCAIAgCAIAgCAIAgCAIAgCAIAgCAIAgCA8hBQCA9QHiAwNNdsqePuzINXCaijJCQQBAEAQBAEAQBAEAQBAEAQBAEAQBAEAQBAEAQBAEAQBAEAQBAEAQBAEB4gPUAQBAEAQBAEAQBAEAQBAEAQBAEAQBAEAQBAEAQBAEAQH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5" name="AutoShape 2" descr="Resultado de imagen de cs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484784"/>
            <a:ext cx="21336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4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</a:t>
            </a:fld>
            <a:endParaRPr lang="es-ES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265278"/>
              </p:ext>
            </p:extLst>
          </p:nvPr>
        </p:nvGraphicFramePr>
        <p:xfrm>
          <a:off x="596044" y="1556792"/>
          <a:ext cx="8229600" cy="467691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21992">
                  <a:extLst>
                    <a:ext uri="{9D8B030D-6E8A-4147-A177-3AD203B41FA5}">
                      <a16:colId xmlns:a16="http://schemas.microsoft.com/office/drawing/2014/main" val="1711911563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947343694"/>
                    </a:ext>
                  </a:extLst>
                </a:gridCol>
                <a:gridCol w="4159336">
                  <a:extLst>
                    <a:ext uri="{9D8B030D-6E8A-4147-A177-3AD203B41FA5}">
                      <a16:colId xmlns:a16="http://schemas.microsoft.com/office/drawing/2014/main" val="2477013046"/>
                    </a:ext>
                  </a:extLst>
                </a:gridCol>
              </a:tblGrid>
              <a:tr h="229999">
                <a:tc>
                  <a:txBody>
                    <a:bodyPr/>
                    <a:lstStyle/>
                    <a:p>
                      <a:r>
                        <a:rPr lang="es-ES" sz="1000" b="1" dirty="0">
                          <a:latin typeface="+mj-lt"/>
                        </a:rPr>
                        <a:t>Propiedad</a:t>
                      </a:r>
                      <a:endParaRPr lang="es-E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latin typeface="+mj-lt"/>
                        </a:rPr>
                        <a:t>Descripción</a:t>
                      </a:r>
                      <a:endParaRPr lang="es-E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latin typeface="+mj-lt"/>
                        </a:rPr>
                        <a:t>Valores principales</a:t>
                      </a:r>
                      <a:endParaRPr lang="es-ES" sz="10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52873"/>
                  </a:ext>
                </a:extLst>
              </a:tr>
              <a:tr h="229999">
                <a:tc>
                  <a:txBody>
                    <a:bodyPr/>
                    <a:lstStyle/>
                    <a:p>
                      <a:r>
                        <a:rPr lang="es-ES" sz="1000" dirty="0" err="1">
                          <a:latin typeface="+mj-lt"/>
                        </a:rPr>
                        <a:t>background</a:t>
                      </a:r>
                      <a:r>
                        <a:rPr lang="es-ES" sz="1000" dirty="0">
                          <a:latin typeface="+mj-lt"/>
                        </a:rPr>
                        <a:t>-color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latin typeface="+mj-lt"/>
                        </a:rPr>
                        <a:t>Color de fondo del elemento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&lt;color&gt;, transparent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438751"/>
                  </a:ext>
                </a:extLst>
              </a:tr>
              <a:tr h="229999"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background-image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Imagen o degradado de fondo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url(), &lt;gradient&gt;, 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312323"/>
                  </a:ext>
                </a:extLst>
              </a:tr>
              <a:tr h="394062"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background-repeat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latin typeface="+mj-lt"/>
                        </a:rPr>
                        <a:t>Repetición de la imagen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 err="1">
                          <a:latin typeface="+mj-lt"/>
                        </a:rPr>
                        <a:t>repeat</a:t>
                      </a:r>
                      <a:r>
                        <a:rPr lang="es-ES" sz="1000" dirty="0">
                          <a:latin typeface="+mj-lt"/>
                        </a:rPr>
                        <a:t>, no-</a:t>
                      </a:r>
                      <a:r>
                        <a:rPr lang="es-ES" sz="1000" dirty="0" err="1">
                          <a:latin typeface="+mj-lt"/>
                        </a:rPr>
                        <a:t>repeat</a:t>
                      </a:r>
                      <a:r>
                        <a:rPr lang="es-ES" sz="1000" dirty="0">
                          <a:latin typeface="+mj-lt"/>
                        </a:rPr>
                        <a:t>, </a:t>
                      </a:r>
                      <a:r>
                        <a:rPr lang="es-ES" sz="1000" dirty="0" err="1">
                          <a:latin typeface="+mj-lt"/>
                        </a:rPr>
                        <a:t>space</a:t>
                      </a:r>
                      <a:r>
                        <a:rPr lang="es-ES" sz="1000" dirty="0">
                          <a:latin typeface="+mj-lt"/>
                        </a:rPr>
                        <a:t>, round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970630"/>
                  </a:ext>
                </a:extLst>
              </a:tr>
              <a:tr h="229999"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background-attachment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latin typeface="+mj-lt"/>
                        </a:rPr>
                        <a:t>Comportamiento al hacer </a:t>
                      </a:r>
                      <a:r>
                        <a:rPr lang="es-ES" sz="1000" dirty="0" err="1">
                          <a:latin typeface="+mj-lt"/>
                        </a:rPr>
                        <a:t>scroll</a:t>
                      </a:r>
                      <a:endParaRPr lang="es-E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scroll, fixed, local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331148"/>
                  </a:ext>
                </a:extLst>
              </a:tr>
              <a:tr h="874592"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background-position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latin typeface="+mj-lt"/>
                        </a:rPr>
                        <a:t>Posición inicial de la imagen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left, center, &lt;%&gt;, &lt;longitud&gt;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098990"/>
                  </a:ext>
                </a:extLst>
              </a:tr>
              <a:tr h="752349"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background-size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Tamaño de la imagen de fondo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latin typeface="+mj-lt"/>
                        </a:rPr>
                        <a:t>auto, </a:t>
                      </a:r>
                      <a:r>
                        <a:rPr lang="es-ES" sz="1000" dirty="0" err="1">
                          <a:latin typeface="+mj-lt"/>
                        </a:rPr>
                        <a:t>cover</a:t>
                      </a:r>
                      <a:r>
                        <a:rPr lang="es-ES" sz="1000" dirty="0">
                          <a:latin typeface="+mj-lt"/>
                        </a:rPr>
                        <a:t>, </a:t>
                      </a:r>
                      <a:r>
                        <a:rPr lang="es-ES" sz="1000" dirty="0" err="1">
                          <a:latin typeface="+mj-lt"/>
                        </a:rPr>
                        <a:t>contain</a:t>
                      </a:r>
                      <a:r>
                        <a:rPr lang="es-ES" sz="1000" dirty="0">
                          <a:latin typeface="+mj-lt"/>
                        </a:rPr>
                        <a:t>, &lt;longitud&gt;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509877"/>
                  </a:ext>
                </a:extLst>
              </a:tr>
              <a:tr h="478768"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background-origin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Origen de posicionamiento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 err="1">
                          <a:latin typeface="+mj-lt"/>
                        </a:rPr>
                        <a:t>border</a:t>
                      </a:r>
                      <a:r>
                        <a:rPr lang="es-ES" sz="1000" dirty="0">
                          <a:latin typeface="+mj-lt"/>
                        </a:rPr>
                        <a:t>-box, </a:t>
                      </a:r>
                      <a:r>
                        <a:rPr lang="es-ES" sz="1000" dirty="0" err="1">
                          <a:latin typeface="+mj-lt"/>
                        </a:rPr>
                        <a:t>padding</a:t>
                      </a:r>
                      <a:r>
                        <a:rPr lang="es-ES" sz="1000" dirty="0">
                          <a:latin typeface="+mj-lt"/>
                        </a:rPr>
                        <a:t>-box, </a:t>
                      </a:r>
                      <a:r>
                        <a:rPr lang="es-ES" sz="1000" dirty="0" err="1">
                          <a:latin typeface="+mj-lt"/>
                        </a:rPr>
                        <a:t>content</a:t>
                      </a:r>
                      <a:r>
                        <a:rPr lang="es-ES" sz="1000" dirty="0">
                          <a:latin typeface="+mj-lt"/>
                        </a:rPr>
                        <a:t>-box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5362477"/>
                  </a:ext>
                </a:extLst>
              </a:tr>
              <a:tr h="565695"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background-clip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Área de dibujo del fondo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 err="1">
                          <a:latin typeface="+mj-lt"/>
                        </a:rPr>
                        <a:t>border</a:t>
                      </a:r>
                      <a:r>
                        <a:rPr lang="es-ES" sz="1000" dirty="0">
                          <a:latin typeface="+mj-lt"/>
                        </a:rPr>
                        <a:t>-box, </a:t>
                      </a:r>
                      <a:r>
                        <a:rPr lang="es-ES" sz="1000" dirty="0" err="1">
                          <a:latin typeface="+mj-lt"/>
                        </a:rPr>
                        <a:t>padding</a:t>
                      </a:r>
                      <a:r>
                        <a:rPr lang="es-ES" sz="1000" dirty="0">
                          <a:latin typeface="+mj-lt"/>
                        </a:rPr>
                        <a:t>-box, </a:t>
                      </a:r>
                      <a:r>
                        <a:rPr lang="es-ES" sz="1000" dirty="0" err="1">
                          <a:latin typeface="+mj-lt"/>
                        </a:rPr>
                        <a:t>content</a:t>
                      </a:r>
                      <a:r>
                        <a:rPr lang="es-ES" sz="1000" dirty="0">
                          <a:latin typeface="+mj-lt"/>
                        </a:rPr>
                        <a:t>-box, </a:t>
                      </a:r>
                      <a:r>
                        <a:rPr lang="es-ES" sz="1000" dirty="0" err="1">
                          <a:latin typeface="+mj-lt"/>
                        </a:rPr>
                        <a:t>text</a:t>
                      </a:r>
                      <a:endParaRPr lang="es-ES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696555"/>
                  </a:ext>
                </a:extLst>
              </a:tr>
              <a:tr h="636092"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background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latin typeface="+mj-lt"/>
                        </a:rPr>
                        <a:t>Propiedad abreviada (shorthand)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latin typeface="+mj-lt"/>
                        </a:rPr>
                        <a:t>Todos los anteriores combinados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581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57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7" name="Text 3"/>
          <p:cNvSpPr/>
          <p:nvPr/>
        </p:nvSpPr>
        <p:spPr>
          <a:xfrm>
            <a:off x="323528" y="1545617"/>
            <a:ext cx="360040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23528" y="2036254"/>
            <a:ext cx="36004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el color de fondo del elemento. Acepta cualquier valor de color CSS válido.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23528" y="2811152"/>
            <a:ext cx="3600400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&lt;color&gt;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hex, rgb, hsl, named colors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sin color de fondo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283968" y="1545617"/>
            <a:ext cx="453650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background-image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283968" y="2036254"/>
            <a:ext cx="4536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Especifica una imagen, degradado o múltiples capas como fondo del elemento.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283968" y="2811152"/>
            <a:ext cx="4536504" cy="1096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url(...)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ruta a imagen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&lt;gradient&gt;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linear-gradient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radial-gradient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sin imagen (valor inicial)</a:t>
            </a:r>
            <a:endParaRPr lang="en-US" sz="1450" dirty="0"/>
          </a:p>
        </p:txBody>
      </p:sp>
      <p:sp>
        <p:nvSpPr>
          <p:cNvPr id="13" name="Text 6"/>
          <p:cNvSpPr/>
          <p:nvPr/>
        </p:nvSpPr>
        <p:spPr>
          <a:xfrm>
            <a:off x="434988" y="3800170"/>
            <a:ext cx="831347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Background-repeat</a:t>
            </a:r>
            <a:endParaRPr lang="en-US" sz="1850" dirty="0"/>
          </a:p>
        </p:txBody>
      </p:sp>
      <p:sp>
        <p:nvSpPr>
          <p:cNvPr id="14" name="Text 7"/>
          <p:cNvSpPr/>
          <p:nvPr/>
        </p:nvSpPr>
        <p:spPr>
          <a:xfrm>
            <a:off x="434989" y="4290807"/>
            <a:ext cx="659799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Controla cómo se repite la imagen de fondo cuando no cubre completamente el elemento.</a:t>
            </a:r>
          </a:p>
        </p:txBody>
      </p:sp>
      <p:sp>
        <p:nvSpPr>
          <p:cNvPr id="15" name="Text 8"/>
          <p:cNvSpPr/>
          <p:nvPr/>
        </p:nvSpPr>
        <p:spPr>
          <a:xfrm>
            <a:off x="434988" y="5065704"/>
            <a:ext cx="7593395" cy="145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repite en ambos ejes (valor inicial)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repeat-x / </a:t>
            </a:r>
            <a:r>
              <a:rPr lang="en-US" sz="14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repeat-y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Repetición horizontal o vertical únicamente</a:t>
            </a: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no-repeat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muestra una sola instancia de la imagen</a:t>
            </a: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space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14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Distribución uniforme o escalado para encajar sin recortar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endParaRPr lang="es-ES" sz="1450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060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7" name="Text 3"/>
          <p:cNvSpPr/>
          <p:nvPr/>
        </p:nvSpPr>
        <p:spPr>
          <a:xfrm>
            <a:off x="323932" y="1462825"/>
            <a:ext cx="3600400" cy="21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23932" y="1818244"/>
            <a:ext cx="2880320" cy="40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el color de fondo del elemento. Acepta cualquier valor de color CSS válido.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02927" y="2170638"/>
            <a:ext cx="3168352" cy="547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&lt;color&gt;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hex, rgb, hsl, named colors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sin color de fondo</a:t>
            </a:r>
            <a:endParaRPr lang="en-US" sz="14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34" y="2718635"/>
            <a:ext cx="2714298" cy="39487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883" y="1673559"/>
            <a:ext cx="2568568" cy="420371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981" y="1662606"/>
            <a:ext cx="2455119" cy="443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7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10" name="Text 6"/>
          <p:cNvSpPr/>
          <p:nvPr/>
        </p:nvSpPr>
        <p:spPr>
          <a:xfrm>
            <a:off x="458061" y="1475656"/>
            <a:ext cx="453650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background-image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7199" y="1827712"/>
            <a:ext cx="2901987" cy="401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Especifica una imagen, degradado o múltiples capas como fondo del elemento.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7200" y="2229598"/>
            <a:ext cx="3178696" cy="767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url(...)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ruta a imagen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&lt;gradient&gt;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linear-gradient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radial-gradient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sin imagen (valor inicial)</a:t>
            </a:r>
            <a:endParaRPr lang="en-US" sz="14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09" y="3140968"/>
            <a:ext cx="2625278" cy="345166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3171545"/>
            <a:ext cx="1596708" cy="193975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2276872"/>
            <a:ext cx="2211618" cy="402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8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10" name="Text 6"/>
          <p:cNvSpPr/>
          <p:nvPr/>
        </p:nvSpPr>
        <p:spPr>
          <a:xfrm>
            <a:off x="458061" y="1475656"/>
            <a:ext cx="453650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background-image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7200" y="1827712"/>
            <a:ext cx="3178696" cy="401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Especifica una imagen, degradado o múltiples capas como fondo del elemento.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7200" y="2229598"/>
            <a:ext cx="3178696" cy="767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url(...)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ruta a imagen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&lt;gradient&gt;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linear-gradient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radial-gradient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sin imagen (valor inicial)</a:t>
            </a:r>
            <a:endParaRPr lang="en-US" sz="145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068961"/>
            <a:ext cx="1827673" cy="345638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3212977"/>
            <a:ext cx="1700378" cy="151216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2172463"/>
            <a:ext cx="2604177" cy="359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3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13" name="Text 6"/>
          <p:cNvSpPr/>
          <p:nvPr/>
        </p:nvSpPr>
        <p:spPr>
          <a:xfrm>
            <a:off x="457200" y="1509125"/>
            <a:ext cx="831347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Background-repeat</a:t>
            </a:r>
            <a:endParaRPr lang="en-US" sz="1850" dirty="0"/>
          </a:p>
        </p:txBody>
      </p:sp>
      <p:sp>
        <p:nvSpPr>
          <p:cNvPr id="14" name="Text 7"/>
          <p:cNvSpPr/>
          <p:nvPr/>
        </p:nvSpPr>
        <p:spPr>
          <a:xfrm>
            <a:off x="453497" y="1831997"/>
            <a:ext cx="2894367" cy="44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ct val="133000"/>
              </a:lnSpc>
            </a:pP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Controla cómo se repite la imagen de fondo cuando no cubre completamente el elemento.</a:t>
            </a:r>
          </a:p>
        </p:txBody>
      </p:sp>
      <p:sp>
        <p:nvSpPr>
          <p:cNvPr id="15" name="Text 8"/>
          <p:cNvSpPr/>
          <p:nvPr/>
        </p:nvSpPr>
        <p:spPr>
          <a:xfrm>
            <a:off x="453497" y="2295026"/>
            <a:ext cx="3250704" cy="94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repite en ambos ejes (valor inicial)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repeat-x / </a:t>
            </a:r>
            <a:r>
              <a:rPr lang="en-US" sz="14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repeat-y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Repetición horizontal o vertical únicamente</a:t>
            </a: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no-repeat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muestra una sola instancia de la imagen</a:t>
            </a: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space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14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Distribución uniforme o escalado para encajar sin recortar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endParaRPr lang="es-ES" sz="1450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11" y="3275786"/>
            <a:ext cx="1633538" cy="343852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012" y="3237399"/>
            <a:ext cx="1947664" cy="236695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512" y="1345644"/>
            <a:ext cx="2204505" cy="268319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5" y="4057898"/>
            <a:ext cx="2208720" cy="266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5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7863136" y="3579151"/>
            <a:ext cx="762000" cy="365125"/>
          </a:xfrm>
        </p:spPr>
        <p:txBody>
          <a:bodyPr/>
          <a:lstStyle/>
          <a:p>
            <a:fld id="{19C3D5FF-1D01-428C-BF4E-6C13885CA336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22" name="Marcador de número de diapositiva 4"/>
          <p:cNvSpPr txBox="1">
            <a:spLocks/>
          </p:cNvSpPr>
          <p:nvPr/>
        </p:nvSpPr>
        <p:spPr>
          <a:xfrm>
            <a:off x="7863136" y="3579151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s-ES"/>
            </a:defPPr>
            <a:lvl1pPr marL="0" algn="r" defTabSz="914400" rtl="0" eaLnBrk="1" latinLnBrk="0" hangingPunct="1">
              <a:defRPr kumimoji="0" sz="1200" kern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C3D5FF-1D01-428C-BF4E-6C13885CA336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23" name="Text 6"/>
          <p:cNvSpPr/>
          <p:nvPr/>
        </p:nvSpPr>
        <p:spPr>
          <a:xfrm>
            <a:off x="395536" y="1772816"/>
            <a:ext cx="831347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background-size</a:t>
            </a:r>
            <a:endParaRPr lang="en-US" sz="1850" dirty="0"/>
          </a:p>
        </p:txBody>
      </p:sp>
      <p:sp>
        <p:nvSpPr>
          <p:cNvPr id="24" name="Text 7"/>
          <p:cNvSpPr/>
          <p:nvPr/>
        </p:nvSpPr>
        <p:spPr>
          <a:xfrm>
            <a:off x="395537" y="2263453"/>
            <a:ext cx="2520279" cy="66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33000"/>
              </a:lnSpc>
            </a:pP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Controla el tamaño de la imagen de fondo respecto al contenedor.</a:t>
            </a:r>
          </a:p>
        </p:txBody>
      </p:sp>
      <p:sp>
        <p:nvSpPr>
          <p:cNvPr id="25" name="Text 8"/>
          <p:cNvSpPr/>
          <p:nvPr/>
        </p:nvSpPr>
        <p:spPr>
          <a:xfrm>
            <a:off x="179513" y="3113956"/>
            <a:ext cx="2736303" cy="3555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Tamaño original de la imagen (valor inicial)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cover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Escala la imagen para cubrir todo el contenedor, recortando si es </a:t>
            </a:r>
            <a:r>
              <a:rPr lang="es-E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necesario</a:t>
            </a:r>
            <a:endParaRPr lang="es-ES" sz="1450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Escala la imagen para que quepa íntegra dentro del contenedor</a:t>
            </a: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50" dirty="0" err="1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 | &lt;</a:t>
            </a:r>
            <a:r>
              <a:rPr lang="en-US" sz="1450" dirty="0" err="1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porcentaje</a:t>
            </a:r>
            <a:r>
              <a:rPr lang="en-US" sz="1450" dirty="0" smtClean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5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s-E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Tamaño explícito: 100% 50%, 300px 200px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904" y="1475657"/>
            <a:ext cx="6338096" cy="525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0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14" name="Text 3"/>
          <p:cNvSpPr/>
          <p:nvPr/>
        </p:nvSpPr>
        <p:spPr>
          <a:xfrm>
            <a:off x="455547" y="1772816"/>
            <a:ext cx="28304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background-origin</a:t>
            </a:r>
            <a:endParaRPr lang="en-US" sz="1850" dirty="0"/>
          </a:p>
        </p:txBody>
      </p:sp>
      <p:sp>
        <p:nvSpPr>
          <p:cNvPr id="15" name="Text 4"/>
          <p:cNvSpPr/>
          <p:nvPr/>
        </p:nvSpPr>
        <p:spPr>
          <a:xfrm>
            <a:off x="455547" y="2263453"/>
            <a:ext cx="28304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desde qué área se posiciona el origen de la imagen de fondo.</a:t>
            </a:r>
            <a:endParaRPr lang="en-US" sz="1450" dirty="0"/>
          </a:p>
        </p:txBody>
      </p:sp>
      <p:sp>
        <p:nvSpPr>
          <p:cNvPr id="26" name="Text 5"/>
          <p:cNvSpPr/>
          <p:nvPr/>
        </p:nvSpPr>
        <p:spPr>
          <a:xfrm>
            <a:off x="455547" y="3038351"/>
            <a:ext cx="2830405" cy="1096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desde el borde exterior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desde el padding (por defecto)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desde el área de contenido</a:t>
            </a:r>
            <a:endParaRPr lang="en-US" sz="1450" dirty="0"/>
          </a:p>
        </p:txBody>
      </p:sp>
      <p:sp>
        <p:nvSpPr>
          <p:cNvPr id="27" name="Text 6"/>
          <p:cNvSpPr/>
          <p:nvPr/>
        </p:nvSpPr>
        <p:spPr>
          <a:xfrm>
            <a:off x="4788024" y="1772816"/>
            <a:ext cx="28304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background-clip</a:t>
            </a:r>
            <a:endParaRPr lang="en-US" sz="1850" dirty="0"/>
          </a:p>
        </p:txBody>
      </p:sp>
      <p:sp>
        <p:nvSpPr>
          <p:cNvPr id="28" name="Text 7"/>
          <p:cNvSpPr/>
          <p:nvPr/>
        </p:nvSpPr>
        <p:spPr>
          <a:xfrm>
            <a:off x="4788024" y="2263453"/>
            <a:ext cx="28304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hasta qué área se dibuja el fondo (color o imagen).</a:t>
            </a:r>
            <a:endParaRPr lang="en-US" sz="1450" dirty="0"/>
          </a:p>
        </p:txBody>
      </p:sp>
      <p:sp>
        <p:nvSpPr>
          <p:cNvPr id="29" name="Text 8"/>
          <p:cNvSpPr/>
          <p:nvPr/>
        </p:nvSpPr>
        <p:spPr>
          <a:xfrm>
            <a:off x="4788024" y="3038351"/>
            <a:ext cx="2830405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content-box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recorta el fondo a la forma del texto</a:t>
            </a:r>
            <a:endParaRPr lang="en-US" sz="1450" dirty="0"/>
          </a:p>
        </p:txBody>
      </p:sp>
      <p:sp>
        <p:nvSpPr>
          <p:cNvPr id="30" name="Text 3"/>
          <p:cNvSpPr/>
          <p:nvPr/>
        </p:nvSpPr>
        <p:spPr>
          <a:xfrm>
            <a:off x="455547" y="4271571"/>
            <a:ext cx="383851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background-attachment</a:t>
            </a:r>
            <a:endParaRPr lang="en-US" sz="1850" dirty="0"/>
          </a:p>
        </p:txBody>
      </p:sp>
      <p:sp>
        <p:nvSpPr>
          <p:cNvPr id="31" name="Text 4"/>
          <p:cNvSpPr/>
          <p:nvPr/>
        </p:nvSpPr>
        <p:spPr>
          <a:xfrm>
            <a:off x="455547" y="4762207"/>
            <a:ext cx="383851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el comportamiento del fondo al hacer scroll en la página.</a:t>
            </a:r>
            <a:endParaRPr lang="en-US" sz="1450" dirty="0"/>
          </a:p>
        </p:txBody>
      </p:sp>
      <p:sp>
        <p:nvSpPr>
          <p:cNvPr id="32" name="Text 5"/>
          <p:cNvSpPr/>
          <p:nvPr/>
        </p:nvSpPr>
        <p:spPr>
          <a:xfrm>
            <a:off x="455547" y="5537106"/>
            <a:ext cx="3838517" cy="1096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scroll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se mueve con el contenido (por defecto)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permanece fijo respecto a la ventana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se mueve con el contenido del contenedor</a:t>
            </a:r>
            <a:endParaRPr lang="en-US" sz="1450" dirty="0"/>
          </a:p>
        </p:txBody>
      </p:sp>
      <p:sp>
        <p:nvSpPr>
          <p:cNvPr id="33" name="Text 6"/>
          <p:cNvSpPr/>
          <p:nvPr/>
        </p:nvSpPr>
        <p:spPr>
          <a:xfrm>
            <a:off x="4932040" y="3833292"/>
            <a:ext cx="383851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background-position</a:t>
            </a:r>
            <a:endParaRPr lang="en-US" sz="1850" dirty="0"/>
          </a:p>
        </p:txBody>
      </p:sp>
      <p:sp>
        <p:nvSpPr>
          <p:cNvPr id="34" name="Text 7"/>
          <p:cNvSpPr/>
          <p:nvPr/>
        </p:nvSpPr>
        <p:spPr>
          <a:xfrm>
            <a:off x="4932040" y="4323928"/>
            <a:ext cx="383851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Establece la posición inicial de la imagen dentro del elemento.</a:t>
            </a:r>
            <a:endParaRPr lang="en-US" sz="1450" dirty="0"/>
          </a:p>
        </p:txBody>
      </p:sp>
      <p:sp>
        <p:nvSpPr>
          <p:cNvPr id="35" name="Text 8"/>
          <p:cNvSpPr/>
          <p:nvPr/>
        </p:nvSpPr>
        <p:spPr>
          <a:xfrm>
            <a:off x="4932040" y="5098827"/>
            <a:ext cx="3838517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Palabras clave: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bottom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Coordenadas: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&lt;porcentaje&gt;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&lt;longitud&gt;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(px, em, rem…)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Valores duales: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center top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20% 80%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54679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14" name="Text 3"/>
          <p:cNvSpPr/>
          <p:nvPr/>
        </p:nvSpPr>
        <p:spPr>
          <a:xfrm>
            <a:off x="436510" y="1475656"/>
            <a:ext cx="28304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background-origin</a:t>
            </a:r>
            <a:endParaRPr lang="en-US" sz="1850" dirty="0"/>
          </a:p>
        </p:txBody>
      </p:sp>
      <p:sp>
        <p:nvSpPr>
          <p:cNvPr id="15" name="Text 4"/>
          <p:cNvSpPr/>
          <p:nvPr/>
        </p:nvSpPr>
        <p:spPr>
          <a:xfrm>
            <a:off x="436510" y="1798528"/>
            <a:ext cx="2695330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desde qué área se posiciona el origen de la imagen de fondo.</a:t>
            </a:r>
            <a:endParaRPr lang="en-US" sz="1450" dirty="0"/>
          </a:p>
        </p:txBody>
      </p:sp>
      <p:sp>
        <p:nvSpPr>
          <p:cNvPr id="26" name="Text 5"/>
          <p:cNvSpPr/>
          <p:nvPr/>
        </p:nvSpPr>
        <p:spPr>
          <a:xfrm>
            <a:off x="436509" y="2371998"/>
            <a:ext cx="2830406" cy="62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desde el borde exterior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desde el padding (por defecto)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desde el área de contenido</a:t>
            </a:r>
            <a:endParaRPr lang="en-US" sz="14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015563"/>
            <a:ext cx="2097853" cy="339013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3212976"/>
            <a:ext cx="2288744" cy="184694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835" y="1501337"/>
            <a:ext cx="2501583" cy="322364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140" y="4761563"/>
            <a:ext cx="2482861" cy="154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1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27" name="Text 6"/>
          <p:cNvSpPr/>
          <p:nvPr/>
        </p:nvSpPr>
        <p:spPr>
          <a:xfrm>
            <a:off x="457200" y="1556792"/>
            <a:ext cx="28304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background-clip</a:t>
            </a:r>
            <a:endParaRPr lang="en-US" sz="1000" dirty="0"/>
          </a:p>
        </p:txBody>
      </p:sp>
      <p:sp>
        <p:nvSpPr>
          <p:cNvPr id="28" name="Text 7"/>
          <p:cNvSpPr/>
          <p:nvPr/>
        </p:nvSpPr>
        <p:spPr>
          <a:xfrm>
            <a:off x="457200" y="1755682"/>
            <a:ext cx="3754760" cy="229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hasta qué área se dibuja el fondo (color o imagen).</a:t>
            </a:r>
            <a:endParaRPr lang="en-US" sz="1000" dirty="0"/>
          </a:p>
        </p:txBody>
      </p:sp>
      <p:sp>
        <p:nvSpPr>
          <p:cNvPr id="29" name="Text 8"/>
          <p:cNvSpPr/>
          <p:nvPr/>
        </p:nvSpPr>
        <p:spPr>
          <a:xfrm>
            <a:off x="457200" y="1985125"/>
            <a:ext cx="2830405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padding-box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content-box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recorta el fondo a la forma del texto</a:t>
            </a:r>
            <a:endParaRPr lang="en-US" sz="14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559" y="878756"/>
            <a:ext cx="2490109" cy="388714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0887"/>
            <a:ext cx="3322712" cy="41462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378" y="1453325"/>
            <a:ext cx="2075548" cy="248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0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30" name="Text 3"/>
          <p:cNvSpPr/>
          <p:nvPr/>
        </p:nvSpPr>
        <p:spPr>
          <a:xfrm>
            <a:off x="457200" y="1628800"/>
            <a:ext cx="383851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background-attachment</a:t>
            </a:r>
            <a:endParaRPr lang="en-US" sz="1850" dirty="0"/>
          </a:p>
        </p:txBody>
      </p:sp>
      <p:sp>
        <p:nvSpPr>
          <p:cNvPr id="31" name="Text 4"/>
          <p:cNvSpPr/>
          <p:nvPr/>
        </p:nvSpPr>
        <p:spPr>
          <a:xfrm>
            <a:off x="457201" y="1965060"/>
            <a:ext cx="3034680" cy="47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el comportamiento del fondo al hacer scroll en la página.</a:t>
            </a:r>
            <a:endParaRPr lang="en-US" sz="1450" dirty="0"/>
          </a:p>
        </p:txBody>
      </p:sp>
      <p:sp>
        <p:nvSpPr>
          <p:cNvPr id="32" name="Text 5"/>
          <p:cNvSpPr/>
          <p:nvPr/>
        </p:nvSpPr>
        <p:spPr>
          <a:xfrm>
            <a:off x="457200" y="2474201"/>
            <a:ext cx="3106688" cy="810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scroll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se mueve con el contenido (por defecto)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permanece fijo respecto a la ventana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se mueve con el contenido del contenedor</a:t>
            </a:r>
            <a:endParaRPr lang="en-US" sz="14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99" y="3068960"/>
            <a:ext cx="2325083" cy="367139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2564905"/>
            <a:ext cx="2309971" cy="309634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056" y="1115678"/>
            <a:ext cx="2524018" cy="264777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56" y="3937627"/>
            <a:ext cx="2521651" cy="279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33" name="Text 6"/>
          <p:cNvSpPr/>
          <p:nvPr/>
        </p:nvSpPr>
        <p:spPr>
          <a:xfrm>
            <a:off x="457200" y="1556792"/>
            <a:ext cx="383851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background-position</a:t>
            </a:r>
            <a:endParaRPr lang="en-US" sz="1850" dirty="0"/>
          </a:p>
        </p:txBody>
      </p:sp>
      <p:sp>
        <p:nvSpPr>
          <p:cNvPr id="34" name="Text 7"/>
          <p:cNvSpPr/>
          <p:nvPr/>
        </p:nvSpPr>
        <p:spPr>
          <a:xfrm>
            <a:off x="457200" y="1858417"/>
            <a:ext cx="2602632" cy="392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Establece la posición inicial de la imagen dentro del elemento.</a:t>
            </a:r>
            <a:endParaRPr lang="en-US" sz="1450" dirty="0"/>
          </a:p>
        </p:txBody>
      </p:sp>
      <p:sp>
        <p:nvSpPr>
          <p:cNvPr id="35" name="Text 8"/>
          <p:cNvSpPr/>
          <p:nvPr/>
        </p:nvSpPr>
        <p:spPr>
          <a:xfrm>
            <a:off x="457201" y="2348880"/>
            <a:ext cx="2890664" cy="7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Palabras clave: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bottom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Coordenadas: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&lt;porcentaje&gt;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&lt;longitud&gt;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(px, em, rem…)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Valores duales: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center top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20% 80%</a:t>
            </a:r>
            <a:endParaRPr lang="en-US" sz="14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140968"/>
            <a:ext cx="1576918" cy="235800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533" y="4509120"/>
            <a:ext cx="1770088" cy="17085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960" y="2743237"/>
            <a:ext cx="1793690" cy="276624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650" y="836712"/>
            <a:ext cx="1720951" cy="324058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631" y="3356992"/>
            <a:ext cx="1696660" cy="307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5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Sintaxis abreviada</a:t>
            </a:r>
            <a:endParaRPr lang="es-ES" sz="4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14</a:t>
            </a:fld>
            <a:endParaRPr lang="es-ES" dirty="0"/>
          </a:p>
        </p:txBody>
      </p:sp>
      <p:sp>
        <p:nvSpPr>
          <p:cNvPr id="7" name="Text 3"/>
          <p:cNvSpPr/>
          <p:nvPr/>
        </p:nvSpPr>
        <p:spPr>
          <a:xfrm>
            <a:off x="661475" y="1522809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Estructura completa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61475" y="1873448"/>
            <a:ext cx="5257867" cy="1910358"/>
          </a:xfrm>
          <a:prstGeom prst="roundRect">
            <a:avLst>
              <a:gd name="adj" fmla="val 6818"/>
            </a:avLst>
          </a:prstGeom>
          <a:solidFill>
            <a:srgbClr val="EDF2ED"/>
          </a:solidFill>
          <a:ln/>
        </p:spPr>
      </p:sp>
      <p:sp>
        <p:nvSpPr>
          <p:cNvPr id="9" name="Text 5"/>
          <p:cNvSpPr/>
          <p:nvPr/>
        </p:nvSpPr>
        <p:spPr>
          <a:xfrm>
            <a:off x="835103" y="2018109"/>
            <a:ext cx="4910610" cy="1621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.contenedor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color | imagen | repeat | posición / tamaño */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#f0f0f0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url('fondo.webp')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no-repeat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center / cover;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78703" y="1522809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Orden de los valores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78703" y="1873448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 flipV="1">
            <a:off x="6278703" y="2054544"/>
            <a:ext cx="2408097" cy="45719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9"/>
          <p:cNvSpPr/>
          <p:nvPr/>
        </p:nvSpPr>
        <p:spPr>
          <a:xfrm>
            <a:off x="6278703" y="2210693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Color de fondo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78703" y="2547441"/>
            <a:ext cx="525786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#f0f0f0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278703" y="2983706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78703" y="3320951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Imagen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278703" y="3657699"/>
            <a:ext cx="525786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url('fondo.webp')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78703" y="4093964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278703" y="4431209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Repetición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278703" y="4767957"/>
            <a:ext cx="525786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no-repeat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278703" y="5204222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278703" y="5541466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Posición / Tamaño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278703" y="5878215"/>
            <a:ext cx="525786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center / cover</a:t>
            </a:r>
            <a:endParaRPr lang="en-US" sz="1100" dirty="0"/>
          </a:p>
        </p:txBody>
      </p:sp>
      <p:sp>
        <p:nvSpPr>
          <p:cNvPr id="27" name="Shape 8"/>
          <p:cNvSpPr/>
          <p:nvPr/>
        </p:nvSpPr>
        <p:spPr>
          <a:xfrm flipV="1">
            <a:off x="6278702" y="3210222"/>
            <a:ext cx="2408097" cy="45719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8" name="Shape 8"/>
          <p:cNvSpPr/>
          <p:nvPr/>
        </p:nvSpPr>
        <p:spPr>
          <a:xfrm flipV="1">
            <a:off x="6278701" y="4320480"/>
            <a:ext cx="2408097" cy="45719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9" name="Shape 8"/>
          <p:cNvSpPr/>
          <p:nvPr/>
        </p:nvSpPr>
        <p:spPr>
          <a:xfrm flipV="1">
            <a:off x="6278700" y="5439903"/>
            <a:ext cx="2408097" cy="45719"/>
          </a:xfrm>
          <a:prstGeom prst="rect">
            <a:avLst/>
          </a:prstGeom>
          <a:solidFill>
            <a:srgbClr val="438951"/>
          </a:solidFill>
          <a:ln/>
        </p:spPr>
      </p:sp>
    </p:spTree>
    <p:extLst>
      <p:ext uri="{BB962C8B-B14F-4D97-AF65-F5344CB8AC3E}">
        <p14:creationId xmlns:p14="http://schemas.microsoft.com/office/powerpoint/2010/main" val="83564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Fondos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27432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 smtClean="0">
              <a:latin typeface="+mj-lt"/>
              <a:hlinkClick r:id="rId2"/>
            </a:endParaRPr>
          </a:p>
          <a:p>
            <a:pPr marL="56007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800" dirty="0" smtClean="0">
                <a:latin typeface="+mj-lt"/>
              </a:rPr>
              <a:t>Fondos: </a:t>
            </a:r>
            <a:r>
              <a:rPr lang="es-ES" sz="1800" dirty="0" smtClean="0">
                <a:latin typeface="+mj-lt"/>
                <a:hlinkClick r:id="rId2"/>
              </a:rPr>
              <a:t>https</a:t>
            </a:r>
            <a:r>
              <a:rPr lang="es-ES" sz="1800" dirty="0">
                <a:latin typeface="+mj-lt"/>
                <a:hlinkClick r:id="rId2"/>
              </a:rPr>
              <a:t>://</a:t>
            </a:r>
            <a:r>
              <a:rPr lang="es-ES" sz="1800" dirty="0" smtClean="0">
                <a:latin typeface="+mj-lt"/>
                <a:hlinkClick r:id="rId2"/>
              </a:rPr>
              <a:t>www.w3schools.com/css/css_background.asp</a:t>
            </a:r>
            <a:endParaRPr lang="es-ES" sz="1800" dirty="0" smtClean="0">
              <a:latin typeface="+mj-lt"/>
            </a:endParaRPr>
          </a:p>
          <a:p>
            <a:pPr marL="27432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>
              <a:latin typeface="+mj-lt"/>
            </a:endParaRPr>
          </a:p>
          <a:p>
            <a:pPr marL="560070" lvl="2" indent="-28575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Fondos avanzados:  </a:t>
            </a:r>
            <a:r>
              <a:rPr lang="es-ES" sz="1700" dirty="0" smtClean="0">
                <a:latin typeface="+mj-lt"/>
                <a:hlinkClick r:id="rId3"/>
              </a:rPr>
              <a:t>https</a:t>
            </a:r>
            <a:r>
              <a:rPr lang="es-ES" sz="1700" dirty="0">
                <a:latin typeface="+mj-lt"/>
                <a:hlinkClick r:id="rId3"/>
              </a:rPr>
              <a:t>://</a:t>
            </a:r>
            <a:r>
              <a:rPr lang="es-ES" sz="1700" dirty="0" smtClean="0">
                <a:latin typeface="+mj-lt"/>
                <a:hlinkClick r:id="rId3"/>
              </a:rPr>
              <a:t>www.w3schools.com/css/css3_backgrounds.asp</a:t>
            </a:r>
            <a:endParaRPr lang="es-ES" sz="1700" dirty="0" smtClean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60070" lvl="2" indent="-28575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Degradados: </a:t>
            </a:r>
          </a:p>
          <a:p>
            <a:pPr marL="834390" lvl="3" indent="-28575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dirty="0" smtClean="0">
                <a:latin typeface="+mj-lt"/>
                <a:hlinkClick r:id="rId4"/>
              </a:rPr>
              <a:t>https</a:t>
            </a:r>
            <a:r>
              <a:rPr lang="es-ES" sz="1600" dirty="0">
                <a:latin typeface="+mj-lt"/>
                <a:hlinkClick r:id="rId4"/>
              </a:rPr>
              <a:t>://</a:t>
            </a:r>
            <a:r>
              <a:rPr lang="es-ES" sz="1600" dirty="0" smtClean="0">
                <a:latin typeface="+mj-lt"/>
                <a:hlinkClick r:id="rId4"/>
              </a:rPr>
              <a:t>www.w3schools.com/css/css3_gradients.asp</a:t>
            </a:r>
            <a:endParaRPr lang="es-ES" sz="1600" dirty="0" smtClean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dirty="0">
                <a:latin typeface="+mj-lt"/>
                <a:hlinkClick r:id="rId5"/>
              </a:rPr>
              <a:t>https://</a:t>
            </a:r>
            <a:r>
              <a:rPr lang="es-ES" sz="1600" dirty="0" smtClean="0">
                <a:latin typeface="+mj-lt"/>
                <a:hlinkClick r:id="rId5"/>
              </a:rPr>
              <a:t>desarrolloweb.com/articulos/degradado-lineal-css3.html</a:t>
            </a:r>
            <a:endParaRPr lang="es-ES" sz="1600" dirty="0" smtClean="0">
              <a:latin typeface="+mj-lt"/>
            </a:endParaRPr>
          </a:p>
          <a:p>
            <a:pPr marL="548640" lvl="3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108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16</a:t>
            </a:fld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155694"/>
            <a:ext cx="7992888" cy="357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611560" y="5731789"/>
            <a:ext cx="8075240" cy="553998"/>
          </a:xfrm>
          <a:prstGeom prst="rect">
            <a:avLst/>
          </a:prstGeom>
          <a:ln>
            <a:solidFill>
              <a:srgbClr val="FF0000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En el desarrollo web moderno se evita el uso de .</a:t>
            </a:r>
            <a:r>
              <a:rPr 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gif</a:t>
            </a:r>
            <a:r>
              <a:rPr 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por su peso excesivo y baja calidad de </a:t>
            </a:r>
            <a:r>
              <a:rPr 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color.En</a:t>
            </a:r>
            <a:r>
              <a:rPr 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su lugar, para fondos e imágenes se utilizan formatos modernos de alto rendimiento como .</a:t>
            </a:r>
            <a:r>
              <a:rPr 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webp</a:t>
            </a:r>
            <a:r>
              <a:rPr 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y .</a:t>
            </a:r>
            <a:r>
              <a:rPr 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avif</a:t>
            </a:r>
            <a:r>
              <a:rPr 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(o SVG para vectores).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11560" y="1142802"/>
            <a:ext cx="6897141" cy="1015663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#ejemplo1 {</a:t>
            </a:r>
          </a:p>
          <a:p>
            <a:pPr marL="266700" indent="-266700" eaLnBrk="1" hangingPunct="1">
              <a:buNone/>
            </a:pP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background-image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(./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irudiak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/img_tree.gif),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(./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irudiak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/confeti.gif);</a:t>
            </a:r>
          </a:p>
          <a:p>
            <a:pPr marL="266700" indent="-266700" eaLnBrk="1" hangingPunct="1">
              <a:buNone/>
            </a:pP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-position: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bottom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top;</a:t>
            </a:r>
          </a:p>
          <a:p>
            <a:pPr marL="266700" indent="-266700" eaLnBrk="1" hangingPunct="1">
              <a:buNone/>
            </a:pP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background-repeat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no-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66700" indent="-266700" eaLnBrk="1" hangingPunct="1">
              <a:buNone/>
            </a:pP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15px;</a:t>
            </a:r>
          </a:p>
          <a:p>
            <a:pPr marL="266700" indent="-266700" eaLnBrk="1" hangingPunct="1">
              <a:buNone/>
            </a:pPr>
            <a:r>
              <a:rPr lang="es-E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576064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Múltiples </a:t>
            </a:r>
            <a:r>
              <a:rPr lang="es-ES" sz="4000" dirty="0" smtClean="0"/>
              <a:t>fondos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156735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50330</TotalTime>
  <Words>976</Words>
  <Application>Microsoft Office PowerPoint</Application>
  <PresentationFormat>Presentación en pantalla (4:3)</PresentationFormat>
  <Paragraphs>190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8" baseType="lpstr">
      <vt:lpstr>Arial</vt:lpstr>
      <vt:lpstr>Calibri</vt:lpstr>
      <vt:lpstr>Consolas</vt:lpstr>
      <vt:lpstr>Constantia</vt:lpstr>
      <vt:lpstr>Courier New</vt:lpstr>
      <vt:lpstr>Fraunces ExtraBold</vt:lpstr>
      <vt:lpstr>Fraunces Light</vt:lpstr>
      <vt:lpstr>Nobile</vt:lpstr>
      <vt:lpstr>Times New Roman</vt:lpstr>
      <vt:lpstr>Wingdings</vt:lpstr>
      <vt:lpstr>Wingdings 2</vt:lpstr>
      <vt:lpstr>Flujo</vt:lpstr>
      <vt:lpstr>CSS – FONDOS</vt:lpstr>
      <vt:lpstr>Fondos</vt:lpstr>
      <vt:lpstr>Fondos</vt:lpstr>
      <vt:lpstr>Fondos</vt:lpstr>
      <vt:lpstr>Fondos</vt:lpstr>
      <vt:lpstr>Fondos</vt:lpstr>
      <vt:lpstr>Fondos</vt:lpstr>
      <vt:lpstr>Fondos</vt:lpstr>
      <vt:lpstr>Fondos</vt:lpstr>
      <vt:lpstr>Fondos</vt:lpstr>
      <vt:lpstr>Fondos</vt:lpstr>
      <vt:lpstr>Fondos</vt:lpstr>
      <vt:lpstr>Fondos</vt:lpstr>
      <vt:lpstr>Sintaxis abreviada</vt:lpstr>
      <vt:lpstr>Fondos</vt:lpstr>
      <vt:lpstr>Múltiples fondos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Ainara Montoya</dc:creator>
  <cp:lastModifiedBy>Coque</cp:lastModifiedBy>
  <cp:revision>1643</cp:revision>
  <cp:lastPrinted>2015-09-21T12:13:15Z</cp:lastPrinted>
  <dcterms:created xsi:type="dcterms:W3CDTF">2012-04-05T17:12:23Z</dcterms:created>
  <dcterms:modified xsi:type="dcterms:W3CDTF">2026-09-24T07:22:13Z</dcterms:modified>
</cp:coreProperties>
</file>