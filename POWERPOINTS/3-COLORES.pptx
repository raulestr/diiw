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4803" r:id="rId1"/>
  </p:sldMasterIdLst>
  <p:notesMasterIdLst>
    <p:notesMasterId r:id="rId17"/>
  </p:notesMasterIdLst>
  <p:handoutMasterIdLst>
    <p:handoutMasterId r:id="rId18"/>
  </p:handoutMasterIdLst>
  <p:sldIdLst>
    <p:sldId id="277" r:id="rId2"/>
    <p:sldId id="455" r:id="rId3"/>
    <p:sldId id="613" r:id="rId4"/>
    <p:sldId id="614" r:id="rId5"/>
    <p:sldId id="456" r:id="rId6"/>
    <p:sldId id="457" r:id="rId7"/>
    <p:sldId id="458" r:id="rId8"/>
    <p:sldId id="459" r:id="rId9"/>
    <p:sldId id="603" r:id="rId10"/>
    <p:sldId id="604" r:id="rId11"/>
    <p:sldId id="607" r:id="rId12"/>
    <p:sldId id="608" r:id="rId13"/>
    <p:sldId id="609" r:id="rId14"/>
    <p:sldId id="610" r:id="rId15"/>
    <p:sldId id="611" r:id="rId16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200"/>
    <a:srgbClr val="F2B800"/>
    <a:srgbClr val="E1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9112" autoAdjust="0"/>
  </p:normalViewPr>
  <p:slideViewPr>
    <p:cSldViewPr>
      <p:cViewPr varScale="1">
        <p:scale>
          <a:sx n="117" d="100"/>
          <a:sy n="117" d="100"/>
        </p:scale>
        <p:origin x="178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0EE77-5F38-457B-96A8-67CE15DC456B}" type="datetimeFigureOut">
              <a:rPr lang="es-ES" smtClean="0"/>
              <a:pPr/>
              <a:t>23/09/2026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415D2-09C9-45E9-8984-F1E4AAC1ABA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2561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11E10-B218-48E2-B7C9-DEE9015F2796}" type="datetimeFigureOut">
              <a:rPr lang="es-ES" smtClean="0"/>
              <a:pPr/>
              <a:t>23/09/2026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3F345-9B85-45FE-A289-6E9AEA1DBE5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716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3F345-9B85-45FE-A289-6E9AEA1DBE5E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71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C8F5EBE-D15D-4979-B44E-9A846C4182D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91974DF9-AD47-4691-BA21-BBFCE3637A9A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2483768" y="5824119"/>
            <a:ext cx="42484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I.E.S. </a:t>
            </a:r>
            <a:r>
              <a:rPr kumimoji="0" lang="es-ES_tradnl" sz="2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Txurdinaga-Artabe</a:t>
            </a:r>
            <a:endParaRPr kumimoji="0" lang="es-ES_tradnl" sz="2400" b="1" i="0" u="none" strike="noStrike" cap="none" normalizeH="0" baseline="0" dirty="0">
              <a:ln>
                <a:noFill/>
              </a:ln>
              <a:solidFill>
                <a:schemeClr val="tx2">
                  <a:lumMod val="25000"/>
                </a:schemeClr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62596F2-6DAB-484A-B3EA-2A00C6A078B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E45677C-7103-4026-AEC7-719DD360423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3F78F60-EF38-4D24-9E29-087DF885C579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328C616-A571-4B28-9F11-B9706C3AA4F6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1701934-CBED-4B3E-ACCF-0BC2CF96F07F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2520F7D-3AF7-4B81-AC04-DECB38F90354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E42B5D-E325-420D-8A79-7C7E7112DD93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BF23FF8-97B8-4246-AF60-916A0235E389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2FC5A4F-CAD3-4D49-8F7F-C0223B70D2E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3D7A2B-CEF8-4F8B-85EC-76CD387D8B1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eaLnBrk="1" latinLnBrk="0" hangingPunct="1"/>
            <a:fld id="{B37FA328-F8CC-4DA5-9300-48729342F3F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4" r:id="rId1"/>
    <p:sldLayoutId id="2147484805" r:id="rId2"/>
    <p:sldLayoutId id="2147484806" r:id="rId3"/>
    <p:sldLayoutId id="2147484807" r:id="rId4"/>
    <p:sldLayoutId id="2147484808" r:id="rId5"/>
    <p:sldLayoutId id="2147484809" r:id="rId6"/>
    <p:sldLayoutId id="2147484810" r:id="rId7"/>
    <p:sldLayoutId id="2147484811" r:id="rId8"/>
    <p:sldLayoutId id="2147484812" r:id="rId9"/>
    <p:sldLayoutId id="2147484813" r:id="rId10"/>
    <p:sldLayoutId id="2147484814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olors/colors_hex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ejemplo:%20https://codepen.io/chriscoyier/pen/jOyXoKO?editors=110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gradient/conic-gradien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5175" y="3717032"/>
            <a:ext cx="7772400" cy="1362456"/>
          </a:xfrm>
        </p:spPr>
        <p:txBody>
          <a:bodyPr>
            <a:normAutofit/>
          </a:bodyPr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CSS</a:t>
            </a:r>
            <a:r>
              <a:rPr lang="es-ES" dirty="0">
                <a:solidFill>
                  <a:schemeClr val="tx1"/>
                </a:solidFill>
              </a:rPr>
              <a:t> – COLORES</a:t>
            </a:r>
          </a:p>
        </p:txBody>
      </p:sp>
      <p:sp>
        <p:nvSpPr>
          <p:cNvPr id="3" name="AutoShape 4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AutoShape 6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5" name="AutoShape 2" descr="Resultado de imagen de cs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484784"/>
            <a:ext cx="21336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4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400" b="1" dirty="0">
                <a:latin typeface="+mj-lt"/>
              </a:rPr>
              <a:t>Los colores se pueden indicar en varias formas diferentes: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dirty="0">
                <a:latin typeface="+mj-lt"/>
              </a:rPr>
              <a:t>Nombre de </a:t>
            </a:r>
            <a:r>
              <a:rPr lang="es-ES" dirty="0">
                <a:latin typeface="+mj-lt"/>
              </a:rPr>
              <a:t>colores</a:t>
            </a:r>
            <a:r>
              <a:rPr lang="es-ES" dirty="0" smtClean="0">
                <a:latin typeface="+mj-lt"/>
              </a:rPr>
              <a:t>: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1200" dirty="0" smtClean="0">
                <a:latin typeface="+mj-lt"/>
              </a:rPr>
              <a:t>Aunque </a:t>
            </a:r>
            <a:r>
              <a:rPr lang="es-ES" sz="1200" dirty="0">
                <a:latin typeface="+mj-lt"/>
              </a:rPr>
              <a:t>CSS soporta 148 nombres, salvo excepciones universales como </a:t>
            </a:r>
            <a:r>
              <a:rPr lang="es-ES" sz="1200" dirty="0" err="1">
                <a:latin typeface="+mj-lt"/>
              </a:rPr>
              <a:t>black</a:t>
            </a:r>
            <a:r>
              <a:rPr lang="es-ES" sz="1200" dirty="0">
                <a:latin typeface="+mj-lt"/>
              </a:rPr>
              <a:t>, </a:t>
            </a:r>
            <a:r>
              <a:rPr lang="es-ES" sz="1200" dirty="0" err="1">
                <a:latin typeface="+mj-lt"/>
              </a:rPr>
              <a:t>white</a:t>
            </a:r>
            <a:r>
              <a:rPr lang="es-ES" sz="1200" dirty="0">
                <a:latin typeface="+mj-lt"/>
              </a:rPr>
              <a:t> o </a:t>
            </a:r>
            <a:r>
              <a:rPr lang="es-ES" sz="1200" dirty="0" err="1">
                <a:latin typeface="+mj-lt"/>
              </a:rPr>
              <a:t>transparent</a:t>
            </a:r>
            <a:r>
              <a:rPr lang="es-ES" sz="1200" dirty="0">
                <a:latin typeface="+mj-lt"/>
              </a:rPr>
              <a:t>, nunca se usan en desarrollo profesional porque no permiten controlar opacidades de forma precisa ni variaciones de tono.</a:t>
            </a:r>
            <a:endParaRPr lang="es-ES" sz="1200" dirty="0">
              <a:latin typeface="+mj-lt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dirty="0" smtClean="0">
                <a:latin typeface="+mj-lt"/>
              </a:rPr>
              <a:t>RGB: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1200" dirty="0">
                <a:latin typeface="+mj-lt"/>
              </a:rPr>
              <a:t>Ya no necesitas usar </a:t>
            </a:r>
            <a:r>
              <a:rPr lang="es-ES" sz="1200" dirty="0" err="1">
                <a:latin typeface="+mj-lt"/>
              </a:rPr>
              <a:t>rgba</a:t>
            </a:r>
            <a:r>
              <a:rPr lang="es-ES" sz="1200" dirty="0">
                <a:latin typeface="+mj-lt"/>
              </a:rPr>
              <a:t>(). La propia función </a:t>
            </a:r>
            <a:r>
              <a:rPr lang="es-ES" sz="1200" dirty="0" err="1">
                <a:latin typeface="+mj-lt"/>
              </a:rPr>
              <a:t>rgb</a:t>
            </a:r>
            <a:r>
              <a:rPr lang="es-ES" sz="1200" dirty="0">
                <a:latin typeface="+mj-lt"/>
              </a:rPr>
              <a:t>() acepta el canal Alfa opcional</a:t>
            </a:r>
            <a:r>
              <a:rPr lang="es-ES" sz="1200" dirty="0" smtClean="0">
                <a:latin typeface="+mj-lt"/>
              </a:rPr>
              <a:t>.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 smtClean="0">
              <a:latin typeface="+mj-lt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 smtClean="0">
              <a:latin typeface="+mj-lt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>
              <a:latin typeface="+mj-lt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 smtClean="0">
              <a:latin typeface="+mj-lt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</a:t>
            </a:fld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933056"/>
            <a:ext cx="34956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7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400" b="1" dirty="0">
                <a:latin typeface="+mj-lt"/>
              </a:rPr>
              <a:t>Los colores se pueden indicar en varias formas diferentes: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dirty="0"/>
              <a:t>HEX: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1200" dirty="0"/>
              <a:t>Sigue siendo el estándar universal para copiar y pegar colores rápido desde </a:t>
            </a:r>
            <a:r>
              <a:rPr lang="es-ES" sz="1200" dirty="0" err="1"/>
              <a:t>Figma</a:t>
            </a:r>
            <a:r>
              <a:rPr lang="es-ES" sz="1200" dirty="0"/>
              <a:t> o herramientas de diseño. Hoy en día también soporta canal Alfa añadiendo 2 dígitos al final (#RRGGBBAA).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dirty="0" smtClean="0">
              <a:latin typeface="+mj-lt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dirty="0">
              <a:latin typeface="+mj-lt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dirty="0" smtClean="0">
                <a:latin typeface="+mj-lt"/>
              </a:rPr>
              <a:t>HSL: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1200" dirty="0">
                <a:latin typeface="+mj-lt"/>
              </a:rPr>
              <a:t>Es el preferido por diseñadores y desarrolladores para sistemas de diseño porque es intuitivo para humanos (puedes aclarar u oscurecer un color cambiando solo el último número</a:t>
            </a:r>
            <a:r>
              <a:rPr lang="es-ES" sz="1200" dirty="0" smtClean="0">
                <a:latin typeface="+mj-lt"/>
              </a:rPr>
              <a:t>).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>
              <a:latin typeface="+mj-lt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 smtClean="0">
              <a:latin typeface="+mj-lt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sz="1200" dirty="0">
              <a:latin typeface="+mj-lt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dirty="0" smtClean="0">
                <a:latin typeface="+mj-lt"/>
              </a:rPr>
              <a:t>RGBA</a:t>
            </a:r>
            <a:r>
              <a:rPr lang="es-ES" dirty="0" smtClean="0">
                <a:latin typeface="+mj-lt"/>
              </a:rPr>
              <a:t>: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1200" dirty="0">
                <a:latin typeface="+mj-lt"/>
              </a:rPr>
              <a:t>Históricamente se usaba </a:t>
            </a:r>
            <a:r>
              <a:rPr lang="es-ES" sz="1200" dirty="0" err="1">
                <a:latin typeface="+mj-lt"/>
              </a:rPr>
              <a:t>rgb</a:t>
            </a:r>
            <a:r>
              <a:rPr lang="es-ES" sz="1200" dirty="0">
                <a:latin typeface="+mj-lt"/>
              </a:rPr>
              <a:t>(255, 0, 0) para color sólido y </a:t>
            </a:r>
            <a:r>
              <a:rPr lang="es-ES" sz="1200" dirty="0" err="1">
                <a:latin typeface="+mj-lt"/>
              </a:rPr>
              <a:t>rgba</a:t>
            </a:r>
            <a:r>
              <a:rPr lang="es-ES" sz="1200" dirty="0">
                <a:latin typeface="+mj-lt"/>
              </a:rPr>
              <a:t>(255, 0, 0, 0.5) para color con transparencia. Hoy en día </a:t>
            </a:r>
            <a:r>
              <a:rPr lang="es-ES" sz="1200" dirty="0" err="1">
                <a:latin typeface="+mj-lt"/>
              </a:rPr>
              <a:t>rgba</a:t>
            </a:r>
            <a:r>
              <a:rPr lang="es-ES" sz="1200" dirty="0">
                <a:latin typeface="+mj-lt"/>
              </a:rPr>
              <a:t>() está obsoleta/redundante</a:t>
            </a:r>
            <a:r>
              <a:rPr lang="es-ES" sz="1200" dirty="0" smtClean="0">
                <a:latin typeface="+mj-lt"/>
              </a:rPr>
              <a:t>.</a:t>
            </a:r>
            <a:endParaRPr lang="es-ES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3</a:t>
            </a:fld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71" y="4904978"/>
            <a:ext cx="6829425" cy="6096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396" y="3068960"/>
            <a:ext cx="62103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3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400" b="1" dirty="0">
                <a:latin typeface="+mj-lt"/>
              </a:rPr>
              <a:t>Los colores se pueden indicar en varias formas diferentes: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dirty="0"/>
              <a:t>OKLCH </a:t>
            </a:r>
            <a:r>
              <a:rPr lang="es-ES" dirty="0" smtClean="0"/>
              <a:t>(CSS actual-avanzado):</a:t>
            </a:r>
            <a:endParaRPr lang="es-ES" dirty="0"/>
          </a:p>
          <a:p>
            <a:pPr lvl="2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1200" dirty="0"/>
              <a:t>A diferencia de HSL, OKLCH es perceptualmente uniforme. En HSL, el amarillo al 50% de luminosidad se ve muchísimo más brillante que el azul al 50%. En OKLCH, si cambias la luminosidad del 50% al 60%, el cambio visual es exactamente el mismo sin importar el tono.</a:t>
            </a:r>
            <a:endParaRPr lang="es-ES" dirty="0" smtClean="0">
              <a:latin typeface="+mj-lt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s-ES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b="1" dirty="0">
              <a:latin typeface="+mj-lt"/>
            </a:endParaRP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1700" dirty="0">
                <a:latin typeface="+mj-lt"/>
              </a:rPr>
              <a:t>L (</a:t>
            </a:r>
            <a:r>
              <a:rPr lang="es-ES" sz="1700" dirty="0" err="1">
                <a:latin typeface="+mj-lt"/>
              </a:rPr>
              <a:t>Lightness</a:t>
            </a:r>
            <a:r>
              <a:rPr lang="es-ES" sz="1700" dirty="0">
                <a:latin typeface="+mj-lt"/>
              </a:rPr>
              <a:t> / Luminosidad): Del 0% (negro) al 100% (blanco) o de 0 a 1</a:t>
            </a:r>
            <a:r>
              <a:rPr lang="es-ES" sz="1700" dirty="0" smtClean="0">
                <a:latin typeface="+mj-lt"/>
              </a:rPr>
              <a:t>.</a:t>
            </a: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1700" dirty="0" smtClean="0">
                <a:latin typeface="+mj-lt"/>
              </a:rPr>
              <a:t>C </a:t>
            </a:r>
            <a:r>
              <a:rPr lang="es-ES" sz="1700" dirty="0">
                <a:latin typeface="+mj-lt"/>
              </a:rPr>
              <a:t>(</a:t>
            </a:r>
            <a:r>
              <a:rPr lang="es-ES" sz="1700" dirty="0" err="1">
                <a:latin typeface="+mj-lt"/>
              </a:rPr>
              <a:t>Chroma</a:t>
            </a:r>
            <a:r>
              <a:rPr lang="es-ES" sz="1700" dirty="0">
                <a:latin typeface="+mj-lt"/>
              </a:rPr>
              <a:t> / Croma): La "pureza" o intensidad del color. Arranca en 0 (gris neutro) y suele llegar hasta 0.37 en pantallas modernas</a:t>
            </a:r>
            <a:r>
              <a:rPr lang="es-ES" sz="1700" dirty="0" smtClean="0">
                <a:latin typeface="+mj-lt"/>
              </a:rPr>
              <a:t>.</a:t>
            </a: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1700" dirty="0" smtClean="0">
                <a:latin typeface="+mj-lt"/>
              </a:rPr>
              <a:t>H </a:t>
            </a:r>
            <a:r>
              <a:rPr lang="es-ES" sz="1700" dirty="0">
                <a:latin typeface="+mj-lt"/>
              </a:rPr>
              <a:t>(</a:t>
            </a:r>
            <a:r>
              <a:rPr lang="es-ES" sz="1700" dirty="0" err="1">
                <a:latin typeface="+mj-lt"/>
              </a:rPr>
              <a:t>Hue</a:t>
            </a:r>
            <a:r>
              <a:rPr lang="es-ES" sz="1700" dirty="0">
                <a:latin typeface="+mj-lt"/>
              </a:rPr>
              <a:t> / Tono): El ángulo de color en la rueda cromática de 0 a 360 grados (0° es rosa/rojo, 120° es verde, 240° es azul).</a:t>
            </a: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3209925"/>
            <a:ext cx="4705350" cy="43815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7" y="3704718"/>
            <a:ext cx="51530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9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400" b="1" dirty="0">
                <a:latin typeface="+mj-lt"/>
              </a:rPr>
              <a:t>Nombre de colores</a:t>
            </a: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1700" dirty="0">
                <a:latin typeface="+mj-lt"/>
              </a:rPr>
              <a:t>Se puede poner directamente el nombre del color</a:t>
            </a: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1700" dirty="0">
                <a:latin typeface="+mj-lt"/>
              </a:rPr>
              <a:t>La lista de los nombres de los colores la puedes encontrar en :</a:t>
            </a:r>
          </a:p>
          <a:p>
            <a:pPr marL="627063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1700" dirty="0">
                <a:latin typeface="+mj-lt"/>
                <a:hlinkClick r:id="rId2"/>
              </a:rPr>
              <a:t>https://www.w3schools.com/colors/colors_hex.asp</a:t>
            </a:r>
            <a:endParaRPr lang="es-ES" sz="1700" dirty="0">
              <a:latin typeface="+mj-lt"/>
            </a:endParaRPr>
          </a:p>
          <a:p>
            <a:pPr marL="36576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b="1" dirty="0">
              <a:latin typeface="+mj-lt"/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dirty="0">
              <a:latin typeface="+mj-lt"/>
            </a:endParaRPr>
          </a:p>
          <a:p>
            <a:pPr marL="63087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37931" y="3414672"/>
            <a:ext cx="6897141" cy="95410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 {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</a:t>
            </a:r>
            <a:r>
              <a:rPr lang="es-E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color azul claro definido con porcentajes */</a:t>
            </a:r>
          </a:p>
        </p:txBody>
      </p:sp>
    </p:spTree>
    <p:extLst>
      <p:ext uri="{BB962C8B-B14F-4D97-AF65-F5344CB8AC3E}">
        <p14:creationId xmlns:p14="http://schemas.microsoft.com/office/powerpoint/2010/main" val="211535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8352928" cy="49685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400" b="1" dirty="0">
                <a:latin typeface="+mj-lt"/>
              </a:rPr>
              <a:t>RGB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En el modelo RGB un color se define indicando sus tres componentes:</a:t>
            </a:r>
          </a:p>
          <a:p>
            <a:pPr marL="631825" lvl="1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000" dirty="0">
                <a:latin typeface="+mj-lt"/>
              </a:rPr>
              <a:t>R (rojo), G (verde) y B (azul).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Cada una de las componentes puede tomar un valor entre 0 y un valor máximo de 255.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Color </a:t>
            </a:r>
            <a:r>
              <a:rPr lang="es-ES" sz="2000" b="1" dirty="0">
                <a:latin typeface="+mj-lt"/>
              </a:rPr>
              <a:t>rojo puro </a:t>
            </a:r>
            <a:r>
              <a:rPr lang="es-ES" sz="2000" dirty="0">
                <a:latin typeface="+mj-lt"/>
              </a:rPr>
              <a:t>en RGB: (255,0,0)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Color </a:t>
            </a:r>
            <a:r>
              <a:rPr lang="es-ES" sz="2000" b="1" dirty="0">
                <a:latin typeface="+mj-lt"/>
              </a:rPr>
              <a:t>blanco</a:t>
            </a:r>
            <a:r>
              <a:rPr lang="es-ES" sz="2000" dirty="0">
                <a:latin typeface="+mj-lt"/>
              </a:rPr>
              <a:t> en RGB: (255,255,255)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Color </a:t>
            </a:r>
            <a:r>
              <a:rPr lang="es-ES" sz="2000" b="1" dirty="0">
                <a:latin typeface="+mj-lt"/>
              </a:rPr>
              <a:t>negro</a:t>
            </a:r>
            <a:r>
              <a:rPr lang="es-ES" sz="2000" dirty="0">
                <a:latin typeface="+mj-lt"/>
              </a:rPr>
              <a:t> en RGB: (0,0,0)</a:t>
            </a:r>
          </a:p>
          <a:p>
            <a:pPr marL="36576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195437" y="4653136"/>
            <a:ext cx="6897141" cy="1169551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 {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color: </a:t>
            </a:r>
            <a:r>
              <a:rPr lang="es-E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rgb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(71, 98, 176);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  <a:p>
            <a:pPr marL="266700" indent="-266700" eaLnBrk="1" hangingPunct="1">
              <a:buNone/>
            </a:pPr>
            <a:endParaRPr lang="es-E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los párrafos tendrán un color azul claro */</a:t>
            </a:r>
          </a:p>
        </p:txBody>
      </p:sp>
    </p:spTree>
    <p:extLst>
      <p:ext uri="{BB962C8B-B14F-4D97-AF65-F5344CB8AC3E}">
        <p14:creationId xmlns:p14="http://schemas.microsoft.com/office/powerpoint/2010/main" val="207692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s-ES" sz="2400" b="1" dirty="0">
                <a:latin typeface="+mj-lt"/>
              </a:rPr>
              <a:t>RGB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Las componentes RGB de un color también se pueden indicar mediante porcentajes.</a:t>
            </a:r>
          </a:p>
          <a:p>
            <a:pPr marL="63087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</a:pPr>
            <a:r>
              <a:rPr lang="es-ES" sz="2000" dirty="0">
                <a:latin typeface="+mj-lt"/>
              </a:rPr>
              <a:t>Las componentes RGB puede tomar valores entre 0% y 100%.</a:t>
            </a:r>
            <a:endParaRPr lang="es-ES" sz="1700" dirty="0">
              <a:latin typeface="+mj-lt"/>
            </a:endParaRPr>
          </a:p>
          <a:p>
            <a:pPr marL="36576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262273" y="3479518"/>
            <a:ext cx="6897141" cy="95410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 {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</a:t>
            </a:r>
            <a:r>
              <a:rPr lang="es-E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rgb</a:t>
            </a: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(27%, 38%, 69%);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  <a:p>
            <a:pPr marL="266700" indent="-266700" eaLnBrk="1" hangingPunct="1">
              <a:buNone/>
            </a:pPr>
            <a:r>
              <a:rPr lang="es-E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color azul claro definido con porcentajes */</a:t>
            </a:r>
          </a:p>
        </p:txBody>
      </p:sp>
    </p:spTree>
    <p:extLst>
      <p:ext uri="{BB962C8B-B14F-4D97-AF65-F5344CB8AC3E}">
        <p14:creationId xmlns:p14="http://schemas.microsoft.com/office/powerpoint/2010/main" val="150251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75000"/>
                </a:srgbClr>
              </a:buClr>
              <a:buSzPct val="95000"/>
              <a:buNone/>
            </a:pPr>
            <a:r>
              <a:rPr lang="es-ES" b="1" dirty="0">
                <a:solidFill>
                  <a:prstClr val="black"/>
                </a:solidFill>
                <a:latin typeface="Calibri"/>
              </a:rPr>
              <a:t>Hexadecimal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Pasos para definir un color hexadecimal: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dirty="0">
                <a:latin typeface="+mj-lt"/>
              </a:rPr>
              <a:t>Determinar las componentes RGB en decimal (R=71, G= 98, B=176).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dirty="0">
                <a:latin typeface="+mj-lt"/>
              </a:rPr>
              <a:t>Convertir cada valor decimal en su correspondiente hexadecimal.</a:t>
            </a:r>
          </a:p>
          <a:p>
            <a:pPr marL="891540" lvl="3" indent="-34290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dirty="0">
                <a:latin typeface="+mj-lt"/>
              </a:rPr>
              <a:t>Concatenar los valores hexadecimales y añadir el prefijo #</a:t>
            </a:r>
          </a:p>
          <a:p>
            <a:pPr marL="891540" lvl="3" indent="-34290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/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/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/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/>
          </a:p>
          <a:p>
            <a:pPr marL="27432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408659" y="4059069"/>
            <a:ext cx="6897141" cy="95410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body {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background-color: #4762B0;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#000;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218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75000"/>
                </a:srgbClr>
              </a:buClr>
              <a:buSzPct val="95000"/>
              <a:buNone/>
            </a:pPr>
            <a:r>
              <a:rPr lang="es-ES" b="1" dirty="0">
                <a:solidFill>
                  <a:prstClr val="black"/>
                </a:solidFill>
                <a:latin typeface="Calibri"/>
              </a:rPr>
              <a:t>Hexadecimal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En formato hexadecimal se pueden comprimir sus valores cuando sus componentes son iguales dos a dos (#A0F  =  #AA00FF)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Se pueden escribir en mayúsculas o minúsculas.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Código CSS para establecer el color de fondo de la página en blanco, el color de texto negro y los títulos en rojo.</a:t>
            </a: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83439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115616" y="3915125"/>
            <a:ext cx="6897141" cy="1600438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body {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background-color: #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FFF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#000;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h1, h2, h3, h4, h5, h6 {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color: #C00;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510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7544" y="1556792"/>
            <a:ext cx="7920880" cy="4968552"/>
          </a:xfr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rgbClr val="0F6FC6">
                  <a:lumMod val="75000"/>
                </a:srgbClr>
              </a:buClr>
              <a:buSzPct val="95000"/>
              <a:buNone/>
            </a:pPr>
            <a:r>
              <a:rPr lang="es-ES" b="1" dirty="0" err="1">
                <a:solidFill>
                  <a:prstClr val="black"/>
                </a:solidFill>
                <a:latin typeface="Calibri"/>
              </a:rPr>
              <a:t>HSL</a:t>
            </a:r>
            <a:endParaRPr lang="es-ES" b="1" dirty="0">
              <a:solidFill>
                <a:prstClr val="black"/>
              </a:solidFill>
              <a:latin typeface="Calibri"/>
            </a:endParaRP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Las siglas </a:t>
            </a:r>
            <a:r>
              <a:rPr lang="es-ES" sz="2000" dirty="0" err="1">
                <a:latin typeface="+mj-lt"/>
              </a:rPr>
              <a:t>HSL</a:t>
            </a:r>
            <a:r>
              <a:rPr lang="es-ES" sz="2000" dirty="0">
                <a:latin typeface="+mj-lt"/>
              </a:rPr>
              <a:t> provienen del inglés </a:t>
            </a:r>
            <a:r>
              <a:rPr lang="es-ES" sz="2000" dirty="0" err="1">
                <a:latin typeface="+mj-lt"/>
              </a:rPr>
              <a:t>Hue</a:t>
            </a:r>
            <a:r>
              <a:rPr lang="es-ES" sz="2000" dirty="0">
                <a:latin typeface="+mj-lt"/>
              </a:rPr>
              <a:t>, </a:t>
            </a:r>
            <a:r>
              <a:rPr lang="es-ES" sz="2000" dirty="0" err="1">
                <a:latin typeface="+mj-lt"/>
              </a:rPr>
              <a:t>Saturation</a:t>
            </a:r>
            <a:r>
              <a:rPr lang="es-ES" sz="2000" dirty="0">
                <a:latin typeface="+mj-lt"/>
              </a:rPr>
              <a:t>, </a:t>
            </a:r>
            <a:r>
              <a:rPr lang="es-ES" sz="2000" dirty="0" err="1">
                <a:latin typeface="+mj-lt"/>
              </a:rPr>
              <a:t>Ligthness</a:t>
            </a:r>
            <a:r>
              <a:rPr lang="es-ES" sz="2000" dirty="0">
                <a:latin typeface="+mj-lt"/>
              </a:rPr>
              <a:t> o lo que es lo mismo, tono, saturación y brillo. 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El valor del tono puede tomar valores del 0 al 360 donde: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900" dirty="0">
                <a:latin typeface="+mj-lt"/>
              </a:rPr>
              <a:t>0, sería el rojo.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900" dirty="0">
                <a:latin typeface="+mj-lt"/>
              </a:rPr>
              <a:t>120, sería el verde.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900" dirty="0">
                <a:latin typeface="+mj-lt"/>
              </a:rPr>
              <a:t>240, sería el azul.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900" dirty="0">
                <a:latin typeface="+mj-lt"/>
              </a:rPr>
              <a:t>360, volvería a ser rojo.</a:t>
            </a:r>
          </a:p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La saturación y el brillo son representados por porcentajes.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900" dirty="0">
                <a:latin typeface="+mj-lt"/>
              </a:rPr>
              <a:t>100%  es saturación completa, y 0% es una sombra de gris.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r>
              <a:rPr lang="es-ES" sz="1900" dirty="0">
                <a:latin typeface="+mj-lt"/>
              </a:rPr>
              <a:t>100% brillo es blanco, 0%  negro, y 50% es brillo "normal".</a:t>
            </a:r>
          </a:p>
          <a:p>
            <a:pPr marL="274320" lvl="2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834390" lvl="3" indent="-28575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979413" y="5825801"/>
            <a:ext cx="6897141" cy="738664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body {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background-color: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hsl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(360,100%,20%);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432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Propiedad </a:t>
            </a:r>
            <a:r>
              <a:rPr lang="es-ES" sz="4000" dirty="0" err="1"/>
              <a:t>accent</a:t>
            </a:r>
            <a:r>
              <a:rPr lang="es-ES" sz="4000" dirty="0"/>
              <a:t>-color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3528" y="1556792"/>
            <a:ext cx="8640960" cy="4968552"/>
          </a:xfrm>
        </p:spPr>
        <p:txBody>
          <a:bodyPr>
            <a:noAutofit/>
          </a:bodyPr>
          <a:lstStyle/>
          <a:p>
            <a:pPr marL="61722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dirty="0">
                <a:latin typeface="+mj-lt"/>
              </a:rPr>
              <a:t>La propiedad </a:t>
            </a:r>
            <a:r>
              <a:rPr lang="es-ES" dirty="0" err="1">
                <a:latin typeface="+mj-lt"/>
              </a:rPr>
              <a:t>accent</a:t>
            </a:r>
            <a:r>
              <a:rPr lang="es-ES" dirty="0">
                <a:latin typeface="+mj-lt"/>
              </a:rPr>
              <a:t>-color hace que sea fácil aplicar colores a los </a:t>
            </a:r>
            <a:r>
              <a:rPr lang="es-ES" u="sng" dirty="0">
                <a:latin typeface="+mj-lt"/>
              </a:rPr>
              <a:t>formularios y a sus elementos</a:t>
            </a:r>
            <a:r>
              <a:rPr lang="es-ES" dirty="0">
                <a:latin typeface="+mj-lt"/>
              </a:rPr>
              <a:t>. Esto puede aplicar </a:t>
            </a:r>
            <a:r>
              <a:rPr lang="es-ES" dirty="0" smtClean="0">
                <a:latin typeface="+mj-lt"/>
              </a:rPr>
              <a:t>a:</a:t>
            </a:r>
          </a:p>
          <a:p>
            <a:pPr marL="1645920" lvl="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type="checkbox"&gt;</a:t>
            </a:r>
          </a:p>
          <a:p>
            <a:pPr marL="1645920" lvl="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type="radio"&gt;</a:t>
            </a:r>
          </a:p>
          <a:p>
            <a:pPr marL="1645920" lvl="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type="range"&gt;</a:t>
            </a:r>
          </a:p>
          <a:p>
            <a:pPr marL="1645920" lvl="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&lt;progress&gt;</a:t>
            </a:r>
          </a:p>
          <a:p>
            <a:pPr marL="617220" lvl="2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100" dirty="0" smtClean="0">
                <a:latin typeface="+mj-lt"/>
              </a:rPr>
              <a:t>Esta </a:t>
            </a:r>
            <a:r>
              <a:rPr lang="es-ES" sz="2100" dirty="0">
                <a:latin typeface="+mj-lt"/>
              </a:rPr>
              <a:t>propiedad permite mantener la versión original y aplicar un color sin muchas complicaciones. Se </a:t>
            </a:r>
            <a:r>
              <a:rPr lang="es-ES" sz="2100" dirty="0" smtClean="0">
                <a:latin typeface="+mj-lt"/>
              </a:rPr>
              <a:t>hereda.</a:t>
            </a:r>
            <a:endParaRPr lang="es-ES" sz="2100" dirty="0">
              <a:latin typeface="+mj-lt"/>
            </a:endParaRP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 smtClean="0">
                <a:latin typeface="+mj-lt"/>
              </a:rPr>
              <a:t>O </a:t>
            </a:r>
            <a:r>
              <a:rPr lang="es-ES" sz="1600" dirty="0">
                <a:latin typeface="+mj-lt"/>
              </a:rPr>
              <a:t>también en elementos individuales: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accent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lime;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input[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checkbox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"] {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accent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pink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3888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Funciones para 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3528" y="1556792"/>
            <a:ext cx="8640960" cy="4968552"/>
          </a:xfrm>
        </p:spPr>
        <p:txBody>
          <a:bodyPr tIns="0" rIns="0">
            <a:noAutofit/>
          </a:bodyPr>
          <a:lstStyle/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Nuevas funciones: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hwb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s-ES" sz="1600" dirty="0">
                <a:latin typeface="+mj-lt"/>
              </a:rPr>
              <a:t>: tono, blancura, negrura.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s-ES" sz="1600" dirty="0">
                <a:latin typeface="+mj-lt"/>
              </a:rPr>
              <a:t>: luminosidad, junto con los valores a y b, que determinan el tono.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lch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s-ES" sz="1600" dirty="0">
                <a:latin typeface="+mj-lt"/>
              </a:rPr>
              <a:t>: luminosidad, croma, tono.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color-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mix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s-ES" sz="1600" dirty="0">
                <a:latin typeface="+mj-lt"/>
              </a:rPr>
              <a:t>: mezcla de dos colores.</a:t>
            </a: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contrast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-color</a:t>
            </a:r>
            <a:r>
              <a:rPr lang="es-E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s-ES" sz="1600" dirty="0" smtClean="0">
                <a:latin typeface="+mj-lt"/>
              </a:rPr>
              <a:t>: </a:t>
            </a:r>
            <a:r>
              <a:rPr lang="es-ES" sz="1600" dirty="0" smtClean="0">
                <a:latin typeface="+mj-lt"/>
              </a:rPr>
              <a:t>Su </a:t>
            </a:r>
            <a:r>
              <a:rPr lang="es-ES" sz="1600" dirty="0">
                <a:latin typeface="+mj-lt"/>
              </a:rPr>
              <a:t>sintaxis se simplificó drásticamente para devolver blanco o negro automáticamente sobre cualquier fondo.</a:t>
            </a:r>
            <a:endParaRPr lang="es-ES" sz="1600" dirty="0">
              <a:latin typeface="+mj-lt"/>
            </a:endParaRPr>
          </a:p>
          <a:p>
            <a:pPr marL="891540" lvl="3" indent="-34290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Font typeface="+mj-lt"/>
              <a:buAutoNum type="arabicPeriod"/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color()</a:t>
            </a:r>
            <a:r>
              <a:rPr lang="es-ES" sz="1600" dirty="0">
                <a:latin typeface="+mj-lt"/>
              </a:rPr>
              <a:t>: especifica un color en un espacio de color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600" dirty="0">
                <a:latin typeface="+mj-lt"/>
              </a:rPr>
              <a:t>Las primeras tres funciones (</a:t>
            </a:r>
            <a:r>
              <a:rPr lang="es-ES" sz="1600" dirty="0" err="1">
                <a:latin typeface="+mj-lt"/>
              </a:rPr>
              <a:t>hwb</a:t>
            </a:r>
            <a:r>
              <a:rPr lang="es-ES" sz="1600" dirty="0">
                <a:latin typeface="+mj-lt"/>
              </a:rPr>
              <a:t>(), </a:t>
            </a:r>
            <a:r>
              <a:rPr lang="es-ES" sz="1600" dirty="0" err="1">
                <a:latin typeface="+mj-lt"/>
              </a:rPr>
              <a:t>lab</a:t>
            </a:r>
            <a:r>
              <a:rPr lang="es-ES" sz="1600" dirty="0">
                <a:latin typeface="+mj-lt"/>
              </a:rPr>
              <a:t>() y </a:t>
            </a:r>
            <a:r>
              <a:rPr lang="es-ES" sz="1600" dirty="0" err="1">
                <a:latin typeface="+mj-lt"/>
              </a:rPr>
              <a:t>lch</a:t>
            </a:r>
            <a:r>
              <a:rPr lang="es-ES" sz="1600" dirty="0">
                <a:latin typeface="+mj-lt"/>
              </a:rPr>
              <a:t>()) se usan de la misma manera que la función </a:t>
            </a:r>
            <a:r>
              <a:rPr lang="es-ES" sz="1600" dirty="0" err="1">
                <a:latin typeface="+mj-lt"/>
              </a:rPr>
              <a:t>rgb</a:t>
            </a:r>
            <a:r>
              <a:rPr lang="es-ES" sz="1600" dirty="0">
                <a:latin typeface="+mj-lt"/>
              </a:rPr>
              <a:t>(), con un parámetro alfa como opcional.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/* se obtiene un color más opaco */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lch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(80% 100 50);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/* color con un 50% de transparencia */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lch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(80% 100 50 / 0.5);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48640" lvl="3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6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342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/>
              <a:t>Funciones para </a:t>
            </a:r>
            <a:r>
              <a:rPr lang="es-ES" sz="4000" dirty="0" smtClean="0"/>
              <a:t>colores</a:t>
            </a:r>
            <a:endParaRPr lang="es-ES" sz="4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3FAFC3-7B33-4652-BD55-E6E0E4F3244D}"/>
              </a:ext>
            </a:extLst>
          </p:cNvPr>
          <p:cNvSpPr txBox="1"/>
          <p:nvPr/>
        </p:nvSpPr>
        <p:spPr>
          <a:xfrm>
            <a:off x="179512" y="1268760"/>
            <a:ext cx="896448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color-mix</a:t>
            </a:r>
            <a:r>
              <a:rPr lang="es-E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s-ES" sz="1600" b="1" dirty="0">
                <a:latin typeface="+mj-lt"/>
              </a:rPr>
              <a:t> </a:t>
            </a:r>
            <a:r>
              <a:rPr lang="es-ES" sz="1600" dirty="0">
                <a:latin typeface="+mj-lt"/>
              </a:rPr>
              <a:t>produce un color resultado de la mezcla de otros todos. Esta función necesita como primer argumento el método de interpolación (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lch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/in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srgb</a:t>
            </a:r>
            <a:r>
              <a:rPr lang="es-ES" sz="1600" dirty="0">
                <a:latin typeface="+mj-lt"/>
              </a:rPr>
              <a:t>) que se va a usar.</a:t>
            </a:r>
          </a:p>
          <a:p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color-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mix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lch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blue, lime);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s-E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color-</a:t>
            </a:r>
            <a:r>
              <a:rPr lang="es-E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contrast</a:t>
            </a:r>
            <a:r>
              <a:rPr lang="es-E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s-ES" sz="1600" dirty="0">
                <a:latin typeface="+mj-lt"/>
              </a:rPr>
              <a:t>requiere un color base con el que comparar los demás. Se mostrará el color con el mayor contraste, o en el caso de que se proporcione una palabra clave adicional, el primer color de la lista que cumpla la relación de contraste correspondiente.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Color con el contraste más alto */</a:t>
            </a:r>
          </a:p>
          <a:p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color: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color-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contrast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vs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lightblue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lime, blue);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Color que cumpla con el ratio AA de contraste */</a:t>
            </a:r>
          </a:p>
          <a:p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color: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color-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contrast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vs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lightblue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lime, blue to AA);</a:t>
            </a:r>
          </a:p>
          <a:p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s-ES" sz="1600" dirty="0">
                <a:latin typeface="+mj-lt"/>
                <a:hlinkClick r:id="rId2"/>
              </a:rPr>
              <a:t>Ejemplo: https://codepen.io/chriscoyier/pen/jOyXoKO?editors=1100</a:t>
            </a:r>
            <a:endParaRPr lang="es-ES" sz="1600" dirty="0">
              <a:latin typeface="+mj-lt"/>
            </a:endParaRPr>
          </a:p>
          <a:p>
            <a:r>
              <a:rPr lang="es-ES" sz="1600" dirty="0">
                <a:latin typeface="+mj-lt"/>
              </a:rPr>
              <a:t>Las implicaciones que tiene este tipo de funciones para la accesibilidad es increíble. Por ejemplo, </a:t>
            </a:r>
            <a:r>
              <a:rPr lang="es-ES" sz="1600" dirty="0" smtClean="0">
                <a:latin typeface="+mj-lt"/>
              </a:rPr>
              <a:t>se puede </a:t>
            </a:r>
            <a:r>
              <a:rPr lang="es-ES" sz="1600" dirty="0">
                <a:latin typeface="+mj-lt"/>
              </a:rPr>
              <a:t>dejar que el CSS seleccione si el texto en blanco o negro es el más adecuado para un botón con un color de fondo determinado.  </a:t>
            </a:r>
          </a:p>
        </p:txBody>
      </p:sp>
    </p:spTree>
    <p:extLst>
      <p:ext uri="{BB962C8B-B14F-4D97-AF65-F5344CB8AC3E}">
        <p14:creationId xmlns:p14="http://schemas.microsoft.com/office/powerpoint/2010/main" val="3254542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88E9A-6368-4A8F-A7EC-6B914AD3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908"/>
            <a:ext cx="8229600" cy="1143000"/>
          </a:xfrm>
        </p:spPr>
        <p:txBody>
          <a:bodyPr/>
          <a:lstStyle/>
          <a:p>
            <a:r>
              <a:rPr lang="es-ES" sz="4000" dirty="0"/>
              <a:t>CSS </a:t>
            </a:r>
            <a:r>
              <a:rPr lang="es-ES" sz="4000" dirty="0" err="1"/>
              <a:t>gradient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2D367A-9204-4658-B5E5-B7136F07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76908"/>
            <a:ext cx="8784976" cy="4389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1700" dirty="0" err="1">
                <a:latin typeface="+mj-lt"/>
              </a:rPr>
              <a:t>Css</a:t>
            </a:r>
            <a:r>
              <a:rPr lang="es-ES" sz="1700" dirty="0">
                <a:latin typeface="+mj-lt"/>
              </a:rPr>
              <a:t> define 3 tipos de gradientes:</a:t>
            </a:r>
          </a:p>
          <a:p>
            <a:r>
              <a:rPr lang="en-US" sz="1700" dirty="0">
                <a:latin typeface="+mj-lt"/>
              </a:rPr>
              <a:t>Linear Gradients </a:t>
            </a:r>
            <a:r>
              <a:rPr lang="en-US" sz="1700" dirty="0" smtClean="0">
                <a:latin typeface="+mj-lt"/>
              </a:rPr>
              <a:t>(de </a:t>
            </a:r>
            <a:r>
              <a:rPr lang="en-US" sz="1700" dirty="0" err="1" smtClean="0">
                <a:latin typeface="+mj-lt"/>
              </a:rPr>
              <a:t>abajo</a:t>
            </a:r>
            <a:r>
              <a:rPr lang="en-US" sz="1700" dirty="0" smtClean="0">
                <a:latin typeface="+mj-lt"/>
              </a:rPr>
              <a:t>/</a:t>
            </a:r>
            <a:r>
              <a:rPr lang="en-US" sz="1700" dirty="0" err="1" smtClean="0">
                <a:latin typeface="+mj-lt"/>
              </a:rPr>
              <a:t>arriba</a:t>
            </a:r>
            <a:r>
              <a:rPr lang="en-US" sz="1700" dirty="0" smtClean="0">
                <a:latin typeface="+mj-lt"/>
              </a:rPr>
              <a:t>/</a:t>
            </a:r>
            <a:r>
              <a:rPr lang="en-US" sz="1700" dirty="0" err="1" smtClean="0">
                <a:latin typeface="+mj-lt"/>
              </a:rPr>
              <a:t>izquierda</a:t>
            </a:r>
            <a:r>
              <a:rPr lang="en-US" sz="1700" dirty="0" smtClean="0">
                <a:latin typeface="+mj-lt"/>
              </a:rPr>
              <a:t>/</a:t>
            </a:r>
            <a:r>
              <a:rPr lang="en-US" sz="1700" dirty="0" err="1" smtClean="0">
                <a:latin typeface="+mj-lt"/>
              </a:rPr>
              <a:t>derecha</a:t>
            </a:r>
            <a:r>
              <a:rPr lang="en-US" sz="1700" dirty="0" smtClean="0">
                <a:latin typeface="+mj-lt"/>
              </a:rPr>
              <a:t>/diagonal)</a:t>
            </a:r>
            <a:endParaRPr lang="en-US" sz="1700" dirty="0">
              <a:latin typeface="+mj-lt"/>
            </a:endParaRPr>
          </a:p>
          <a:p>
            <a:r>
              <a:rPr lang="en-US" sz="1700" dirty="0">
                <a:latin typeface="+mj-lt"/>
              </a:rPr>
              <a:t>Radial Gradients </a:t>
            </a:r>
            <a:r>
              <a:rPr lang="en-US" sz="1700" dirty="0" smtClean="0">
                <a:latin typeface="+mj-lt"/>
              </a:rPr>
              <a:t>(</a:t>
            </a:r>
            <a:r>
              <a:rPr lang="en-US" sz="1700" dirty="0" err="1" smtClean="0">
                <a:latin typeface="+mj-lt"/>
              </a:rPr>
              <a:t>definidos</a:t>
            </a:r>
            <a:r>
              <a:rPr lang="en-US" sz="1700" dirty="0" smtClean="0">
                <a:latin typeface="+mj-lt"/>
              </a:rPr>
              <a:t> </a:t>
            </a:r>
            <a:r>
              <a:rPr lang="en-US" sz="1700" dirty="0" err="1" smtClean="0">
                <a:latin typeface="+mj-lt"/>
              </a:rPr>
              <a:t>por</a:t>
            </a:r>
            <a:r>
              <a:rPr lang="en-US" sz="1700" dirty="0" smtClean="0">
                <a:latin typeface="+mj-lt"/>
              </a:rPr>
              <a:t> el </a:t>
            </a:r>
            <a:r>
              <a:rPr lang="en-US" sz="1700" dirty="0" err="1" smtClean="0">
                <a:latin typeface="+mj-lt"/>
              </a:rPr>
              <a:t>centro</a:t>
            </a:r>
            <a:r>
              <a:rPr lang="en-US" sz="1700" dirty="0" smtClean="0">
                <a:latin typeface="+mj-lt"/>
              </a:rPr>
              <a:t>)</a:t>
            </a:r>
            <a:endParaRPr lang="en-US" sz="1700" dirty="0">
              <a:latin typeface="+mj-lt"/>
            </a:endParaRPr>
          </a:p>
          <a:p>
            <a:r>
              <a:rPr lang="en-US" sz="1700" dirty="0">
                <a:latin typeface="+mj-lt"/>
              </a:rPr>
              <a:t>Conic Gradients </a:t>
            </a:r>
            <a:r>
              <a:rPr lang="en-US" sz="1700" dirty="0" smtClean="0">
                <a:latin typeface="+mj-lt"/>
              </a:rPr>
              <a:t>(</a:t>
            </a:r>
            <a:r>
              <a:rPr lang="en-US" sz="1700" dirty="0" err="1" smtClean="0">
                <a:latin typeface="+mj-lt"/>
              </a:rPr>
              <a:t>rotados</a:t>
            </a:r>
            <a:r>
              <a:rPr lang="en-US" sz="1700" dirty="0" smtClean="0">
                <a:latin typeface="+mj-lt"/>
              </a:rPr>
              <a:t> </a:t>
            </a:r>
            <a:r>
              <a:rPr lang="en-US" sz="1700" dirty="0" err="1" smtClean="0">
                <a:latin typeface="+mj-lt"/>
              </a:rPr>
              <a:t>alrededor</a:t>
            </a:r>
            <a:r>
              <a:rPr lang="en-US" sz="1700" dirty="0" smtClean="0">
                <a:latin typeface="+mj-lt"/>
              </a:rPr>
              <a:t> de un </a:t>
            </a:r>
            <a:r>
              <a:rPr lang="en-US" sz="1700" dirty="0" err="1" smtClean="0">
                <a:latin typeface="+mj-lt"/>
              </a:rPr>
              <a:t>punto</a:t>
            </a:r>
            <a:r>
              <a:rPr lang="en-US" sz="1700" dirty="0" smtClean="0">
                <a:latin typeface="+mj-lt"/>
              </a:rPr>
              <a:t>)</a:t>
            </a:r>
            <a:endParaRPr lang="en-US" sz="17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background-image: linear-gradient(direction, color-stop1, color-stop2, ...); </a:t>
            </a:r>
          </a:p>
          <a:p>
            <a:pPr marL="0" indent="0">
              <a:buNone/>
            </a:pP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700" dirty="0" err="1">
                <a:latin typeface="+mj-lt"/>
              </a:rPr>
              <a:t>Ejemplos</a:t>
            </a:r>
            <a:r>
              <a:rPr lang="en-US" sz="1700" dirty="0">
                <a:latin typeface="+mj-lt"/>
              </a:rPr>
              <a:t> Linear Gradients: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#grad1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200px;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background-color: red; /* For browsers that do not support gradients */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background-image: linear-gradient(green, yellow);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None/>
            </a:pP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#grad1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55px;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background-color: red; /* For browsers that do not support gradients */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background-image: linear-gradient(</a:t>
            </a:r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 right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red, orange, yellow, green, blue, indigo, violet);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DA453-82DE-48EF-B65B-BB7EF28D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907294-9D6E-4C78-A743-5736A75B5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691" y="2765797"/>
            <a:ext cx="2057789" cy="6632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ACC6E85-80E5-4704-AD5C-4B7C0C0C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55" y="4035538"/>
            <a:ext cx="621982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156" y="1340768"/>
            <a:ext cx="957807" cy="900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6888E9A-6368-4A8F-A7EC-6B914AD3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908"/>
            <a:ext cx="8229600" cy="1143000"/>
          </a:xfrm>
        </p:spPr>
        <p:txBody>
          <a:bodyPr/>
          <a:lstStyle/>
          <a:p>
            <a:r>
              <a:rPr lang="es-ES" sz="4000" dirty="0"/>
              <a:t>CSS </a:t>
            </a:r>
            <a:r>
              <a:rPr lang="es-ES" sz="4000" dirty="0" err="1"/>
              <a:t>gradient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2D367A-9204-4658-B5E5-B7136F07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76908"/>
            <a:ext cx="8784976" cy="5481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background-image: radial-gradient(shape size at position, start-color, ..., last-color);</a:t>
            </a:r>
          </a:p>
          <a:p>
            <a:r>
              <a:rPr lang="es-ES" sz="1600" dirty="0" err="1">
                <a:latin typeface="+mj-lt"/>
              </a:rPr>
              <a:t>shape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>
                <a:latin typeface="+mj-lt"/>
              </a:rPr>
              <a:t>ellipse</a:t>
            </a:r>
            <a:r>
              <a:rPr lang="es-ES" sz="1600" dirty="0">
                <a:latin typeface="+mj-lt"/>
              </a:rPr>
              <a:t> (default), </a:t>
            </a:r>
            <a:r>
              <a:rPr lang="es-ES" sz="1600" dirty="0" err="1">
                <a:latin typeface="+mj-lt"/>
              </a:rPr>
              <a:t>circle</a:t>
            </a:r>
            <a:endParaRPr lang="es-ES" sz="1600" dirty="0">
              <a:latin typeface="+mj-lt"/>
            </a:endParaRPr>
          </a:p>
          <a:p>
            <a:r>
              <a:rPr lang="es-ES" sz="1600" dirty="0" err="1">
                <a:latin typeface="+mj-lt"/>
              </a:rPr>
              <a:t>size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>
                <a:latin typeface="+mj-lt"/>
              </a:rPr>
              <a:t>farthest-corner</a:t>
            </a:r>
            <a:r>
              <a:rPr lang="es-ES" sz="1600" dirty="0">
                <a:latin typeface="+mj-lt"/>
              </a:rPr>
              <a:t> (default), </a:t>
            </a:r>
            <a:r>
              <a:rPr lang="es-ES" sz="1600" dirty="0" err="1">
                <a:latin typeface="+mj-lt"/>
              </a:rPr>
              <a:t>closest-side</a:t>
            </a:r>
            <a:r>
              <a:rPr lang="es-ES" sz="1600" dirty="0">
                <a:latin typeface="+mj-lt"/>
              </a:rPr>
              <a:t>, </a:t>
            </a:r>
            <a:r>
              <a:rPr lang="es-ES" sz="1600" dirty="0" err="1">
                <a:latin typeface="+mj-lt"/>
              </a:rPr>
              <a:t>closest-corner</a:t>
            </a:r>
            <a:r>
              <a:rPr lang="es-ES" sz="1600" dirty="0">
                <a:latin typeface="+mj-lt"/>
              </a:rPr>
              <a:t>, </a:t>
            </a:r>
            <a:r>
              <a:rPr lang="es-ES" sz="1600" dirty="0" err="1" smtClean="0">
                <a:latin typeface="+mj-lt"/>
              </a:rPr>
              <a:t>farthest-side</a:t>
            </a:r>
            <a:r>
              <a:rPr lang="es-ES" sz="1600" dirty="0" smtClean="0">
                <a:latin typeface="+mj-lt"/>
              </a:rPr>
              <a:t> [at distancia1 distancia2]</a:t>
            </a:r>
            <a:endParaRPr lang="es-ES" sz="1600" dirty="0">
              <a:latin typeface="+mj-lt"/>
            </a:endParaRPr>
          </a:p>
          <a:p>
            <a:pPr marL="0" indent="0">
              <a:buNone/>
            </a:pPr>
            <a:endParaRPr lang="es-ES" sz="1600" dirty="0"/>
          </a:p>
          <a:p>
            <a:pPr lvl="1">
              <a:buFont typeface="Wingdings 2" panose="05020102010507070707" pitchFamily="18" charset="2"/>
              <a:buChar char=""/>
            </a:pPr>
            <a:r>
              <a:rPr lang="es-ES" sz="1400" dirty="0" err="1" smtClean="0">
                <a:latin typeface="+mj-lt"/>
              </a:rPr>
              <a:t>closest-side</a:t>
            </a:r>
            <a:r>
              <a:rPr lang="es-ES" sz="1400" dirty="0">
                <a:latin typeface="+mj-lt"/>
              </a:rPr>
              <a:t>: lado del cuadro más cercano a su centro (para círculos) o con los lados vertical y horizontal más cercanos al centro (para elipses).</a:t>
            </a:r>
          </a:p>
          <a:p>
            <a:pPr lvl="1">
              <a:buFont typeface="Wingdings 2" panose="05020102010507070707" pitchFamily="18" charset="2"/>
              <a:buChar char=""/>
            </a:pPr>
            <a:r>
              <a:rPr lang="es-ES" sz="1400" dirty="0" err="1" smtClean="0">
                <a:latin typeface="+mj-lt"/>
              </a:rPr>
              <a:t>closest-corner</a:t>
            </a:r>
            <a:r>
              <a:rPr lang="es-ES" sz="1400" dirty="0">
                <a:latin typeface="+mj-lt"/>
              </a:rPr>
              <a:t>: coincida exactamente con la esquina más cercana de la caja desde su centro.</a:t>
            </a:r>
          </a:p>
          <a:p>
            <a:pPr lvl="1">
              <a:buFont typeface="Wingdings 2" panose="05020102010507070707" pitchFamily="18" charset="2"/>
              <a:buChar char=""/>
            </a:pPr>
            <a:r>
              <a:rPr lang="es-ES" sz="1400" dirty="0" err="1" smtClean="0">
                <a:latin typeface="+mj-lt"/>
              </a:rPr>
              <a:t>farthest-side</a:t>
            </a:r>
            <a:r>
              <a:rPr lang="es-ES" sz="1400" dirty="0">
                <a:latin typeface="+mj-lt"/>
              </a:rPr>
              <a:t>: Similar to </a:t>
            </a:r>
            <a:r>
              <a:rPr lang="es-ES" sz="1400" dirty="0" err="1">
                <a:latin typeface="+mj-lt"/>
              </a:rPr>
              <a:t>closest-side</a:t>
            </a:r>
            <a:r>
              <a:rPr lang="es-ES" sz="1400" dirty="0">
                <a:latin typeface="+mj-lt"/>
              </a:rPr>
              <a:t>, excepto que la forma final está dimensionada para encontrarse con el lado de la caja más alejado de su centro (o los lados vertical y horizontal</a:t>
            </a:r>
            <a:r>
              <a:rPr lang="es-ES" sz="1400" dirty="0" smtClean="0">
                <a:latin typeface="+mj-lt"/>
              </a:rPr>
              <a:t>).</a:t>
            </a:r>
          </a:p>
          <a:p>
            <a:pPr lvl="1">
              <a:buFont typeface="Wingdings 2" panose="05020102010507070707" pitchFamily="18" charset="2"/>
              <a:buChar char=""/>
            </a:pPr>
            <a:r>
              <a:rPr lang="es-ES" sz="1400" dirty="0" err="1">
                <a:latin typeface="+mj-lt"/>
              </a:rPr>
              <a:t>farthest-corner</a:t>
            </a:r>
            <a:r>
              <a:rPr lang="es-ES" sz="1400" dirty="0">
                <a:latin typeface="+mj-lt"/>
              </a:rPr>
              <a:t>: (</a:t>
            </a:r>
            <a:r>
              <a:rPr lang="en-US" sz="1400" dirty="0">
                <a:latin typeface="+mj-lt"/>
              </a:rPr>
              <a:t>default), </a:t>
            </a:r>
            <a:r>
              <a:rPr lang="es-ES" sz="1400" dirty="0">
                <a:latin typeface="+mj-lt"/>
              </a:rPr>
              <a:t>el tamaño de la forma final del degradado es tal que coincide exactamente con la esquina más alejada del cuadro desde su centro.</a:t>
            </a:r>
          </a:p>
          <a:p>
            <a:pPr marL="0" indent="0">
              <a:buNone/>
            </a:pPr>
            <a:endParaRPr lang="es-E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 err="1" smtClean="0">
                <a:latin typeface="+mj-lt"/>
              </a:rPr>
              <a:t>Ejemplos</a:t>
            </a:r>
            <a:r>
              <a:rPr lang="en-US" sz="1600" dirty="0" smtClean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radial gradient</a:t>
            </a:r>
          </a:p>
          <a:p>
            <a:pPr marL="0" indent="0">
              <a:buNone/>
            </a:pPr>
            <a:r>
              <a:rPr 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radial-</a:t>
            </a:r>
            <a:r>
              <a:rPr lang="es-E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gradient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(#e66465, #9198e5); </a:t>
            </a:r>
          </a:p>
          <a:p>
            <a:pPr marL="0" indent="0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grad2 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height: 150px;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width: 150px;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background-image: radial-gradient(farthest-side at 40% 25%,blue,lime,yellow,black);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+mj-lt"/>
              </a:rPr>
              <a:t>Ejemplos</a:t>
            </a:r>
            <a:r>
              <a:rPr lang="en-US" sz="1600" dirty="0">
                <a:latin typeface="+mj-lt"/>
              </a:rPr>
              <a:t> conic gradient: 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</a:t>
            </a:r>
            <a:r>
              <a:rPr lang="en-US" sz="15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developer.mozilla.org/en-US/docs/Web/CSS/gradient/conic-gradient</a:t>
            </a:r>
            <a:r>
              <a:rPr lang="en-US" sz="1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DA453-82DE-48EF-B65B-BB7EF28D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15</a:t>
            </a:fld>
            <a:endParaRPr lang="es-E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731" y="4342234"/>
            <a:ext cx="146685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646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49509</TotalTime>
  <Words>1253</Words>
  <Application>Microsoft Office PowerPoint</Application>
  <PresentationFormat>Presentación en pantalla (4:3)</PresentationFormat>
  <Paragraphs>224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Constantia</vt:lpstr>
      <vt:lpstr>Courier New</vt:lpstr>
      <vt:lpstr>Times New Roman</vt:lpstr>
      <vt:lpstr>Wingdings</vt:lpstr>
      <vt:lpstr>Wingdings 2</vt:lpstr>
      <vt:lpstr>Flujo</vt:lpstr>
      <vt:lpstr>CSS – COLORES</vt:lpstr>
      <vt:lpstr>Colores</vt:lpstr>
      <vt:lpstr>Colores</vt:lpstr>
      <vt:lpstr>Colores</vt:lpstr>
      <vt:lpstr>Colores</vt:lpstr>
      <vt:lpstr>Colores</vt:lpstr>
      <vt:lpstr>Colores</vt:lpstr>
      <vt:lpstr>Colores</vt:lpstr>
      <vt:lpstr>Colores</vt:lpstr>
      <vt:lpstr>Colores</vt:lpstr>
      <vt:lpstr>Propiedad accent-color</vt:lpstr>
      <vt:lpstr>Funciones para colores</vt:lpstr>
      <vt:lpstr>Funciones para colores</vt:lpstr>
      <vt:lpstr>CSS gradient</vt:lpstr>
      <vt:lpstr>CSS gradient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Ainara Montoya</dc:creator>
  <cp:lastModifiedBy>Coque</cp:lastModifiedBy>
  <cp:revision>1611</cp:revision>
  <cp:lastPrinted>2015-09-21T12:13:15Z</cp:lastPrinted>
  <dcterms:created xsi:type="dcterms:W3CDTF">2012-04-05T17:12:23Z</dcterms:created>
  <dcterms:modified xsi:type="dcterms:W3CDTF">2026-09-23T06:54:23Z</dcterms:modified>
</cp:coreProperties>
</file>