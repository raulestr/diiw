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1" r:id="rId3"/>
    <p:sldId id="262" r:id="rId4"/>
    <p:sldId id="259" r:id="rId5"/>
    <p:sldId id="263" r:id="rId6"/>
    <p:sldId id="268" r:id="rId7"/>
    <p:sldId id="265" r:id="rId8"/>
    <p:sldId id="264" r:id="rId9"/>
    <p:sldId id="266" r:id="rId10"/>
    <p:sldId id="270" r:id="rId11"/>
    <p:sldId id="272" r:id="rId12"/>
    <p:sldId id="271" r:id="rId13"/>
    <p:sldId id="273" r:id="rId14"/>
    <p:sldId id="267" r:id="rId15"/>
    <p:sldId id="269" r:id="rId16"/>
    <p:sldId id="274" r:id="rId17"/>
    <p:sldId id="275" r:id="rId18"/>
    <p:sldId id="276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 smtClean="0"/>
              <a:t>Haga clic para editar el estilo de subtítulo del patrón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84520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230326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82391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227779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97262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62187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39221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774010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 smtClean="0"/>
              <a:t>Editar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7865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537346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7323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s-ES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Editar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ES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D4496-B2BA-4609-A17F-5E476E9A7050}" type="datetimeFigureOut">
              <a:rPr lang="es-ES" smtClean="0"/>
              <a:t>06/10/2026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BE0822-C897-43F3-B538-2DEFC07F9C8B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03761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hyperlink" Target="https://3dtransforms.desandro.com/perspective" TargetMode="External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3schools.com/cssref/tryit.asp?filename=trycss3_animation-fill-mode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5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  <a:effectLst>
            <a:softEdge rad="31750"/>
          </a:effectLst>
        </p:spPr>
        <p:txBody>
          <a:bodyPr/>
          <a:lstStyle/>
          <a:p>
            <a:pPr algn="ctr"/>
            <a:r>
              <a:rPr lang="es-ES" dirty="0"/>
              <a:t>Filtros, Transformaciones, Transiciones y Animaciones 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1443" y="5556838"/>
            <a:ext cx="2108426" cy="620125"/>
          </a:xfrm>
          <a:prstGeom prst="rect">
            <a:avLst/>
          </a:prstGeom>
        </p:spPr>
      </p:pic>
      <p:pic>
        <p:nvPicPr>
          <p:cNvPr id="9" name="Marcador de contenido 8"/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833687" y="2624931"/>
            <a:ext cx="6524625" cy="2752725"/>
          </a:xfrm>
          <a:prstGeom prst="rect">
            <a:avLst/>
          </a:prstGeom>
        </p:spPr>
      </p:pic>
      <p:pic>
        <p:nvPicPr>
          <p:cNvPr id="2050" name="Picture 2" descr="Css 3 - Iconos gratis de tecnologí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5903" y="1890764"/>
            <a:ext cx="1080192" cy="10801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8213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/>
          <p:cNvSpPr/>
          <p:nvPr/>
        </p:nvSpPr>
        <p:spPr>
          <a:xfrm>
            <a:off x="1094014" y="1201783"/>
            <a:ext cx="10003971" cy="1426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/>
              <a:t>La propiedad </a:t>
            </a:r>
            <a:r>
              <a:rPr lang="es-ES" sz="2000" b="1"/>
              <a:t>filter</a:t>
            </a:r>
            <a:r>
              <a:rPr lang="es-ES" sz="2000"/>
              <a:t> nos permite añadir efectos a una imagen. 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/>
              <a:t>La propiedad filter nos permite usar varias funciones para modificar no sólo imágenes, sino también cualquier otro elemento del documento.</a:t>
            </a:r>
            <a:endParaRPr lang="es-ES" sz="2000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Filtros</a:t>
            </a:r>
            <a:endParaRPr lang="es-E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0034" y="3048497"/>
            <a:ext cx="3311842" cy="2072249"/>
          </a:xfrm>
          <a:prstGeom prst="rect">
            <a:avLst/>
          </a:prstGeom>
        </p:spPr>
      </p:pic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763688" y="3068960"/>
            <a:ext cx="4968552" cy="2031325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contenedor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display: block;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width: 500px;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margin: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 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auto; 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padding: 15px;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1px solid #999999;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background: #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CCCC99;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55600" indent="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filter: blur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(2px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Flecha derecha 9"/>
          <p:cNvSpPr/>
          <p:nvPr/>
        </p:nvSpPr>
        <p:spPr>
          <a:xfrm>
            <a:off x="6514011" y="3910149"/>
            <a:ext cx="705395" cy="38317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060514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Filtros: funciones</a:t>
            </a:r>
            <a:endParaRPr lang="es-E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6001017"/>
              </p:ext>
            </p:extLst>
          </p:nvPr>
        </p:nvGraphicFramePr>
        <p:xfrm>
          <a:off x="1663337" y="1506580"/>
          <a:ext cx="9152236" cy="38676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975663">
                  <a:extLst>
                    <a:ext uri="{9D8B030D-6E8A-4147-A177-3AD203B41FA5}">
                      <a16:colId xmlns:a16="http://schemas.microsoft.com/office/drawing/2014/main" val="646426948"/>
                    </a:ext>
                  </a:extLst>
                </a:gridCol>
                <a:gridCol w="3214552">
                  <a:extLst>
                    <a:ext uri="{9D8B030D-6E8A-4147-A177-3AD203B41FA5}">
                      <a16:colId xmlns:a16="http://schemas.microsoft.com/office/drawing/2014/main" val="2874084279"/>
                    </a:ext>
                  </a:extLst>
                </a:gridCol>
                <a:gridCol w="1227213">
                  <a:extLst>
                    <a:ext uri="{9D8B030D-6E8A-4147-A177-3AD203B41FA5}">
                      <a16:colId xmlns:a16="http://schemas.microsoft.com/office/drawing/2014/main" val="1161403277"/>
                    </a:ext>
                  </a:extLst>
                </a:gridCol>
                <a:gridCol w="3734808">
                  <a:extLst>
                    <a:ext uri="{9D8B030D-6E8A-4147-A177-3AD203B41FA5}">
                      <a16:colId xmlns:a16="http://schemas.microsoft.com/office/drawing/2014/main" val="586318258"/>
                    </a:ext>
                  </a:extLst>
                </a:gridCol>
              </a:tblGrid>
              <a:tr h="37784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FUNCIÓN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QUÉ HACE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UNIDAD / VALOR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VALORES IMPORTANTES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7182974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err="1">
                          <a:effectLst/>
                        </a:rPr>
                        <a:t>grayscale</a:t>
                      </a:r>
                      <a:r>
                        <a:rPr lang="es-ES" sz="1100" dirty="0">
                          <a:effectLst/>
                        </a:rPr>
                        <a:t>()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Convierte a escala de grises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o número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original, 100% gris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0245687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 err="1">
                          <a:effectLst/>
                        </a:rPr>
                        <a:t>blur</a:t>
                      </a:r>
                      <a:r>
                        <a:rPr lang="es-ES" sz="1100" dirty="0">
                          <a:effectLst/>
                        </a:rPr>
                        <a:t>()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Desenfoca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px, rem, etc.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 sin desenfoque; cuanto mayor, más desenfoque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8110408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sepia()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Aplica efecto sepia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% o número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original, 100% sepia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5911118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saturate()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Aumenta o reduce la saturación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% o número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sin saturación, 100% original, &gt;100% más saturación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2829971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opacity()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Reduce la opacidad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% o número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transparente, 100% original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9065544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brightness()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Modifica el brillo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% o número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negro, 100% original, &gt;100% más brillante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8169177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contrast()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Modifica el contraste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% o número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gris, 100% original, &gt;100% más contraste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05361909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hue-rotate()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Gira el matiz de los colores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deg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0deg sin cambio; 360deg equivale a una vuelta completa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71025261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invert()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Invierte los colores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% o número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0% original, 100% completamente invertido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12386187"/>
                  </a:ext>
                </a:extLst>
              </a:tr>
              <a:tr h="34897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drop-shadow()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Añade una sombra siguiendo la forma del elemento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>
                          <a:effectLst/>
                        </a:rPr>
                        <a:t>x y blur color</a:t>
                      </a:r>
                      <a:endParaRPr lang="es-ES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100" dirty="0">
                          <a:effectLst/>
                        </a:rPr>
                        <a:t>Similar visualmente a box-</a:t>
                      </a:r>
                      <a:r>
                        <a:rPr lang="es-ES" sz="1100" dirty="0" err="1">
                          <a:effectLst/>
                        </a:rPr>
                        <a:t>shadow</a:t>
                      </a:r>
                      <a:r>
                        <a:rPr lang="es-ES" sz="1100" dirty="0">
                          <a:effectLst/>
                        </a:rPr>
                        <a:t>, pero no idéntico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991242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8551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9045" y="2655067"/>
            <a:ext cx="3782955" cy="1710963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Filtros: ejemplos</a:t>
            </a:r>
            <a:endParaRPr lang="es-E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6583" y="1011420"/>
            <a:ext cx="7287487" cy="499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2921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redondeado 10"/>
          <p:cNvSpPr/>
          <p:nvPr/>
        </p:nvSpPr>
        <p:spPr>
          <a:xfrm>
            <a:off x="1094014" y="1201783"/>
            <a:ext cx="10003971" cy="957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/>
              <a:t>Las transformaciones 2D permiten alterar la posición, tamaño, giro e inclinación de un elemento sin modificar el flujo normal del documento </a:t>
            </a:r>
            <a:r>
              <a:rPr lang="es-ES" sz="2000" u="sng" dirty="0"/>
              <a:t>(no desplaza a los elementos vecinos).</a:t>
            </a:r>
            <a:endParaRPr lang="es-ES" sz="2000" u="sng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Transformaciones2D</a:t>
            </a:r>
            <a:endParaRPr lang="es-E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639389" y="2647542"/>
            <a:ext cx="3716383" cy="2462213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Funciones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individuales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y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combinadas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266700" indent="-266700" eaLnBrk="1" hangingPunct="1">
              <a:buNone/>
            </a:pP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elemento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translate(20px, 10px);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scale(1.2);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rotate(15deg);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skew(10deg);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Combinación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funciones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(-10px) scale(1.05) rotate(2deg);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338" y="2619896"/>
            <a:ext cx="2695575" cy="124777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03087" y="4481105"/>
            <a:ext cx="2886075" cy="1257300"/>
          </a:xfrm>
          <a:prstGeom prst="rect">
            <a:avLst/>
          </a:prstGeom>
        </p:spPr>
      </p:pic>
      <p:sp>
        <p:nvSpPr>
          <p:cNvPr id="14" name="Flecha abajo 13"/>
          <p:cNvSpPr/>
          <p:nvPr/>
        </p:nvSpPr>
        <p:spPr>
          <a:xfrm>
            <a:off x="7502432" y="3942356"/>
            <a:ext cx="287383" cy="53277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007912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/>
              <a:t>Patrón de Estado Normal → Interacción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94014" y="1201783"/>
            <a:ext cx="10003971" cy="957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/>
              <a:t>El patrón fundamental en CSS interactivo consiste en declarar la transición en el estado inicial y definir el cambio en la </a:t>
            </a:r>
            <a:r>
              <a:rPr lang="es-ES" sz="2000" dirty="0" err="1"/>
              <a:t>pseudo</a:t>
            </a:r>
            <a:r>
              <a:rPr lang="es-ES" sz="2000" dirty="0"/>
              <a:t>-clase de interacción (como :</a:t>
            </a:r>
            <a:r>
              <a:rPr lang="es-ES" sz="2000" dirty="0" err="1"/>
              <a:t>hover</a:t>
            </a:r>
            <a:r>
              <a:rPr lang="es-ES" sz="2000" dirty="0"/>
              <a:t>).</a:t>
            </a:r>
            <a:endParaRPr lang="es-ES" sz="2000" u="sng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94014" y="2490651"/>
            <a:ext cx="4749437" cy="1631216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boton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#2563eb;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(0);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Múltiples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propiedades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con 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transición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background 0.3s ease, transform 0.3s ease;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266700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boton:hover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background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#1d4ed8; </a:t>
            </a:r>
            <a:endParaRPr lang="en-US" altLang="es-ES" sz="10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0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translateY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(-4px) </a:t>
            </a: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scale(1.05); </a:t>
            </a:r>
          </a:p>
          <a:p>
            <a:pPr marL="266700" indent="-266700" eaLnBrk="1" hangingPunct="1">
              <a:buNone/>
            </a:pP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7" name="Imagen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0428" y="4361624"/>
            <a:ext cx="4582589" cy="1670224"/>
          </a:xfrm>
          <a:prstGeom prst="rect">
            <a:avLst/>
          </a:prstGeom>
        </p:spPr>
      </p:pic>
      <p:pic>
        <p:nvPicPr>
          <p:cNvPr id="18" name="Imagen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3017" y="2490651"/>
            <a:ext cx="4520559" cy="1714218"/>
          </a:xfrm>
          <a:prstGeom prst="rect">
            <a:avLst/>
          </a:prstGeom>
        </p:spPr>
      </p:pic>
      <p:pic>
        <p:nvPicPr>
          <p:cNvPr id="19" name="Imagen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22585" y="4354059"/>
            <a:ext cx="4476341" cy="1677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5149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/>
              <a:t>Transformaciones2D : </a:t>
            </a:r>
            <a:r>
              <a:rPr lang="es-ES" dirty="0" smtClean="0"/>
              <a:t>ejemplos</a:t>
            </a:r>
            <a:endParaRPr lang="es-ES" dirty="0"/>
          </a:p>
        </p:txBody>
      </p:sp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8661" y="1531171"/>
            <a:ext cx="3314679" cy="1233487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8660" y="2854359"/>
            <a:ext cx="3314679" cy="124046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659" y="4296715"/>
            <a:ext cx="3314680" cy="124173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27185" y="981907"/>
            <a:ext cx="3177677" cy="1184319"/>
          </a:xfrm>
          <a:prstGeom prst="rect">
            <a:avLst/>
          </a:prstGeom>
        </p:spPr>
      </p:pic>
      <p:pic>
        <p:nvPicPr>
          <p:cNvPr id="10" name="Imagen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27185" y="2275646"/>
            <a:ext cx="3177677" cy="1174571"/>
          </a:xfrm>
          <a:prstGeom prst="rect">
            <a:avLst/>
          </a:prstGeom>
        </p:spPr>
      </p:pic>
      <p:pic>
        <p:nvPicPr>
          <p:cNvPr id="11" name="Imagen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27185" y="3604798"/>
            <a:ext cx="3177677" cy="1174571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27185" y="4917584"/>
            <a:ext cx="3169734" cy="1200804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008" y="2534139"/>
            <a:ext cx="3707729" cy="107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72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Transformaciones2D: </a:t>
            </a:r>
            <a:r>
              <a:rPr lang="es-ES" dirty="0" smtClean="0"/>
              <a:t>punto de anclaje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94014" y="1201783"/>
            <a:ext cx="10003971" cy="957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/>
              <a:t>Define el punto respecto al cual se calcula la transformación (centro, esquinas o coordenadas personalizadas).</a:t>
            </a:r>
            <a:endParaRPr lang="es-ES" sz="2000" u="sng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94014" y="2490651"/>
            <a:ext cx="3861163" cy="1600438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tarjeta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transform-origin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bottom center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transition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transform 0.4s;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tarjeta:hover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rotate(15deg);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3112" y="2641322"/>
            <a:ext cx="1362075" cy="1343025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6892" y="2640987"/>
            <a:ext cx="1742737" cy="1343360"/>
          </a:xfrm>
          <a:prstGeom prst="rect">
            <a:avLst/>
          </a:prstGeom>
        </p:spPr>
      </p:pic>
      <p:sp>
        <p:nvSpPr>
          <p:cNvPr id="10" name="Flecha derecha 9"/>
          <p:cNvSpPr/>
          <p:nvPr/>
        </p:nvSpPr>
        <p:spPr>
          <a:xfrm>
            <a:off x="6405187" y="3149911"/>
            <a:ext cx="581705" cy="330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1" name="Imagen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54468" y="4315318"/>
            <a:ext cx="1457325" cy="1323975"/>
          </a:xfrm>
          <a:prstGeom prst="rect">
            <a:avLst/>
          </a:prstGeom>
        </p:spPr>
      </p:pic>
      <p:pic>
        <p:nvPicPr>
          <p:cNvPr id="12" name="Imagen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4127" y="4304335"/>
            <a:ext cx="1562100" cy="1323975"/>
          </a:xfrm>
          <a:prstGeom prst="rect">
            <a:avLst/>
          </a:prstGeom>
        </p:spPr>
      </p:pic>
      <p:pic>
        <p:nvPicPr>
          <p:cNvPr id="13" name="Imagen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15909" y="4267693"/>
            <a:ext cx="1457325" cy="1371600"/>
          </a:xfrm>
          <a:prstGeom prst="rect">
            <a:avLst/>
          </a:prstGeom>
        </p:spPr>
      </p:pic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1368607" y="5739752"/>
            <a:ext cx="6004628" cy="30777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transform-origin</a:t>
            </a:r>
            <a:r>
              <a:rPr lang="en-US" altLang="es-ES" sz="10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0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center;	    top left;	  100% 100%;</a:t>
            </a:r>
            <a:endParaRPr lang="en-US" altLang="es-ES" sz="1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5" name="Imagen 14"/>
          <p:cNvPicPr/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6902" y="3864802"/>
            <a:ext cx="3323635" cy="20787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6583741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Transformaciones3D</a:t>
            </a:r>
            <a:endParaRPr lang="es-ES" dirty="0"/>
          </a:p>
        </p:txBody>
      </p:sp>
      <p:sp>
        <p:nvSpPr>
          <p:cNvPr id="13" name="Rectángulo redondeado 12"/>
          <p:cNvSpPr/>
          <p:nvPr/>
        </p:nvSpPr>
        <p:spPr>
          <a:xfrm>
            <a:off x="1094014" y="1201783"/>
            <a:ext cx="10259786" cy="96665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/>
              <a:t>Para activar el espacio 3D, un elemento necesita perspectiva. 2 </a:t>
            </a:r>
            <a:r>
              <a:rPr lang="es-ES" sz="2000" dirty="0" smtClean="0"/>
              <a:t>opciones:</a:t>
            </a:r>
            <a:endParaRPr lang="es-ES" sz="2000" dirty="0"/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/>
              <a:t>a)	Utilizar perspectiva con </a:t>
            </a:r>
            <a:r>
              <a:rPr lang="es-ES" sz="2000" dirty="0" err="1"/>
              <a:t>tranform</a:t>
            </a:r>
            <a:endParaRPr lang="es-ES" sz="2000" dirty="0"/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 smtClean="0"/>
              <a:t>b</a:t>
            </a:r>
            <a:r>
              <a:rPr lang="es-ES" sz="2000" dirty="0"/>
              <a:t>)	Utilizar propiedad </a:t>
            </a:r>
            <a:r>
              <a:rPr lang="es-ES" sz="2000" dirty="0" err="1"/>
              <a:t>perpective</a:t>
            </a:r>
            <a:r>
              <a:rPr lang="es-ES" sz="2000" dirty="0" smtClean="0"/>
              <a:t>:</a:t>
            </a:r>
            <a:endParaRPr lang="es-ES" sz="2000" dirty="0"/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2797400" y="4975054"/>
            <a:ext cx="5976664" cy="461665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scene</a:t>
            </a:r>
            <a:r>
              <a:rPr 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-blue {</a:t>
            </a:r>
            <a:r>
              <a:rPr lang="es-E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perspective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400px; } </a:t>
            </a:r>
            <a:endParaRPr 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.panel-blue 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 } 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797400" y="2618394"/>
            <a:ext cx="5976664" cy="276999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fontAlgn="base"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panel-red {</a:t>
            </a:r>
            <a:r>
              <a:rPr lang="es-ES" sz="12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transform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perspective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(400px) </a:t>
            </a:r>
            <a:r>
              <a:rPr 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rotateY</a:t>
            </a:r>
            <a:r>
              <a:rPr 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 } </a:t>
            </a: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05551" y="2205913"/>
            <a:ext cx="1488946" cy="1706358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4064" y="4100135"/>
            <a:ext cx="1751919" cy="1843385"/>
          </a:xfrm>
          <a:prstGeom prst="rect">
            <a:avLst/>
          </a:prstGeom>
        </p:spPr>
      </p:pic>
      <p:sp>
        <p:nvSpPr>
          <p:cNvPr id="16" name="CuadroTexto 15"/>
          <p:cNvSpPr txBox="1"/>
          <p:nvPr/>
        </p:nvSpPr>
        <p:spPr>
          <a:xfrm>
            <a:off x="2872536" y="5556590"/>
            <a:ext cx="50577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/>
            <a:r>
              <a:rPr lang="es-ES" dirty="0">
                <a:latin typeface="Arial" panose="020B0604020202020204" pitchFamily="34" charset="0"/>
                <a:hlinkClick r:id="rId5"/>
              </a:rPr>
              <a:t>https://3dtransforms.desandro.com/perspective</a:t>
            </a:r>
            <a:r>
              <a:rPr lang="es-ES" dirty="0">
                <a:latin typeface="Arial" panose="020B0604020202020204" pitchFamily="34" charset="0"/>
              </a:rPr>
              <a:t> </a:t>
            </a:r>
          </a:p>
          <a:p>
            <a:endParaRPr lang="es-ES" dirty="0"/>
          </a:p>
        </p:txBody>
      </p:sp>
      <p:pic>
        <p:nvPicPr>
          <p:cNvPr id="17" name="Imagen 16" descr="Front-End Challenge Accepted: CSS 3D Cube — Smashing Magazine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457" y="2646752"/>
            <a:ext cx="2409190" cy="24091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Imagen 17" descr="Let's play around with CSS 3D: how to scroll on the z-axis"/>
          <p:cNvPicPr/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0968" y="3076613"/>
            <a:ext cx="3797300" cy="169852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997100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Transformaciones3D: </a:t>
            </a:r>
            <a:r>
              <a:rPr lang="es-ES" dirty="0" smtClean="0"/>
              <a:t>funciones</a:t>
            </a:r>
            <a:endParaRPr lang="es-ES" dirty="0"/>
          </a:p>
        </p:txBody>
      </p:sp>
      <p:graphicFrame>
        <p:nvGraphicFramePr>
          <p:cNvPr id="3" name="Tab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6652688"/>
              </p:ext>
            </p:extLst>
          </p:nvPr>
        </p:nvGraphicFramePr>
        <p:xfrm>
          <a:off x="914401" y="1120840"/>
          <a:ext cx="6348548" cy="37211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89522">
                  <a:extLst>
                    <a:ext uri="{9D8B030D-6E8A-4147-A177-3AD203B41FA5}">
                      <a16:colId xmlns:a16="http://schemas.microsoft.com/office/drawing/2014/main" val="646426948"/>
                    </a:ext>
                  </a:extLst>
                </a:gridCol>
                <a:gridCol w="4359026">
                  <a:extLst>
                    <a:ext uri="{9D8B030D-6E8A-4147-A177-3AD203B41FA5}">
                      <a16:colId xmlns:a16="http://schemas.microsoft.com/office/drawing/2014/main" val="2874084279"/>
                    </a:ext>
                  </a:extLst>
                </a:gridCol>
              </a:tblGrid>
              <a:tr h="43468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FUNCIÓN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200" dirty="0" smtClean="0">
                          <a:effectLst/>
                        </a:rPr>
                        <a:t>QUÉ HACE</a:t>
                      </a:r>
                      <a:endParaRPr lang="es-ES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7182974"/>
                  </a:ext>
                </a:extLst>
              </a:tr>
              <a:tr h="614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rotateX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 angle 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rotateY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 angle 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rotateZ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 angle )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Rota el elemento una distancia de x horizontalmente.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 smtClean="0">
                          <a:effectLst/>
                        </a:rPr>
                        <a:t>Rota el elemento una distancia de y verticalmente.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 smtClean="0">
                          <a:effectLst/>
                        </a:rPr>
                        <a:t>Rota el elemento una distancia de z en el eje de profundidad.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20245687"/>
                  </a:ext>
                </a:extLst>
              </a:tr>
              <a:tr h="614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translateX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(x)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translateY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(y)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translateZ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(z)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Traslada el elemento una distancia de x horizontalmente.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 smtClean="0">
                          <a:effectLst/>
                        </a:rPr>
                        <a:t>Traslada el elemento una distancia de y verticalmente.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1000" dirty="0" smtClean="0">
                          <a:effectLst/>
                        </a:rPr>
                        <a:t>Traslada el elemento una distancia de z en el eje de profundidad.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258110408"/>
                  </a:ext>
                </a:extLst>
              </a:tr>
              <a:tr h="614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scaleX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fx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scaleY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fy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scaleZ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fz</a:t>
                      </a:r>
                      <a:r>
                        <a:rPr lang="en-U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U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Re-escala el elemento a un nuevo tamaño con factor </a:t>
                      </a:r>
                      <a:r>
                        <a:rPr lang="es-ES" sz="1000" dirty="0" err="1" smtClean="0">
                          <a:effectLst/>
                        </a:rPr>
                        <a:t>fx</a:t>
                      </a:r>
                      <a:r>
                        <a:rPr lang="es-ES" sz="1000" dirty="0" smtClean="0">
                          <a:effectLst/>
                        </a:rPr>
                        <a:t> horizontal.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Re-escala el elemento a un nuevo tamaño con factor </a:t>
                      </a:r>
                      <a:r>
                        <a:rPr lang="es-ES" sz="1000" dirty="0" err="1" smtClean="0">
                          <a:effectLst/>
                        </a:rPr>
                        <a:t>fy</a:t>
                      </a:r>
                      <a:r>
                        <a:rPr lang="es-ES" sz="1000" dirty="0" smtClean="0">
                          <a:effectLst/>
                        </a:rPr>
                        <a:t> vertical.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Re-escala el elemento a un nuevo tamaño con factor </a:t>
                      </a:r>
                      <a:r>
                        <a:rPr lang="es-ES" sz="1000" dirty="0" err="1" smtClean="0">
                          <a:effectLst/>
                        </a:rPr>
                        <a:t>fz</a:t>
                      </a:r>
                      <a:r>
                        <a:rPr lang="es-ES" sz="1000" dirty="0" smtClean="0">
                          <a:effectLst/>
                        </a:rPr>
                        <a:t> de profundidad.</a:t>
                      </a:r>
                      <a:endParaRPr lang="es-E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15911118"/>
                  </a:ext>
                </a:extLst>
              </a:tr>
              <a:tr h="61494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translate3d(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tx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ty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tz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scale3d(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sx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sy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sz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rotate3d(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rx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ry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rz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angle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)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Establece una translación 3D, donde aplica los parámetros a cada eje.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Establece un escalado 3D, donde aplica los factores a cada eje.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Establece</a:t>
                      </a:r>
                      <a:r>
                        <a:rPr lang="es-ES" sz="1000" baseline="0" dirty="0" smtClean="0">
                          <a:effectLst/>
                        </a:rPr>
                        <a:t> una </a:t>
                      </a:r>
                      <a:r>
                        <a:rPr lang="es-ES" sz="1000" dirty="0" smtClean="0">
                          <a:effectLst/>
                        </a:rPr>
                        <a:t>rotación 3D, donde aplica a cada eje el número de grados </a:t>
                      </a:r>
                      <a:r>
                        <a:rPr lang="es-ES" sz="1000" dirty="0" err="1" smtClean="0">
                          <a:effectLst/>
                        </a:rPr>
                        <a:t>deg</a:t>
                      </a:r>
                      <a:r>
                        <a:rPr lang="es-ES" sz="1000" dirty="0" smtClean="0">
                          <a:effectLst/>
                        </a:rPr>
                        <a:t>.</a:t>
                      </a:r>
                      <a:endParaRPr lang="es-E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72829971"/>
                  </a:ext>
                </a:extLst>
              </a:tr>
              <a:tr h="413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perspective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(n)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perspective-origin</a:t>
                      </a: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(x y)</a:t>
                      </a:r>
                      <a:endParaRPr lang="es-ES" sz="1000" dirty="0" smtClean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Establece una perspectiva 3D</a:t>
                      </a: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Establece el origen de la perspectiva</a:t>
                      </a:r>
                      <a:endParaRPr lang="es-E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19065544"/>
                  </a:ext>
                </a:extLst>
              </a:tr>
              <a:tr h="413326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err="1" smtClean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transform-style</a:t>
                      </a:r>
                      <a:endParaRPr lang="es-E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s-ES" sz="1000" dirty="0" smtClean="0">
                          <a:effectLst/>
                        </a:rPr>
                        <a:t>Indica qué hacen los hijos de un elemento en 3D: flat (no conserva 3D)|preserve-3d;</a:t>
                      </a:r>
                      <a:endParaRPr lang="es-ES" sz="10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58169177"/>
                  </a:ext>
                </a:extLst>
              </a:tr>
            </a:tbl>
          </a:graphicData>
        </a:graphic>
      </p:graphicFrame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606" y="1057932"/>
            <a:ext cx="3230063" cy="3433354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9653" y="4491286"/>
            <a:ext cx="2377055" cy="1807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992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Transformaciones3D: </a:t>
            </a:r>
            <a:r>
              <a:rPr lang="es-ES" dirty="0" err="1" smtClean="0"/>
              <a:t>perspective-origin</a:t>
            </a:r>
            <a:endParaRPr lang="es-ES" dirty="0"/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7577" y="1484784"/>
            <a:ext cx="7616846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60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Transformaciones3D: </a:t>
            </a:r>
            <a:r>
              <a:rPr lang="es-ES" dirty="0" err="1" smtClean="0"/>
              <a:t>transform-style</a:t>
            </a:r>
            <a:endParaRPr lang="es-E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258848" y="1135470"/>
            <a:ext cx="3456384" cy="4708981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width: 200px;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200px;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1px solid #000000;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perspective: 500px;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margin-top: 50px;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.blue{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rotateY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 #0087FF;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transform-style: flat;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.gray{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transform-origin: top left;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 #808080;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class="container"&gt;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class="blue"&gt;</a:t>
            </a:r>
          </a:p>
          <a:p>
            <a:pPr marL="7127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class="gray"&gt;&lt;/div&gt;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464146" y="1135469"/>
            <a:ext cx="3456384" cy="4708981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defPPr>
              <a:defRPr lang="es-ES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div{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width: 200px;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height: 200px;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.container{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border: 1px solid #000000;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perspective: 500px;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margin-top: 50px;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.blue{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rotateY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 #0087FF;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transform-style: preserve-3d;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.gray{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transform-origin: top left;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transform: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rotateX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(45deg);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background-color: #808080;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endParaRPr lang="en-US" altLang="es-E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class="container"&gt;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class="blue"&gt;</a:t>
            </a:r>
          </a:p>
          <a:p>
            <a:pPr marL="712788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&lt;div class="gray"&gt;&lt;/div&gt;</a:t>
            </a:r>
          </a:p>
          <a:p>
            <a:pPr marL="361950" indent="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  <a:p>
            <a:pPr marL="266700" indent="-266700" eaLnBrk="1" hangingPunct="1">
              <a:buNone/>
            </a:pP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&lt;/div&gt;</a:t>
            </a: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1999" y="2494320"/>
            <a:ext cx="1881460" cy="1881460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9380" y="2399366"/>
            <a:ext cx="2582620" cy="2365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496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Transiciones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94014" y="1201783"/>
            <a:ext cx="10003971" cy="224681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/>
              <a:t>Las transiciones permiten suavizar el cambio entre dos </a:t>
            </a:r>
            <a:r>
              <a:rPr lang="es-ES" sz="2000" dirty="0" smtClean="0"/>
              <a:t>estados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/>
              <a:t>Para declarar una transición tenemos las siguientes propiedades: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u="sng" dirty="0" err="1"/>
              <a:t>transition-property</a:t>
            </a:r>
            <a:r>
              <a:rPr lang="es-ES" sz="2000" dirty="0"/>
              <a:t>: determina las propiedades a las que va afectar la transición, cuando dichas propiedades cambien de valor. 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u="sng" dirty="0" err="1"/>
              <a:t>transition-duration</a:t>
            </a:r>
            <a:r>
              <a:rPr lang="es-ES" sz="2000" dirty="0"/>
              <a:t>: el tiempo empleado en la transición.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u="sng" dirty="0" err="1"/>
              <a:t>transition-timing-function</a:t>
            </a:r>
            <a:r>
              <a:rPr lang="es-ES" sz="2000" dirty="0"/>
              <a:t>: cómo se desarrolla la transición en el tiempo.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u="sng" dirty="0" err="1"/>
              <a:t>transition-delay</a:t>
            </a:r>
            <a:r>
              <a:rPr lang="es-ES" sz="2000" dirty="0"/>
              <a:t>: retraso en iniciarse la transición</a:t>
            </a:r>
            <a:r>
              <a:rPr lang="es-ES" sz="2000" dirty="0" smtClean="0"/>
              <a:t>.</a:t>
            </a:r>
            <a:endParaRPr lang="es-ES" sz="200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211667" y="3761764"/>
            <a:ext cx="4032448" cy="95410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transition-property: all;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transition-duration: 0.5s;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transition-timing-function: ease;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transition-delay: 0s;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5764963" y="3761763"/>
            <a:ext cx="5588837" cy="95410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transition-property: opacity left top;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transition-duration: 0.5s 0.8s 0.1s;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transition-timing-function: ease linear ease; 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transition-delay: 0s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0s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1s;</a:t>
            </a:r>
          </a:p>
        </p:txBody>
      </p:sp>
      <p:sp>
        <p:nvSpPr>
          <p:cNvPr id="3" name="Rectángulo 2"/>
          <p:cNvSpPr/>
          <p:nvPr/>
        </p:nvSpPr>
        <p:spPr>
          <a:xfrm>
            <a:off x="1585356" y="4825170"/>
            <a:ext cx="365875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cualquier modificación del valor de cualquier propiedad</a:t>
            </a:r>
          </a:p>
        </p:txBody>
      </p:sp>
      <p:sp>
        <p:nvSpPr>
          <p:cNvPr id="13" name="Rectángulo 12"/>
          <p:cNvSpPr/>
          <p:nvPr/>
        </p:nvSpPr>
        <p:spPr>
          <a:xfrm>
            <a:off x="7384757" y="4806645"/>
            <a:ext cx="254229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1200" dirty="0"/>
              <a:t>a nivel individual para cada propiedad</a:t>
            </a:r>
            <a:endParaRPr lang="es-ES" sz="1200" dirty="0"/>
          </a:p>
        </p:txBody>
      </p:sp>
    </p:spTree>
    <p:extLst>
      <p:ext uri="{BB962C8B-B14F-4D97-AF65-F5344CB8AC3E}">
        <p14:creationId xmlns:p14="http://schemas.microsoft.com/office/powerpoint/2010/main" val="2525806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Transiciones: curvas de tiempo</a:t>
            </a:r>
            <a:endParaRPr lang="es-ES" dirty="0"/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1970313" y="1081888"/>
            <a:ext cx="8079377" cy="2246769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Forma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abreviada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recomendada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elemento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transform 0.3s ease; }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Funciones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temporización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*/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linear;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ease;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ease-in;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ease-out;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ease-in-out;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transition-timing-function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cubic-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bezier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(0.68, -0.55, 0.27, 1.55);}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ángulo redondeado 9"/>
          <p:cNvSpPr/>
          <p:nvPr/>
        </p:nvSpPr>
        <p:spPr>
          <a:xfrm>
            <a:off x="1552301" y="3539687"/>
            <a:ext cx="8915400" cy="170038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smtClean="0"/>
              <a:t>Linear</a:t>
            </a:r>
            <a:r>
              <a:rPr lang="es-ES" sz="1200" dirty="0"/>
              <a:t>: mantiene la misma velocidad de principio a fin.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err="1" smtClean="0"/>
              <a:t>Ease</a:t>
            </a:r>
            <a:r>
              <a:rPr lang="es-ES" sz="1200" dirty="0"/>
              <a:t>: comienzo lento, luego rápido y termina lento.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err="1" smtClean="0"/>
              <a:t>Ease</a:t>
            </a:r>
            <a:r>
              <a:rPr lang="es-ES" sz="1200" b="1" dirty="0" smtClean="0"/>
              <a:t>-in</a:t>
            </a:r>
            <a:r>
              <a:rPr lang="es-ES" sz="1200" dirty="0"/>
              <a:t>: comienza lento, y después mantiene velocidad.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err="1" smtClean="0"/>
              <a:t>Ease-out</a:t>
            </a:r>
            <a:r>
              <a:rPr lang="es-ES" sz="1200" dirty="0"/>
              <a:t>: mantiene velocidad con un final lento.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err="1" smtClean="0"/>
              <a:t>Ease</a:t>
            </a:r>
            <a:r>
              <a:rPr lang="es-ES" sz="1200" b="1" dirty="0" smtClean="0"/>
              <a:t>-in-</a:t>
            </a:r>
            <a:r>
              <a:rPr lang="es-ES" sz="1200" b="1" dirty="0" err="1" smtClean="0"/>
              <a:t>out</a:t>
            </a:r>
            <a:r>
              <a:rPr lang="es-ES" sz="1200" dirty="0"/>
              <a:t>: comienzo y fin lentos, muy similar a </a:t>
            </a:r>
            <a:r>
              <a:rPr lang="es-ES" sz="1200" dirty="0" err="1"/>
              <a:t>ease</a:t>
            </a:r>
            <a:r>
              <a:rPr lang="es-ES" sz="1200" dirty="0"/>
              <a:t> sólo que este último empieza más rápido de lo que termina.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200" b="1" dirty="0" err="1" smtClean="0"/>
              <a:t>Cubic-bezier</a:t>
            </a:r>
            <a:r>
              <a:rPr lang="es-ES" sz="1200" dirty="0" smtClean="0"/>
              <a:t> (rebote): </a:t>
            </a:r>
            <a:r>
              <a:rPr lang="es-ES" sz="1200" dirty="0"/>
              <a:t>Configurar la curva de velocidad a nuestro gusto utilizando la función cúbica de </a:t>
            </a:r>
            <a:r>
              <a:rPr lang="es-ES" sz="1200" dirty="0" err="1"/>
              <a:t>Bezier</a:t>
            </a:r>
            <a:r>
              <a:rPr lang="es-ES" sz="1200" dirty="0"/>
              <a:t>. Acepta cuatro valores entre 0 y 1.</a:t>
            </a:r>
          </a:p>
        </p:txBody>
      </p:sp>
    </p:spTree>
    <p:extLst>
      <p:ext uri="{BB962C8B-B14F-4D97-AF65-F5344CB8AC3E}">
        <p14:creationId xmlns:p14="http://schemas.microsoft.com/office/powerpoint/2010/main" val="32392665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/>
              <a:t>Animaciones vs Transiciones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94014" y="1201783"/>
            <a:ext cx="10003971" cy="957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/>
              <a:t>Las transiciones requieren un cambio de estado (</a:t>
            </a:r>
            <a:r>
              <a:rPr lang="es-ES" sz="2000" dirty="0" err="1"/>
              <a:t>ej</a:t>
            </a:r>
            <a:r>
              <a:rPr lang="es-ES" sz="2000" dirty="0"/>
              <a:t>: </a:t>
            </a:r>
            <a:r>
              <a:rPr lang="es-ES" sz="2000" dirty="0" err="1"/>
              <a:t>hover</a:t>
            </a:r>
            <a:r>
              <a:rPr lang="es-ES" sz="2000" dirty="0"/>
              <a:t>). </a:t>
            </a:r>
            <a:endParaRPr lang="es-ES" sz="2000" dirty="0" smtClean="0"/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 smtClean="0"/>
              <a:t>Las </a:t>
            </a:r>
            <a:r>
              <a:rPr lang="es-ES" sz="2000" dirty="0"/>
              <a:t>animaciones se pueden ejecutar automáticamente en bucle y definir secuencias complejas de estados con @</a:t>
            </a:r>
            <a:r>
              <a:rPr lang="es-ES" sz="2000" dirty="0" err="1"/>
              <a:t>keyframes</a:t>
            </a:r>
            <a:r>
              <a:rPr lang="es-ES" sz="2000" dirty="0"/>
              <a:t>.</a:t>
            </a:r>
            <a:endParaRPr lang="es-ES" sz="2000" u="sng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094014" y="2490651"/>
            <a:ext cx="5611586" cy="227754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/*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Animación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continua sin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necesidad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de hover 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*/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mover {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(-80px);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to {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(80px);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elemento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animation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mover 2.5s infinite alternate ease-in-out;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0672" y="2355445"/>
            <a:ext cx="2809875" cy="1695450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0672" y="4205129"/>
            <a:ext cx="2847973" cy="1626070"/>
          </a:xfrm>
          <a:prstGeom prst="rect">
            <a:avLst/>
          </a:prstGeom>
        </p:spPr>
      </p:pic>
      <p:sp>
        <p:nvSpPr>
          <p:cNvPr id="10" name="Flecha derecha 9"/>
          <p:cNvSpPr/>
          <p:nvPr/>
        </p:nvSpPr>
        <p:spPr>
          <a:xfrm rot="5400000">
            <a:off x="7869030" y="3962550"/>
            <a:ext cx="581705" cy="330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Flecha derecha 10"/>
          <p:cNvSpPr/>
          <p:nvPr/>
        </p:nvSpPr>
        <p:spPr>
          <a:xfrm rot="16200000">
            <a:off x="9231921" y="3885432"/>
            <a:ext cx="581705" cy="33092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782227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Animaciones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094014" y="1201782"/>
            <a:ext cx="10003971" cy="175913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 smtClean="0"/>
              <a:t>Fotogramas </a:t>
            </a:r>
            <a:r>
              <a:rPr lang="es-ES" sz="2000" dirty="0"/>
              <a:t>claves: inicio y final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2000" dirty="0"/>
              <a:t>Las intermedias se añadirán según cuántas tenemos o según el tiempo en el que queremos que ocurran: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 smtClean="0"/>
              <a:t>Tantos </a:t>
            </a:r>
            <a:r>
              <a:rPr lang="es-ES" sz="2000" dirty="0"/>
              <a:t>por ciento % y la transformación a aplicar.</a:t>
            </a:r>
          </a:p>
          <a:p>
            <a:pPr marL="617220" lvl="2" indent="-342900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2000" dirty="0" err="1" smtClean="0"/>
              <a:t>from</a:t>
            </a:r>
            <a:r>
              <a:rPr lang="es-ES" sz="2000" dirty="0" smtClean="0"/>
              <a:t> </a:t>
            </a:r>
            <a:r>
              <a:rPr lang="es-ES" sz="2000" dirty="0"/>
              <a:t>{ posición </a:t>
            </a:r>
            <a:r>
              <a:rPr lang="es-ES" sz="2000" dirty="0" smtClean="0"/>
              <a:t>inicial} </a:t>
            </a:r>
            <a:r>
              <a:rPr lang="es-ES" sz="2000" dirty="0"/>
              <a:t>to {posición final}</a:t>
            </a:r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2377575" y="3291837"/>
            <a:ext cx="4392488" cy="2462213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nombre_fotograma_clave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0% {</a:t>
            </a:r>
          </a:p>
          <a:p>
            <a:pPr marL="7239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left: 100px;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}40% {</a:t>
            </a:r>
          </a:p>
          <a:p>
            <a:pPr marL="7239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left: 150px;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}60% {</a:t>
            </a:r>
          </a:p>
          <a:p>
            <a:pPr marL="7239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left: 75px;</a:t>
            </a:r>
          </a:p>
          <a:p>
            <a:pPr marL="3556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}100% {</a:t>
            </a:r>
          </a:p>
          <a:p>
            <a:pPr marL="723900" indent="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left: 100px;</a:t>
            </a:r>
          </a:p>
          <a:p>
            <a:pPr marL="355600" indent="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3" name="Rectángulo 2"/>
          <p:cNvSpPr/>
          <p:nvPr/>
        </p:nvSpPr>
        <p:spPr>
          <a:xfrm>
            <a:off x="7158446" y="3738113"/>
            <a:ext cx="342246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2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1600" dirty="0"/>
              <a:t>4 fotogramas </a:t>
            </a:r>
            <a:r>
              <a:rPr lang="es-ES" sz="1600" dirty="0" smtClean="0"/>
              <a:t>clave</a:t>
            </a:r>
          </a:p>
          <a:p>
            <a:pPr marL="342900" lvl="2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1600" dirty="0" smtClean="0"/>
              <a:t>El </a:t>
            </a:r>
            <a:r>
              <a:rPr lang="es-ES" sz="1600" dirty="0"/>
              <a:t>porcentaje es el momento de la animación en el que va a producirse ese </a:t>
            </a:r>
            <a:r>
              <a:rPr lang="es-ES" sz="1600" dirty="0" smtClean="0"/>
              <a:t>fotograma</a:t>
            </a:r>
          </a:p>
          <a:p>
            <a:pPr marL="342900" lvl="2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1600" dirty="0" smtClean="0"/>
              <a:t>En </a:t>
            </a:r>
            <a:r>
              <a:rPr lang="es-ES" sz="1600" dirty="0"/>
              <a:t>este caso definen distintas posiciones para un elemento.</a:t>
            </a:r>
          </a:p>
        </p:txBody>
      </p:sp>
    </p:spTree>
    <p:extLst>
      <p:ext uri="{BB962C8B-B14F-4D97-AF65-F5344CB8AC3E}">
        <p14:creationId xmlns:p14="http://schemas.microsoft.com/office/powerpoint/2010/main" val="11379231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Animaciones</a:t>
            </a:r>
            <a:endParaRPr lang="es-ES" dirty="0"/>
          </a:p>
        </p:txBody>
      </p:sp>
      <p:sp>
        <p:nvSpPr>
          <p:cNvPr id="12" name="Text Box 4"/>
          <p:cNvSpPr txBox="1">
            <a:spLocks noChangeArrowheads="1"/>
          </p:cNvSpPr>
          <p:nvPr/>
        </p:nvSpPr>
        <p:spPr bwMode="auto">
          <a:xfrm>
            <a:off x="995941" y="1959426"/>
            <a:ext cx="4392488" cy="2277547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  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   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(0);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   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(200px);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.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caja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  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animation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4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mover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2s ease-in-out</a:t>
            </a: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973184" y="991474"/>
            <a:ext cx="4415245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2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1600" dirty="0"/>
              <a:t>@</a:t>
            </a:r>
            <a:r>
              <a:rPr lang="es-ES" sz="1600" dirty="0" err="1"/>
              <a:t>keyframes</a:t>
            </a:r>
            <a:r>
              <a:rPr lang="es-ES" sz="1600" dirty="0"/>
              <a:t> → define QUÉ </a:t>
            </a:r>
            <a:r>
              <a:rPr lang="es-ES" sz="1600" dirty="0" smtClean="0"/>
              <a:t>ocurre</a:t>
            </a:r>
          </a:p>
          <a:p>
            <a:pPr marL="342900" lvl="2" indent="-342900" algn="just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  <a:buFont typeface="Arial" panose="020B0604020202020204" pitchFamily="34" charset="0"/>
              <a:buChar char="•"/>
            </a:pPr>
            <a:r>
              <a:rPr lang="es-ES" sz="1600" dirty="0" err="1" smtClean="0"/>
              <a:t>Animation</a:t>
            </a:r>
            <a:r>
              <a:rPr lang="es-ES" sz="1600" dirty="0" smtClean="0"/>
              <a:t> → </a:t>
            </a:r>
            <a:r>
              <a:rPr lang="es-ES" sz="1600" dirty="0"/>
              <a:t>define CÓMO y CUÁNDO ocurre.</a:t>
            </a:r>
            <a:endParaRPr lang="es-ES" sz="1600" dirty="0"/>
          </a:p>
        </p:txBody>
      </p:sp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6504113" y="1963817"/>
            <a:ext cx="4392488" cy="892552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aparecer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{   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from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  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0;    }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to 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{     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opacity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1;    </a:t>
            </a: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 Box 4"/>
          <p:cNvSpPr txBox="1">
            <a:spLocks noChangeArrowheads="1"/>
          </p:cNvSpPr>
          <p:nvPr/>
        </p:nvSpPr>
        <p:spPr bwMode="auto">
          <a:xfrm>
            <a:off x="6504113" y="3566158"/>
            <a:ext cx="4392488" cy="2246769"/>
          </a:xfrm>
          <a:prstGeom prst="rect">
            <a:avLst/>
          </a:prstGeom>
          <a:ln w="3175">
            <a:solidFill>
              <a:schemeClr val="accent2"/>
            </a:solidFill>
            <a:prstDash val="dash"/>
            <a:headEnd/>
            <a:tailEnd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>
            <a:lvl1pPr marL="342900" indent="-342900" eaLnBrk="0" hangingPunct="0">
              <a:buChar char="n"/>
              <a:defRPr sz="2800"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buClr>
                <a:schemeClr val="accent1"/>
              </a:buClr>
              <a:buSzPct val="75000"/>
              <a:buChar char="n"/>
              <a:defRPr sz="2600"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buSzPct val="55000"/>
              <a:buChar char="n"/>
              <a:defRPr sz="2300"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buClr>
                <a:schemeClr val="accent1"/>
              </a:buClr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itchFamily="2" charset="2"/>
              <a:buChar char="§"/>
              <a:defRPr sz="2000"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marL="266700" indent="-266700" eaLnBrk="1" hangingPunct="1">
              <a:buNone/>
            </a:pP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@</a:t>
            </a:r>
            <a:r>
              <a:rPr lang="en-US" altLang="es-E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keyframes</a:t>
            </a:r>
            <a:r>
              <a:rPr lang="en-US" altLang="es-E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mover {    </a:t>
            </a:r>
            <a:endParaRPr lang="en-US" altLang="es-ES" sz="14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{    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(0);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50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{    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(200px);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    </a:t>
            </a: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100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% {    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	transform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: </a:t>
            </a:r>
            <a:r>
              <a:rPr lang="en-US" altLang="es-ES" sz="12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translateX</a:t>
            </a:r>
            <a:r>
              <a:rPr lang="en-US" altLang="es-ES" sz="1200" dirty="0">
                <a:latin typeface="Courier New" panose="02070309020205020404" pitchFamily="49" charset="0"/>
                <a:cs typeface="Courier New" panose="02070309020205020404" pitchFamily="49" charset="0"/>
              </a:rPr>
              <a:t>(0);    </a:t>
            </a:r>
            <a:endParaRPr lang="en-US" altLang="es-ES" sz="1200" dirty="0" smtClean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666750" lvl="1" indent="-266700" eaLnBrk="1" hangingPunct="1">
              <a:buNone/>
            </a:pPr>
            <a:r>
              <a:rPr lang="en-US" altLang="es-ES" sz="12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 marL="266700" indent="-266700" eaLnBrk="1" hangingPunct="1">
              <a:buNone/>
            </a:pPr>
            <a:r>
              <a:rPr lang="en-US" altLang="es-ES" sz="14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s-E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862948" y="3194239"/>
            <a:ext cx="16748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con porcentajes</a:t>
            </a:r>
          </a:p>
        </p:txBody>
      </p:sp>
      <p:sp>
        <p:nvSpPr>
          <p:cNvPr id="11" name="Rectángulo 10"/>
          <p:cNvSpPr/>
          <p:nvPr/>
        </p:nvSpPr>
        <p:spPr>
          <a:xfrm>
            <a:off x="7862947" y="1553905"/>
            <a:ext cx="14223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dirty="0"/>
              <a:t>con </a:t>
            </a:r>
            <a:r>
              <a:rPr lang="es-ES" dirty="0" err="1" smtClean="0"/>
              <a:t>from</a:t>
            </a:r>
            <a:r>
              <a:rPr lang="es-ES" dirty="0" smtClean="0"/>
              <a:t> </a:t>
            </a:r>
            <a:r>
              <a:rPr lang="es-ES" dirty="0"/>
              <a:t>/ to</a:t>
            </a:r>
          </a:p>
        </p:txBody>
      </p:sp>
    </p:spTree>
    <p:extLst>
      <p:ext uri="{BB962C8B-B14F-4D97-AF65-F5344CB8AC3E}">
        <p14:creationId xmlns:p14="http://schemas.microsoft.com/office/powerpoint/2010/main" val="2808215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6" y="5029041"/>
            <a:ext cx="12180864" cy="1828959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05732"/>
          </a:xfrm>
          <a:solidFill>
            <a:schemeClr val="accent1">
              <a:lumMod val="20000"/>
              <a:lumOff val="80000"/>
            </a:schemeClr>
          </a:solidFill>
          <a:effectLst>
            <a:softEdge rad="31750"/>
          </a:effectLst>
        </p:spPr>
        <p:txBody>
          <a:bodyPr>
            <a:normAutofit fontScale="90000"/>
          </a:bodyPr>
          <a:lstStyle/>
          <a:p>
            <a:r>
              <a:rPr lang="es-ES" dirty="0" smtClean="0"/>
              <a:t>Animaciones: propiedades</a:t>
            </a:r>
            <a:endParaRPr lang="es-ES" dirty="0"/>
          </a:p>
        </p:txBody>
      </p:sp>
      <p:sp>
        <p:nvSpPr>
          <p:cNvPr id="7" name="Rectángulo redondeado 6"/>
          <p:cNvSpPr/>
          <p:nvPr/>
        </p:nvSpPr>
        <p:spPr>
          <a:xfrm>
            <a:off x="1349829" y="1018904"/>
            <a:ext cx="10003971" cy="387531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 smtClean="0"/>
              <a:t>animation-name</a:t>
            </a:r>
            <a:r>
              <a:rPr lang="es-ES" sz="1600" dirty="0"/>
              <a:t>: el nombre del fotograma clave.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animation-duration</a:t>
            </a:r>
            <a:r>
              <a:rPr lang="es-ES" sz="1600" dirty="0"/>
              <a:t>: la duración de la animación.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animation-iteration-count</a:t>
            </a:r>
            <a:r>
              <a:rPr lang="es-ES" sz="1600" dirty="0"/>
              <a:t>: las veces que se repite.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animation-timing-function</a:t>
            </a:r>
            <a:r>
              <a:rPr lang="es-ES" sz="1600" dirty="0"/>
              <a:t>: se aplica entre los fotogramas clave, no sobre toda la animación y describe como progresa la animación a lo largo de un ciclo.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animation-direction</a:t>
            </a:r>
            <a:r>
              <a:rPr lang="es-ES" sz="1600" dirty="0"/>
              <a:t>: establece la dirección de la animación. Puede tomar cuatro valores: normal, reverse, </a:t>
            </a:r>
            <a:r>
              <a:rPr lang="es-ES" sz="1600" i="1" dirty="0" err="1"/>
              <a:t>alternate</a:t>
            </a:r>
            <a:r>
              <a:rPr lang="es-ES" sz="1600" dirty="0"/>
              <a:t> y </a:t>
            </a:r>
            <a:r>
              <a:rPr lang="es-ES" sz="1600" i="1" dirty="0" err="1"/>
              <a:t>alternate</a:t>
            </a:r>
            <a:r>
              <a:rPr lang="es-ES" sz="1600" i="1" dirty="0"/>
              <a:t>-reverse</a:t>
            </a:r>
            <a:r>
              <a:rPr lang="es-ES" sz="1600" dirty="0"/>
              <a:t>. Por defecto se aplica el valor normal. Reverse, invierte la dirección de la animación, mostrando los fotogramas en la dirección opuesta a como han sido declarados. El valor </a:t>
            </a:r>
            <a:r>
              <a:rPr lang="es-ES" sz="1600" dirty="0" err="1"/>
              <a:t>alternate</a:t>
            </a:r>
            <a:r>
              <a:rPr lang="es-ES" sz="1600" dirty="0"/>
              <a:t> mezcla los ciclos de animación, reproduciendo los que tienen un índice impar en dirección normal y el resto en dirección opuesta. El valor </a:t>
            </a:r>
            <a:r>
              <a:rPr lang="es-ES" sz="1600" dirty="0" err="1"/>
              <a:t>alternate</a:t>
            </a:r>
            <a:r>
              <a:rPr lang="es-ES" sz="1600" dirty="0"/>
              <a:t>-reverse hace lo mismo que </a:t>
            </a:r>
            <a:r>
              <a:rPr lang="es-ES" sz="1600" dirty="0" err="1"/>
              <a:t>alternate</a:t>
            </a:r>
            <a:r>
              <a:rPr lang="es-ES" sz="1600" dirty="0"/>
              <a:t>, pero al revés.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animation-delay</a:t>
            </a:r>
            <a:r>
              <a:rPr lang="es-ES" sz="1600" dirty="0"/>
              <a:t>: propiedad que nos indica el momento en el que comenzará la animación. Si el valor es 0 se ejecuta en cuanto se carga la página.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</a:t>
            </a:r>
            <a:r>
              <a:rPr lang="es-ES" sz="1600" dirty="0"/>
              <a:t>: esta propiedad combina las anteriores de una forma resumida.</a:t>
            </a:r>
          </a:p>
          <a:p>
            <a:pPr marL="274320" lvl="2">
              <a:spcBef>
                <a:spcPts val="0"/>
              </a:spcBef>
              <a:buClr>
                <a:schemeClr val="accent1">
                  <a:lumMod val="75000"/>
                </a:schemeClr>
              </a:buClr>
              <a:buSzPct val="95000"/>
            </a:pPr>
            <a:r>
              <a:rPr lang="es-ES" sz="1600" b="1" dirty="0" err="1"/>
              <a:t>animation-play-state</a:t>
            </a:r>
            <a:r>
              <a:rPr lang="es-ES" sz="1600" dirty="0"/>
              <a:t>: determina si una animación está en ejecución o en pausa. Sus valores son </a:t>
            </a:r>
            <a:r>
              <a:rPr lang="es-ES" sz="1600" dirty="0" err="1"/>
              <a:t>paused</a:t>
            </a:r>
            <a:r>
              <a:rPr lang="es-ES" sz="1600" dirty="0"/>
              <a:t> y running.</a:t>
            </a:r>
          </a:p>
        </p:txBody>
      </p:sp>
      <p:sp>
        <p:nvSpPr>
          <p:cNvPr id="4" name="Rectángulo 3"/>
          <p:cNvSpPr/>
          <p:nvPr/>
        </p:nvSpPr>
        <p:spPr>
          <a:xfrm>
            <a:off x="2290354" y="5108280"/>
            <a:ext cx="8900160" cy="410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0"/>
              </a:spcAft>
              <a:tabLst>
                <a:tab pos="581660" algn="l"/>
                <a:tab pos="1163320" algn="l"/>
                <a:tab pos="1744980" algn="l"/>
                <a:tab pos="2326640" algn="l"/>
                <a:tab pos="2908300" algn="l"/>
                <a:tab pos="3489960" algn="l"/>
                <a:tab pos="4071620" algn="l"/>
                <a:tab pos="4653280" algn="l"/>
                <a:tab pos="5234940" algn="l"/>
                <a:tab pos="5816600" algn="l"/>
                <a:tab pos="6398260" algn="l"/>
                <a:tab pos="6979920" algn="l"/>
                <a:tab pos="7561580" algn="l"/>
                <a:tab pos="8143240" algn="l"/>
                <a:tab pos="8724900" algn="l"/>
                <a:tab pos="9306560" algn="l"/>
              </a:tabLst>
            </a:pPr>
            <a:r>
              <a:rPr lang="en-GB" u="sng" cap="small" dirty="0">
                <a:solidFill>
                  <a:srgbClr val="C0504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https://www.w3schools.com/cssref/tryit.asp?filename=trycss3_animation-fill-mode3</a:t>
            </a:r>
            <a:r>
              <a:rPr lang="es-ES" u="sng" cap="small" dirty="0">
                <a:solidFill>
                  <a:srgbClr val="C0504D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s-ES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78401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</TotalTime>
  <Words>1620</Words>
  <Application>Microsoft Office PowerPoint</Application>
  <PresentationFormat>Panorámica</PresentationFormat>
  <Paragraphs>295</Paragraphs>
  <Slides>18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18</vt:i4>
      </vt:variant>
    </vt:vector>
  </HeadingPairs>
  <TitlesOfParts>
    <vt:vector size="24" baseType="lpstr">
      <vt:lpstr>Arial</vt:lpstr>
      <vt:lpstr>Calibri</vt:lpstr>
      <vt:lpstr>Calibri Light</vt:lpstr>
      <vt:lpstr>Courier New</vt:lpstr>
      <vt:lpstr>Times New Roman</vt:lpstr>
      <vt:lpstr>Tema de Office</vt:lpstr>
      <vt:lpstr>Filtros, Transformaciones, Transiciones y Animaciones </vt:lpstr>
      <vt:lpstr>Filtros</vt:lpstr>
      <vt:lpstr>Filtros: funciones</vt:lpstr>
      <vt:lpstr>Filtros: ejemplos</vt:lpstr>
      <vt:lpstr>Transformaciones2D</vt:lpstr>
      <vt:lpstr>Patrón de Estado Normal → Interacción</vt:lpstr>
      <vt:lpstr>Transformaciones2D : ejemplos</vt:lpstr>
      <vt:lpstr>Transformaciones2D: punto de anclaje</vt:lpstr>
      <vt:lpstr>Transformaciones3D</vt:lpstr>
      <vt:lpstr>Transformaciones3D: funciones</vt:lpstr>
      <vt:lpstr>Transformaciones3D: perspective-origin</vt:lpstr>
      <vt:lpstr>Transformaciones3D: transform-style</vt:lpstr>
      <vt:lpstr>Transiciones</vt:lpstr>
      <vt:lpstr>Transiciones: curvas de tiempo</vt:lpstr>
      <vt:lpstr>Animaciones vs Transiciones</vt:lpstr>
      <vt:lpstr>Animaciones</vt:lpstr>
      <vt:lpstr>Animaciones</vt:lpstr>
      <vt:lpstr>Animaciones: propiedades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VirtualBox</dc:title>
  <dc:creator>Coque</dc:creator>
  <cp:lastModifiedBy>Coque</cp:lastModifiedBy>
  <cp:revision>37</cp:revision>
  <dcterms:created xsi:type="dcterms:W3CDTF">2026-09-15T14:39:26Z</dcterms:created>
  <dcterms:modified xsi:type="dcterms:W3CDTF">2026-10-07T06:55:21Z</dcterms:modified>
</cp:coreProperties>
</file>