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4803" r:id="rId1"/>
  </p:sldMasterIdLst>
  <p:notesMasterIdLst>
    <p:notesMasterId r:id="rId25"/>
  </p:notesMasterIdLst>
  <p:handoutMasterIdLst>
    <p:handoutMasterId r:id="rId26"/>
  </p:handoutMasterIdLst>
  <p:sldIdLst>
    <p:sldId id="277" r:id="rId2"/>
    <p:sldId id="551" r:id="rId3"/>
    <p:sldId id="554" r:id="rId4"/>
    <p:sldId id="563" r:id="rId5"/>
    <p:sldId id="564" r:id="rId6"/>
    <p:sldId id="565" r:id="rId7"/>
    <p:sldId id="574" r:id="rId8"/>
    <p:sldId id="575" r:id="rId9"/>
    <p:sldId id="576" r:id="rId10"/>
    <p:sldId id="577" r:id="rId11"/>
    <p:sldId id="566" r:id="rId12"/>
    <p:sldId id="568" r:id="rId13"/>
    <p:sldId id="569" r:id="rId14"/>
    <p:sldId id="570" r:id="rId15"/>
    <p:sldId id="571" r:id="rId16"/>
    <p:sldId id="572" r:id="rId17"/>
    <p:sldId id="573" r:id="rId18"/>
    <p:sldId id="553" r:id="rId19"/>
    <p:sldId id="549" r:id="rId20"/>
    <p:sldId id="543" r:id="rId21"/>
    <p:sldId id="557" r:id="rId22"/>
    <p:sldId id="561" r:id="rId23"/>
    <p:sldId id="556" r:id="rId24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B200"/>
    <a:srgbClr val="F2B800"/>
    <a:srgbClr val="E1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85" autoAdjust="0"/>
    <p:restoredTop sz="99112" autoAdjust="0"/>
  </p:normalViewPr>
  <p:slideViewPr>
    <p:cSldViewPr>
      <p:cViewPr varScale="1">
        <p:scale>
          <a:sx n="117" d="100"/>
          <a:sy n="117" d="100"/>
        </p:scale>
        <p:origin x="178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20" y="-90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0EE77-5F38-457B-96A8-67CE15DC456B}" type="datetimeFigureOut">
              <a:rPr lang="es-ES" smtClean="0"/>
              <a:pPr/>
              <a:t>30/09/2026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415D2-09C9-45E9-8984-F1E4AAC1ABA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82561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11E10-B218-48E2-B7C9-DEE9015F2796}" type="datetimeFigureOut">
              <a:rPr lang="es-ES" smtClean="0"/>
              <a:pPr/>
              <a:t>30/09/2026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3F345-9B85-45FE-A289-6E9AEA1DBE5E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5716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93F345-9B85-45FE-A289-6E9AEA1DBE5E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1713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C8F5EBE-D15D-4979-B44E-9A846C4182D8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91974DF9-AD47-4691-BA21-BBFCE3637A9A}" type="slidenum">
              <a:rPr kumimoji="0" lang="en-US" smtClean="0"/>
              <a:pPr eaLnBrk="1" latinLnBrk="0" hangingPunct="1"/>
              <a:t>‹Nº›</a:t>
            </a:fld>
            <a:endParaRPr kumimoji="0" lang="en-US" dirty="0"/>
          </a:p>
        </p:txBody>
      </p:sp>
      <p:sp>
        <p:nvSpPr>
          <p:cNvPr id="7" name="Rectangle 1"/>
          <p:cNvSpPr>
            <a:spLocks noChangeArrowheads="1"/>
          </p:cNvSpPr>
          <p:nvPr userDrawn="1"/>
        </p:nvSpPr>
        <p:spPr bwMode="auto">
          <a:xfrm>
            <a:off x="2483768" y="5824119"/>
            <a:ext cx="42484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sz="24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I.E.S. </a:t>
            </a:r>
            <a:r>
              <a:rPr kumimoji="0" lang="es-ES_tradnl" sz="2400" b="1" i="0" u="none" strike="noStrike" cap="none" normalizeH="0" baseline="0" dirty="0" err="1" smtClean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Txurdinaga-Artabe</a:t>
            </a:r>
            <a:endParaRPr kumimoji="0" lang="es-ES_tradnl" sz="2400" b="1" i="0" u="none" strike="noStrike" cap="none" normalizeH="0" baseline="0" dirty="0" smtClean="0">
              <a:ln>
                <a:noFill/>
              </a:ln>
              <a:solidFill>
                <a:schemeClr val="tx2">
                  <a:lumMod val="25000"/>
                </a:schemeClr>
              </a:solidFill>
              <a:effectLst/>
              <a:latin typeface="+mj-lt"/>
              <a:ea typeface="Times New Roman" pitchFamily="18" charset="0"/>
              <a:cs typeface="Arial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62596F2-6DAB-484A-B3EA-2A00C6A078B3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E45677C-7103-4026-AEC7-719DD3604233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3F78F60-EF38-4D24-9E29-087DF885C579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328C616-A571-4B28-9F11-B9706C3AA4F6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1701934-CBED-4B3E-ACCF-0BC2CF96F07F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2520F7D-3AF7-4B81-AC04-DECB38F90354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DE42B5D-E325-420D-8A79-7C7E7112DD93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BF23FF8-97B8-4246-AF60-916A0235E389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2FC5A4F-CAD3-4D49-8F7F-C0223B70D2E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D3D7A2B-CEF8-4F8B-85EC-76CD387D8B13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eaLnBrk="1" latinLnBrk="0" hangingPunct="1"/>
            <a:fld id="{B37FA328-F8CC-4DA5-9300-48729342F3F3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9C3D5FF-1D01-428C-BF4E-6C13885CA336}" type="slidenum">
              <a:rPr lang="es-ES" smtClean="0"/>
              <a:pPr/>
              <a:t>‹Nº›</a:t>
            </a:fld>
            <a:endParaRPr lang="es-E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04" r:id="rId1"/>
    <p:sldLayoutId id="2147484805" r:id="rId2"/>
    <p:sldLayoutId id="2147484806" r:id="rId3"/>
    <p:sldLayoutId id="2147484807" r:id="rId4"/>
    <p:sldLayoutId id="2147484808" r:id="rId5"/>
    <p:sldLayoutId id="2147484809" r:id="rId6"/>
    <p:sldLayoutId id="2147484810" r:id="rId7"/>
    <p:sldLayoutId id="2147484811" r:id="rId8"/>
    <p:sldLayoutId id="2147484812" r:id="rId9"/>
    <p:sldLayoutId id="2147484813" r:id="rId10"/>
    <p:sldLayoutId id="214748481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5175" y="3717032"/>
            <a:ext cx="7772400" cy="1362456"/>
          </a:xfrm>
        </p:spPr>
        <p:txBody>
          <a:bodyPr>
            <a:normAutofit/>
          </a:bodyPr>
          <a:lstStyle/>
          <a:p>
            <a:pPr algn="ctr"/>
            <a:r>
              <a:rPr lang="es-ES" dirty="0" err="1" smtClean="0">
                <a:solidFill>
                  <a:schemeClr val="tx1"/>
                </a:solidFill>
              </a:rPr>
              <a:t>CSS</a:t>
            </a:r>
            <a:r>
              <a:rPr lang="es-ES" dirty="0" smtClean="0">
                <a:solidFill>
                  <a:schemeClr val="tx1"/>
                </a:solidFill>
              </a:rPr>
              <a:t> – VISUALIZACIÓN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" name="AutoShape 4" descr="data:image/jpeg;base64,/9j/4AAQSkZJRgABAQAAAQABAAD/2wCEAAkGBxITDxQUEhIWFBQVGBQXFRQVFBQUFRQXFRQWFxcUFRQYHSggGBolGxQUITEhJSkrLi4uFx8zODMsNygtLisBCgoKDg0OGxAQGywkHyQsLCwsLCwsLCwsLCwsLCwsLCwsLCwsLCwsLCwsLCwsLCwsLCwsLCwsLCwsLCwsLCwsLP/AABEIALQBGQMBEQACEQEDEQH/xAAbAAEAAgMBAQAAAAAAAAAAAAAABQYCAwQBB//EAEIQAAEDAgMEBgcFBwIHAAAAAAEAAhEDBBIhMQUGQVETYXGBkaEHIjJCUrHBcoKy0eEUIzNikqLC8PEVFiRDY4Pi/8QAGgEBAAMBAQEAAAAAAAAAAAAAAAIDBAEFBv/EACwRAAICAgIBBAIBAwUBAAAAAAABAhEDBBIhMQUTIkEyUWEUI3EVQoGR8OH/2gAMAwEAAhEDEQA/APuKAIAgCAIAgCAIAgCAIAgCAIAgCAIAgCAIAgCAIAgCAIAgCAIAgCAIAgCAIAgCAIAgCAIAgCAIAgCAIAgCAIAgCAIAgCAIAgCAIAgCAIAgCAIAgCAIAgCAIAgCAIAgCAIAgCAIAgCAIAgCAIAgCAIAgCAIAgCAIAgCAIAgCAIAgCAIAgCAIAgCAIAgCAIAgCAIAgCAIAgCAIAgCAIAgCAIAgCAIAgCAIAgEoAgCAIDyUFiUB7KAIAgCAIAgCAIAgCAIAgCAIAgCAIAgCAIAgCAIAgCAIDwlAeBwSmR5I5LnadGm7DUrU2O1hz2tMc4JXVjk/xQc4o5/wDmC1mOnpz9ofNW/wBNlq+JX7+P9nBdb7WVNxa6rmDBhro7jEFWQ0c0vohLbxx+zGhvxZu95w68Mj+2VbL0vOldEFu42Ql16T2Mc4fsdxAJAfDS0gH2vVJIB10XV6bOrkHuR/2mih6VqNQFtNg6QghjXEwXRkDlMdikvTrf5HP6ppXRw3PpA2i1pJtqMDM4HPcYHU4BaF6bFdO2VPdb8Mz2L6Ua1Z5YbaCAXEmWiAQNZPNcfpi/lf5D3JLt0XPd3eB1y9zTSwYQCXYpGZ00WHa1PYSuRp19j3CwLIaQgCAIAgCAwe8DXJEm/BxtLycjLzHPRwQJBcdARGUd6scOLqRSsvLuJC3u0ndJhFQmNSMhPUOS14sCceTPPz7MlLiib2cT0Ykkk5yVlyJKXR6GFtxtnQMgoFjaXbOX9rafZcJ61L22Zv6iLtJmuy2xTe7CfVfyPHsPFTnryirI4t7HN8fskgVnNx4XBd7ONpGp93Tb7T2jtcApKE34RFzivLPaN0x4lj2uHNpB+S44SXlBZIvwzg2zvFa2pY24qtpl8lgOrsMTHiPFShjlP8Tk8ih5I5++1oNHOd2MP1WqGhml4Rne7iRust77SoYx4D/OMPnouZNDPD/aSht45fZX96/SZRtLnoRSNUYGv6Rrxh9actDOg05qOLWb/J0Snnr8ezitvSh0pAptpydGlzsXgYW7H6ZGXfIyZNzJHzE67rfas6kRTptZUkQ4nG2OOWo81JelJS7doqfqVxIK533vGkhz4I+BrPyV8dHAvMSP9VkkrTO/Zm910WtcH42nOHtE8tRHEJP07A/CorW/ODpuymbzXF7Rmq28qu6SoZY4y1uLE6BJ9kREQux1eLqBOG17rfIx3W2xc1axa8wA0uL2kg8ABketXe211OJDLPgrgyc2psWlcOx1gX1IAxlzsWWmc8FxYYLpIzx2sj8lItGVBUaxlR4OIN9oke1GhW+WrCOPki/3X9n0N9Fo4LMm/Bju2UY1JuQ4aGo0jsxBblNSxUWuNF3qtyOXArEn3TIq0ypbt2TDcYmgeoCcuZyH18Ffmx44pcS5zlXZZdofwqn2XfIqmMlF2RUbZCbnEPY+qBEkME9Qk/MeCty51lkqJThw6Prm41rhoF/F7vJuXzlfM+o5OWWv0erpQqFlmWE2hAEAQHhXAYVqoa0ucYAzJPBdSb6RyTUVbKbtTatVxdUeHNotgMpADFUxSA5+ct7OC9LDigkkvP3/AAebmyTbbfg8qXD7axOWF7nmSDIGI5RyyAVkYRy5/wCCpuWLB15Nm7NkHtFV85mWjgY4nvXN3LxfCI09fkuUiyWjngHG4O5Q3DA+q8+VPwejBSXTMNrXWCi5wGLh2TlKlhhymkQ2JNQdEBQqlzHEHA6lm+QQQDp26ada2SXGSXlM8XhKUG/DRA3t+CZnPg4ZFeljwdUzxnkalaLPurvB0n7qofX90/GB9V5e7qPH84ro+i9M3/c/tzfZCekei5tWnUBIDmlpEmJaZ07D5KOnOrRu2I32UrH60EcJ18fp4r6DA4zXSPG2G8b7Oq1uX0zLHOYebXEfLVWT14T6kjNHblHwVv0g7SrV61I1XYsNPC0xHvEunr9nwXk5taOKfxR62tneWHy8nBusXmsAHODQCS2cjlGmmpC060ZXZVuSUYF1H+s1vaPI5tld31t5p03j3XEHscB9QsWzi5VR6GjlfaZwbpUZuB/KHHyj6q/FBRiWbUriy8NUzy0V68fiqOPWfLL6LLJ9nr4lUSV2Af3UcnO8/W/yV0X0Yc6qZq3uH/SOPJzT5x9VKD4uyWurlRzbjUf3b6nxHCD1NzJ8T5JknzJ7KrotEKpdGaPkomy6BO13t92m57/qPxBdeeUvj9HpTSjiv7LbtWthovPVA7TkPmumOK7KUdQeRB8CpQnSaNUl0XypoVFlMPJX9y7TBbufxqPce5pLR9T3rkLLs0raRNVvWpujMFrvMFSfghD8uzg3ZtOjtKTYzLcRHW/OPMKPUI2WZHzmfaNmWvR0WMHutA7+Pmvlssuc3I9vFHjBI61AsCAIAgPCgKhvptsU6tGjORmpU6mNBI8x5Lfo6sskZSMG1nUZpFQ2Rt4vviTEVCGjF7rWyWgDnML2NjRcNdV9HnYNnln7+y7GsCIIBHI5r55Nxdo9uUVJdmyjVDQABAGQAyAC6227YUUvBlcXbwxxYAXx6oOhPWuw48kpHMilxbiQw22+2LxVbLIxA4hm8gFzWg5lsnuW2Gqs1e2efPYlhtTKxX3kquDwA1ofk6BLi3P1S46jMr18fp2OLVni5Nyck0jiovc9wa0FzjkANStc+OONy6RijBzlxR30baqx5AltVoFSmPjggkAnWBi8IWLJnxzj12n0zVDWyY534a8Fr3hri72U2uNWFriORHqvHmSvC9v2M7g//I+lx5Vmwc/s+c1DD2nrLfH9QF7enKpNHm70bx2dQXonjLwQO+FGadN3JxB7CP8A5WPZx8uz0dGdNow3Po+2/saPmforcaVdHd19UWcKxnn+Di29QxW1QcQMX9Of0Krn+Jo13U0Q24gnpXx8LR5k/RV45cjZvLjUS429Iuc1o1cQ0d5j6ruSajFt/RhxR5SSKvWplrnNOrSQe4wsifJWevVOiT3ed/EHW0+II+gWiHgwbXUjZvZTxWNb7IP9Lgfok/BzVlWRHTu/a9Fa0mcQ0E9rsz81yKpHM0uU2dtCuHiW6S4d7SQfMFdIVRF2FjhvbmrHtCkB3tl3yCikrNGTJeNI17zVfUa3mZ7m/qQpsYkVmsPVPYVwufZe5kdykUfZx1iKFuY0Y2B28PNShG3RK7dnmxjNtTn4APDJGu6O/ZO7uWgfc02xk04iOpvD5LHuz44WX60eU0fTQvmk/s90yXQEAQBAeFcYPiG/V4X31Q6w4tH3ThhfZelwUMFs+Z2m5ZmbNn7LaaQeGONVpzYXYRAPExrHCeKy7W9/ccW+jVravwUq7LiyuvnpP9Hsm1tVcQNoqqcU26X2Rk0lbKRtPagvHMpso4ahdAcSJIg5Expx7l9Hra71YubfVHz+zljstRS7J2huoxoGeIw4kvHqRkC2BmDmSCOSyZPUJydfRatGEUjVQ3ffTqtq0zhhpcySHAPGjXGPZM5cUlu88fCXZGOlUuUSJ23Vu2OpurvkyXMEg4SIOUZcR4LbqQwTTUF9dmfaWaEk5f8ABZNw6pq07qg8RjGOIgDpAWmBwGhXmeqY4xlGUf8AH/Rt9LbcZRf+SjXlMgOB9ppOXW06eIU8E6pl+eHJNHRTMgEcV7V+D55qpNEdvNTm0qRq2HeB/KVVmVxNOm0sq/k93WoYbVnN0u8dPIBMKqPZ3cleRr9EqagBaDq6Y7hKm32UKNq0bHNkEHQgg9hUZK1Qi2pJkTunZdFQc069I/8AtOEfJV44cTVtzU5J/wAFz3Ut8d3T5Nlx+6MvMhZPUJ8cL/ks9PhyzIq29lv0d9cN/wDIT/VDv8lTryvGj0Mq+bNOwnRVI5t+RH5rbjMG0icuaIexzDo4QVNmOLa7PbmsGMc7kCR3aBRonFcpERunWJoOB1D3T96HfMqVF2ZEyXIkVV0Q29dthbQf8YqeDXAfUrOsnLI4/o3QhxgmVt5yVlnS621SabDza38IVqXRm+2Qe996G02snNxk9jf1K458C3FDkjt3aq4rWmftfiKKV9iSpn0DcG1l1SpGkMHfmf8AFeP6pk7UD0dGH2XMLyao9H7PUAQGMoD2UB45cYfg+TWmzcVzWfUb7D3YSfixTMdh1619BsbK/p4wgzydfB/dlJkg6QvFlyvs9NUZMqLiOs3tqKSRBs3MqdauxRbkqK5tKLso1XaMVHOosbSnIEAFw4EgnSY4L6jHq3Bc2fNZdmpPijKw2lUbUbUxkuaZGIly7m1YTjxoze/OE+Vktf713D2NAIY4HNzYz6iDKyYvTscZd9mt+o5XHwR3TOuMQqPc6pBNPlIzLABpIHkr5QjhacVS+znKWdNPyWz0X1nuNTEfVa0BuXIzr3ryvV1FNcT1fTeTTbRBb52fR31UAZOIePvCT5ys+tK4GrLGmyGsT6kfCS3wOXlC97FLlBM+d2Y8Zs23FLGxzfiBHiFNq0Vwlxaf6MranhY1o90AeAhKpCb5Nv8AZx7SP7xjp/hkHuMYv7Vmnk/uJGzDj/ttkoCtJiaPWADT/UrlHV/JbvR/QmpUf8LQ3vcZP4V4fq2TpRPa9Kx+ZFZ9Jlvh2gT8bGO8BhP4U0ZXA07CqRW9mviuzrkeLT+S9HGzBnjcSydIr6PProitv3YbSifaPyz/ACVeV8UadeFs4N2boF9UDk0/MfkuYJci3YgTVSstDVFCJP0jbOIt7VjPbpsOKRkcWGc+0FfP4Mz5yl+2e1PElGK/g+XXLazfaYe7MLV7xV7RZbK9JpMAmcLch2L0458agrMLxTcmcW1tlOrODi4gxAHLu715+fJKc7ibcGPiiZ3e2RXZRa3E3DJIMHQnkpR2JVVEJYVKR9V3RinbtYRnJJdzJ49S8bbm55OTPR14KMOiwgrMXnqAIDFAJQCVxgpG124bioIIkyOvKcu4jwWpdxRR4bOBz1KhdnmIcl1RRFtmTSF2l9nLIHey7cAxgya6STOscPOV7fpmCMuzzN/K0qK4169ujxHH7NtJy5JEXE9NwNFHiTUTNlUtIc0wQZB5EKM4KS4v7LYNxdo+oejqmTbmoWhoccgOsyT3zPevkvUmll4r6PptNP27I70nWedGqP5mO/E3/JVakvKJ514ZRLcw9w5gHwyP+K+g05WqPC3od2dQcttHn0ZByi0dSdkfcmS6eM/kvKyzTnZ7WGFY6OuwrYqTTxiD2jI+YXo43yimeXlhxmzpxKdEEj6JuDQw2hd8b3HubDR+Er5j1GfLMz6P0+HHEVL0v1GipRc3N+FwI6pBBnxUdTLw6LdjHy7PmlvtB3TMkR67fnB+a9LDluRizY/iy3VLmOK9dcftnlqLIrall04BmImF5e5kuVI9LUh12c2wtlV2VjgGIFpBgxxEEyo62V4/KJ7GNSiW7ZWzKvTUzVAwhzSQDJMGY5K7PstwaXRVi11yRYduVRWrO6ob4a+a8rBBqJvyO2Q1TY86DVXUVkzS2KGgANAjkFYskaK+PZG3WyR0pEakR3x+an7i4E0ix0dkhoAHAALN7xziT+zLUCmO/wCa87LK5G7EuiQCrLAgCAxQHiA8KAr29Vk0t6UjICH/AGZkHuJPirsUn4RVNJdsrburPrV0k4vvz+iEfNLs1EriYPQV2zlEdtzZhrNBaYc2YB0M8Oor0tLcWGVMx7Wv7iK23ZleSOidI6vrovee5iq7PI/pcl1R3f8AAa4ZiIboSRiEgATms/8AqOJz4pk5aU1HkyMbC331ZlJHZNh0tVrOeZHUOA7TAWLb2Pag5GnUw+5ko+1bKtBSpNYOAzjmvi8k3KTkfURgoLiiL33s+ksakDNkPH3dfKVZglU0Ryq4nxqpct6RsHOSO4j8wF72lkSnR5G3juNnYKq9nieRxNtA4nNaPeIb4kD6qjP8INluGHOaRHb4XRddVeiGFmKAPsiCZ7l8xDO35PovZrwc+wLz1HNccw6c+Tv1BXuaeSLh2zyNvE1LpErTuwTAzPVJV88+OP2UQ15y+j7JsSh0drSYODGzHMiT5kr5LYnyyNn0mCHGCR8+35pdJdOGuABvlJ+alBUhJ9lZo7Ca+o1pbMuHdnqr8TdlWT8WW+huzRHuSebiXfNb3k/bMCOXauy8L4aIBAMDTl9FBfJl8PB37vbJhrnEamO4Lk506OSX0TtOzDSDGmfgqp5LVCHTI5luHEniST4mUg0kWNOzts7WajRyzPcmSdROUTIt1l5nUji/YJuZ4AA9+il7nxJUSbaIVXJnaOugICpk7NOPwbFwmEAQHiAxKAxcUBpqkEEHMHIg6Eciuq76ONJqj5Xt/Z9Wwql1MY7dxyB92fdJ908jxX0OvLDtw4z6mjx8vu4JWvBls/abKzZGR0LTE93MLBs6uTC/FmzBnhlX6OvEsjdGhJszBQ5Rm0pyYo25FpxezBmdIjOVZjclL4kJ/j2Uio1oqnCCQS7AwCSQT6ohfWwk1i+R83OPKfFH0ncvdnof31b+I4ezwbPBfN+ob/uvhHwe5p6ntdy8lrrXQaF5R6KKfvptGobWoA4gERllrkkSMl0fHqli8GWjMGV6WDLxyJmTLBSiTVCzru0pnvyC+ge9FrpHjrWlfZM7H2Y+nUFWrEMBdAM5gGJWHb2Jzh0a9bFGM7ZEG1LjJzJM+K8SKZ6j8k9u/sFjgXOYHZgCRy1+a34korsxZ5uyy0NmgaNA7BCm8iRnV/st2y2xSb2R4LyMn5nr4pXAod4zpKr3/E4nzy8lavBBvs7NhbOBrSR7IJ8cvqpKVFObwWRtoF15GZ6IzbltGEgcx9VPHkLYIlbC0w02jqz7TmVVOduw12dJohQ5HUivU7YSrI2y76JjZlHU9gXM0voi0d0Zqk4keinmTxMeX+642So9a3VGdSs3MGSgXx8GSEggCAIDByA56z4QEfcXMJVghtoXQc0tcAWkQQdCFLHNxfJdM5OKmqaPn219gtDsVEx/KTp9ly9zW9UT+OY8vNoPzBmGwq9cVgx5dhg5EYhPD1uCnuf008fLGR1/fjOploYvEPT8mxpQUKlUQRIzBHiFOGTjIjKFxIvZ+wmsIeyrUZVGlRuHKeGBwIWzN6jKfVdGfFpRx9/ZYKFa+aMq1KoP56bmHvLHEeSw8sL8po0pZF9nSLm+P/Ztz/76o8jSK6o4f2zjeVeKIfef9p6ICpSpNDnD2az3nLPQ0xkrIRw/tkHLN9pf9/8AwrlvY1C4DCzMji78lfCOLl02VTeVR7os1OxuPipD7jz/AJBbHkivBh4y+2b/APhtyQRjomRGdN41+8qpZItU0SXTIQWVdhM0mPj4Hw7+l4A81VCEF4NnKTRZth3FLC2mcVOpmejqNLHGcyWg5OGmYlRk39GaTt9k/ToqlyCR01H4aD+wx35LPLuRvwv4FZZbqwkTWxbaA484Hh/uoyZRPskozAUbIcTVdW+IN6nA93FdjKiaVG94yKidoyaFxkkiMNDM9pWiL6Okja04aFRN2yVHrD6y4EjY4LlnUjGiwgLsmiXE3BQJo9Q6EAQHhQGqoUBHXdVAQN7cICFubhAcDmlxQ4aLotYOs6cytGLHOX30Vymo/wCTOkxwzLjPaYHUFFpLpHY2+zbhPEnxK4SNlOkuAkbYdSNAl7YhRoEzbUwokiE3vIx02hpMAnxMfRWQK5kXsy0JqA4YjPNacXTtlOZ/EnG0DxIHcr3NGOjeyh1uPYqnMcSMvNmE1fbcMUEDLPmuqao0R/E772zD2YKrMbeB9lzSNHNcPZPWFFP9FLhbPdm1q1Om5tQGthdDHNLcbmRljbPtDMGNdVXKCkyXGUV0jtNV1WgCGOaXH2HiHQCeCr8SNGH8TiZRzVkeybZM2lOGDxVUn2VtGZ9oLn0SUTdCjZ3ia6qkjvE2NGSizqRz1aJnTIqan0d4nUGquySQwBc5EqMgEFHqHQgCAIAgBQGitogIa/KAr14gIuqwkoDKoAxhJ71bixuUiucklZAtl9UE8/DqC9Vw9uHRgUuU7J1tJeW/2egbqdqVwHbRsl0GylXaH4XNgAxK1PWahaM6zfKmSjDSBHrDPiDMdqz+2/st9xEza3LcMNBd2NPzKqlAmpddEJtX16xJkQAI4jL9SrIxog5WZ2NuMzmO9XXSKMhI06QGgUGyqjOmZErjFGupRl7XfDPmEvo6nRA73bR6NjYHvAns4qyOP4ncb7JLddxOcyCJ/VZpt3TNsaZYoUCTijhu7bOeZVuOX0VTjR0sGSgyKBYuWT4mwBcs6kMHNLJ8TIBcO0eoAgCAIAgCAIAgCAIDVV0QEResQEJcUUByfs0AuPBTxwcpURlLjGyKvKDnmT3DgF7mHFGK6PMnNy8nMNnqcl8WQj5LTS2fkF4cvyZ6kO0dlKxXCR3ULHqQicNzZ/vXZcfot2PJ8DDl/M7bLL1SAWnUEc1TlV9ncc3dE20ABYvs9BVRXqtOXuPMlXorZ32dL1V1szz7Ojo1GzkYnjKUI5E5wDqa7ZDj0VveXZ5fTceDYJ78svFXLJSOwifNGb83Ng8Mphr2QRDpyLSQQD3LTk14zimiMcriyTb6YLojK3p/1O/JI+m33ZyW7X0dltvpfXApvJYxgq08bWNMluMSC4k5R2LX/p2KMX+6Mkt+UpqJ9aptyXz7f0evGCo2LhYEAQBAEAQBAEAQBAEAQBAEBregOG4poCPqW6A03lCKOmpH5/RadX87KM7+NHCLcHgvQeWvsw8bO2nsHnA7iqXtl8cBL0bIAAAaCFilK3ZqiqVHSy3HJQ5HaNzWQotnUjiv6EkEa8Vbik0qMmyknZgyjCm5GdHVRcdDoqZLs14pv7OAUlMuZ3UWQAotlLXZtYFFkors9c1Ey2UbMcKWV8TF9sHNc0jJwgpyd2TjDo+N74bg1jUJZDhJMGRmeIPWvVwbEeNSMeTC14IrZ26Fy3J1IHtd+i9LFuY4RqjDl1Zz8MuW7+6NY5Ow02EgmJccuUgZrLteoJrolg9P+SbZ9NY2O5eA+3Z7aVGSHQgCAIAgCAIAgCAIAgCAIAgMXBAaKjEBzmkgNlG2bnImeBU1N/RBwV2zdStmt0aAuSm2OCNuFRJUewgoIDzGOa7TOOcV9nNUMlWR6MeWSk+jyF0ro3U2Kts1Y4WY1aXEImXNdGbWJZBQ7M2tXGyajR6uEj1AeIDCpSDtRK6pNHHFM1CyYPdUubI8Eb2sAGQUG2ySVGSHQgCAIAgCAIAgCAIAgCAIAgCAIDBwQGBYgGHwXURZtC4SPUB4UBz3LzorIIy55tdI0ypmX/kyC4SRm1qi2WQg2zoaFWzZGNGSEggCAIAgCAIAgCAIAgCAIAgCAIAgCAIAgCAIAgCAIAgPIQCEB4EOLoyQ6EBpq0pUoyooy4uXaNOBTbM3tuzNlNcbLYYze0KDNSVGS4dCAIAgCAIAgCAIAgCAIAgCAIAgCAIAgCAIAgCAIAgCAIAgCA8hBQCA9QHiAwNNdsqePuzINXCaijJCQQBAEAQBAEAQBAEAQBAEAQBAEAQBAEAQBAEAQBAEAQBAEAQBAEAQBAEB4gPUAQBAEAQBAEAQBAEAQBAEAQBAEAQBAEAQBAEAQBAEAQH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" name="AutoShape 6" descr="data:image/jpeg;base64,/9j/4AAQSkZJRgABAQAAAQABAAD/2wCEAAkGBxITDxQUEhIWFBQVGBQXFRQVFBQUFRQXFRQWFxcUFRQYHSggGBolGxQUITEhJSkrLi4uFx8zODMsNygtLisBCgoKDg0OGxAQGywkHyQsLCwsLCwsLCwsLCwsLCwsLCwsLCwsLCwsLCwsLCwsLCwsLCwsLCwsLCwsLCwsLCwsLP/AABEIALQBGQMBEQACEQEDEQH/xAAbAAEAAgMBAQAAAAAAAAAAAAAABQYCAwQBB//EAEIQAAEDAgMEBgcFBwIHAAAAAAEAAhEDBBIhMQUGQVETYXGBkaEHIjJCUrHBcoKy0eEUIzNikqLC8PEVFiRDY4Pi/8QAGgEBAAMBAQEAAAAAAAAAAAAAAAIDBAEFBv/EACwRAAICAgIBBAIBAwUBAAAAAAABAhEDBBIhMQUTIkEyUWEUI3EVQoGR8OH/2gAMAwEAAhEDEQA/APuKAIAgCAIAgCAIAgCAIAgCAIAgCAIAgCAIAgCAIAgCAIAgCAIAgCAIAgCAIAgCAIAgCAIAgCAIAgCAIAgCAIAgCAIAgCAIAgCAIAgCAIAgCAIAgCAIAgCAIAgCAIAgCAIAgCAIAgCAIAgCAIAgCAIAgCAIAgCAIAgCAIAgCAIAgCAIAgCAIAgCAIAgCAIAgCAIAgCAIAgCAIAgCAIAgCAIAgCAIAgCAIAgEoAgCAIDyUFiUB7KAIAgCAIAgCAIAgCAIAgCAIAgCAIAgCAIAgCAIAgCAIDwlAeBwSmR5I5LnadGm7DUrU2O1hz2tMc4JXVjk/xQc4o5/wDmC1mOnpz9ofNW/wBNlq+JX7+P9nBdb7WVNxa6rmDBhro7jEFWQ0c0vohLbxx+zGhvxZu95w68Mj+2VbL0vOldEFu42Ql16T2Mc4fsdxAJAfDS0gH2vVJIB10XV6bOrkHuR/2mih6VqNQFtNg6QghjXEwXRkDlMdikvTrf5HP6ppXRw3PpA2i1pJtqMDM4HPcYHU4BaF6bFdO2VPdb8Mz2L6Ua1Z5YbaCAXEmWiAQNZPNcfpi/lf5D3JLt0XPd3eB1y9zTSwYQCXYpGZ00WHa1PYSuRp19j3CwLIaQgCAIAgCAwe8DXJEm/BxtLycjLzHPRwQJBcdARGUd6scOLqRSsvLuJC3u0ndJhFQmNSMhPUOS14sCceTPPz7MlLiib2cT0Ykkk5yVlyJKXR6GFtxtnQMgoFjaXbOX9rafZcJ61L22Zv6iLtJmuy2xTe7CfVfyPHsPFTnryirI4t7HN8fskgVnNx4XBd7ONpGp93Tb7T2jtcApKE34RFzivLPaN0x4lj2uHNpB+S44SXlBZIvwzg2zvFa2pY24qtpl8lgOrsMTHiPFShjlP8Tk8ih5I5++1oNHOd2MP1WqGhml4Rne7iRust77SoYx4D/OMPnouZNDPD/aSht45fZX96/SZRtLnoRSNUYGv6Rrxh9actDOg05qOLWb/J0Snnr8ezitvSh0pAptpydGlzsXgYW7H6ZGXfIyZNzJHzE67rfas6kRTptZUkQ4nG2OOWo81JelJS7doqfqVxIK533vGkhz4I+BrPyV8dHAvMSP9VkkrTO/Zm910WtcH42nOHtE8tRHEJP07A/CorW/ODpuymbzXF7Rmq28qu6SoZY4y1uLE6BJ9kREQux1eLqBOG17rfIx3W2xc1axa8wA0uL2kg8ABketXe211OJDLPgrgyc2psWlcOx1gX1IAxlzsWWmc8FxYYLpIzx2sj8lItGVBUaxlR4OIN9oke1GhW+WrCOPki/3X9n0N9Fo4LMm/Bju2UY1JuQ4aGo0jsxBblNSxUWuNF3qtyOXArEn3TIq0ypbt2TDcYmgeoCcuZyH18Ffmx44pcS5zlXZZdofwqn2XfIqmMlF2RUbZCbnEPY+qBEkME9Qk/MeCty51lkqJThw6Prm41rhoF/F7vJuXzlfM+o5OWWv0erpQqFlmWE2hAEAQHhXAYVqoa0ucYAzJPBdSb6RyTUVbKbtTatVxdUeHNotgMpADFUxSA5+ct7OC9LDigkkvP3/AAebmyTbbfg8qXD7axOWF7nmSDIGI5RyyAVkYRy5/wCCpuWLB15Nm7NkHtFV85mWjgY4nvXN3LxfCI09fkuUiyWjngHG4O5Q3DA+q8+VPwejBSXTMNrXWCi5wGLh2TlKlhhymkQ2JNQdEBQqlzHEHA6lm+QQQDp26ada2SXGSXlM8XhKUG/DRA3t+CZnPg4ZFeljwdUzxnkalaLPurvB0n7qofX90/GB9V5e7qPH84ro+i9M3/c/tzfZCekei5tWnUBIDmlpEmJaZ07D5KOnOrRu2I32UrH60EcJ18fp4r6DA4zXSPG2G8b7Oq1uX0zLHOYebXEfLVWT14T6kjNHblHwVv0g7SrV61I1XYsNPC0xHvEunr9nwXk5taOKfxR62tneWHy8nBusXmsAHODQCS2cjlGmmpC060ZXZVuSUYF1H+s1vaPI5tld31t5p03j3XEHscB9QsWzi5VR6GjlfaZwbpUZuB/KHHyj6q/FBRiWbUriy8NUzy0V68fiqOPWfLL6LLJ9nr4lUSV2Af3UcnO8/W/yV0X0Yc6qZq3uH/SOPJzT5x9VKD4uyWurlRzbjUf3b6nxHCD1NzJ8T5JknzJ7KrotEKpdGaPkomy6BO13t92m57/qPxBdeeUvj9HpTSjiv7LbtWthovPVA7TkPmumOK7KUdQeRB8CpQnSaNUl0XypoVFlMPJX9y7TBbufxqPce5pLR9T3rkLLs0raRNVvWpujMFrvMFSfghD8uzg3ZtOjtKTYzLcRHW/OPMKPUI2WZHzmfaNmWvR0WMHutA7+Pmvlssuc3I9vFHjBI61AsCAIAgPCgKhvptsU6tGjORmpU6mNBI8x5Lfo6sskZSMG1nUZpFQ2Rt4vviTEVCGjF7rWyWgDnML2NjRcNdV9HnYNnln7+y7GsCIIBHI5r55Nxdo9uUVJdmyjVDQABAGQAyAC6227YUUvBlcXbwxxYAXx6oOhPWuw48kpHMilxbiQw22+2LxVbLIxA4hm8gFzWg5lsnuW2Gqs1e2efPYlhtTKxX3kquDwA1ofk6BLi3P1S46jMr18fp2OLVni5Nyck0jiovc9wa0FzjkANStc+OONy6RijBzlxR30baqx5AltVoFSmPjggkAnWBi8IWLJnxzj12n0zVDWyY534a8Fr3hri72U2uNWFriORHqvHmSvC9v2M7g//I+lx5Vmwc/s+c1DD2nrLfH9QF7enKpNHm70bx2dQXonjLwQO+FGadN3JxB7CP8A5WPZx8uz0dGdNow3Po+2/saPmforcaVdHd19UWcKxnn+Di29QxW1QcQMX9Of0Krn+Jo13U0Q24gnpXx8LR5k/RV45cjZvLjUS429Iuc1o1cQ0d5j6ruSajFt/RhxR5SSKvWplrnNOrSQe4wsifJWevVOiT3ed/EHW0+II+gWiHgwbXUjZvZTxWNb7IP9Lgfok/BzVlWRHTu/a9Fa0mcQ0E9rsz81yKpHM0uU2dtCuHiW6S4d7SQfMFdIVRF2FjhvbmrHtCkB3tl3yCikrNGTJeNI17zVfUa3mZ7m/qQpsYkVmsPVPYVwufZe5kdykUfZx1iKFuY0Y2B28PNShG3RK7dnmxjNtTn4APDJGu6O/ZO7uWgfc02xk04iOpvD5LHuz44WX60eU0fTQvmk/s90yXQEAQBAeFcYPiG/V4X31Q6w4tH3ThhfZelwUMFs+Z2m5ZmbNn7LaaQeGONVpzYXYRAPExrHCeKy7W9/ccW+jVravwUq7LiyuvnpP9Hsm1tVcQNoqqcU26X2Rk0lbKRtPagvHMpso4ahdAcSJIg5Expx7l9Hra71YubfVHz+zljstRS7J2huoxoGeIw4kvHqRkC2BmDmSCOSyZPUJydfRatGEUjVQ3ffTqtq0zhhpcySHAPGjXGPZM5cUlu88fCXZGOlUuUSJ23Vu2OpurvkyXMEg4SIOUZcR4LbqQwTTUF9dmfaWaEk5f8ABZNw6pq07qg8RjGOIgDpAWmBwGhXmeqY4xlGUf8AH/Rt9LbcZRf+SjXlMgOB9ppOXW06eIU8E6pl+eHJNHRTMgEcV7V+D55qpNEdvNTm0qRq2HeB/KVVmVxNOm0sq/k93WoYbVnN0u8dPIBMKqPZ3cleRr9EqagBaDq6Y7hKm32UKNq0bHNkEHQgg9hUZK1Qi2pJkTunZdFQc069I/8AtOEfJV44cTVtzU5J/wAFz3Ut8d3T5Nlx+6MvMhZPUJ8cL/ks9PhyzIq29lv0d9cN/wDIT/VDv8lTryvGj0Mq+bNOwnRVI5t+RH5rbjMG0icuaIexzDo4QVNmOLa7PbmsGMc7kCR3aBRonFcpERunWJoOB1D3T96HfMqVF2ZEyXIkVV0Q29dthbQf8YqeDXAfUrOsnLI4/o3QhxgmVt5yVlnS621SabDza38IVqXRm+2Qe996G02snNxk9jf1K458C3FDkjt3aq4rWmftfiKKV9iSpn0DcG1l1SpGkMHfmf8AFeP6pk7UD0dGH2XMLyao9H7PUAQGMoD2UB45cYfg+TWmzcVzWfUb7D3YSfixTMdh1619BsbK/p4wgzydfB/dlJkg6QvFlyvs9NUZMqLiOs3tqKSRBs3MqdauxRbkqK5tKLso1XaMVHOosbSnIEAFw4EgnSY4L6jHq3Bc2fNZdmpPijKw2lUbUbUxkuaZGIly7m1YTjxoze/OE+Vktf713D2NAIY4HNzYz6iDKyYvTscZd9mt+o5XHwR3TOuMQqPc6pBNPlIzLABpIHkr5QjhacVS+znKWdNPyWz0X1nuNTEfVa0BuXIzr3ryvV1FNcT1fTeTTbRBb52fR31UAZOIePvCT5ys+tK4GrLGmyGsT6kfCS3wOXlC97FLlBM+d2Y8Zs23FLGxzfiBHiFNq0Vwlxaf6MranhY1o90AeAhKpCb5Nv8AZx7SP7xjp/hkHuMYv7Vmnk/uJGzDj/ttkoCtJiaPWADT/UrlHV/JbvR/QmpUf8LQ3vcZP4V4fq2TpRPa9Kx+ZFZ9Jlvh2gT8bGO8BhP4U0ZXA07CqRW9mviuzrkeLT+S9HGzBnjcSydIr6PProitv3YbSifaPyz/ACVeV8UadeFs4N2boF9UDk0/MfkuYJci3YgTVSstDVFCJP0jbOIt7VjPbpsOKRkcWGc+0FfP4Mz5yl+2e1PElGK/g+XXLazfaYe7MLV7xV7RZbK9JpMAmcLch2L0458agrMLxTcmcW1tlOrODi4gxAHLu715+fJKc7ibcGPiiZ3e2RXZRa3E3DJIMHQnkpR2JVVEJYVKR9V3RinbtYRnJJdzJ49S8bbm55OTPR14KMOiwgrMXnqAIDFAJQCVxgpG124bioIIkyOvKcu4jwWpdxRR4bOBz1KhdnmIcl1RRFtmTSF2l9nLIHey7cAxgya6STOscPOV7fpmCMuzzN/K0qK4169ujxHH7NtJy5JEXE9NwNFHiTUTNlUtIc0wQZB5EKM4KS4v7LYNxdo+oejqmTbmoWhoccgOsyT3zPevkvUmll4r6PptNP27I70nWedGqP5mO/E3/JVakvKJ514ZRLcw9w5gHwyP+K+g05WqPC3od2dQcttHn0ZByi0dSdkfcmS6eM/kvKyzTnZ7WGFY6OuwrYqTTxiD2jI+YXo43yimeXlhxmzpxKdEEj6JuDQw2hd8b3HubDR+Er5j1GfLMz6P0+HHEVL0v1GipRc3N+FwI6pBBnxUdTLw6LdjHy7PmlvtB3TMkR67fnB+a9LDluRizY/iy3VLmOK9dcftnlqLIrall04BmImF5e5kuVI9LUh12c2wtlV2VjgGIFpBgxxEEyo62V4/KJ7GNSiW7ZWzKvTUzVAwhzSQDJMGY5K7PstwaXRVi11yRYduVRWrO6ob4a+a8rBBqJvyO2Q1TY86DVXUVkzS2KGgANAjkFYskaK+PZG3WyR0pEakR3x+an7i4E0ix0dkhoAHAALN7xziT+zLUCmO/wCa87LK5G7EuiQCrLAgCAxQHiA8KAr29Vk0t6UjICH/AGZkHuJPirsUn4RVNJdsrburPrV0k4vvz+iEfNLs1EriYPQV2zlEdtzZhrNBaYc2YB0M8Oor0tLcWGVMx7Wv7iK23ZleSOidI6vrovee5iq7PI/pcl1R3f8AAa4ZiIboSRiEgATms/8AqOJz4pk5aU1HkyMbC331ZlJHZNh0tVrOeZHUOA7TAWLb2Pag5GnUw+5ko+1bKtBSpNYOAzjmvi8k3KTkfURgoLiiL33s+ksakDNkPH3dfKVZglU0Ryq4nxqpct6RsHOSO4j8wF72lkSnR5G3juNnYKq9nieRxNtA4nNaPeIb4kD6qjP8INluGHOaRHb4XRddVeiGFmKAPsiCZ7l8xDO35PovZrwc+wLz1HNccw6c+Tv1BXuaeSLh2zyNvE1LpErTuwTAzPVJV88+OP2UQ15y+j7JsSh0drSYODGzHMiT5kr5LYnyyNn0mCHGCR8+35pdJdOGuABvlJ+alBUhJ9lZo7Ca+o1pbMuHdnqr8TdlWT8WW+huzRHuSebiXfNb3k/bMCOXauy8L4aIBAMDTl9FBfJl8PB37vbJhrnEamO4Lk506OSX0TtOzDSDGmfgqp5LVCHTI5luHEniST4mUg0kWNOzts7WajRyzPcmSdROUTIt1l5nUji/YJuZ4AA9+il7nxJUSbaIVXJnaOugICpk7NOPwbFwmEAQHiAxKAxcUBpqkEEHMHIg6Eciuq76ONJqj5Xt/Z9Wwql1MY7dxyB92fdJ908jxX0OvLDtw4z6mjx8vu4JWvBls/abKzZGR0LTE93MLBs6uTC/FmzBnhlX6OvEsjdGhJszBQ5Rm0pyYo25FpxezBmdIjOVZjclL4kJ/j2Uio1oqnCCQS7AwCSQT6ohfWwk1i+R83OPKfFH0ncvdnof31b+I4ezwbPBfN+ob/uvhHwe5p6ntdy8lrrXQaF5R6KKfvptGobWoA4gERllrkkSMl0fHqli8GWjMGV6WDLxyJmTLBSiTVCzru0pnvyC+ge9FrpHjrWlfZM7H2Y+nUFWrEMBdAM5gGJWHb2Jzh0a9bFGM7ZEG1LjJzJM+K8SKZ6j8k9u/sFjgXOYHZgCRy1+a34korsxZ5uyy0NmgaNA7BCm8iRnV/st2y2xSb2R4LyMn5nr4pXAod4zpKr3/E4nzy8lavBBvs7NhbOBrSR7IJ8cvqpKVFObwWRtoF15GZ6IzbltGEgcx9VPHkLYIlbC0w02jqz7TmVVOduw12dJohQ5HUivU7YSrI2y76JjZlHU9gXM0voi0d0Zqk4keinmTxMeX+642So9a3VGdSs3MGSgXx8GSEggCAIDByA56z4QEfcXMJVghtoXQc0tcAWkQQdCFLHNxfJdM5OKmqaPn219gtDsVEx/KTp9ly9zW9UT+OY8vNoPzBmGwq9cVgx5dhg5EYhPD1uCnuf008fLGR1/fjOploYvEPT8mxpQUKlUQRIzBHiFOGTjIjKFxIvZ+wmsIeyrUZVGlRuHKeGBwIWzN6jKfVdGfFpRx9/ZYKFa+aMq1KoP56bmHvLHEeSw8sL8po0pZF9nSLm+P/Ztz/76o8jSK6o4f2zjeVeKIfef9p6ICpSpNDnD2az3nLPQ0xkrIRw/tkHLN9pf9/8AwrlvY1C4DCzMji78lfCOLl02VTeVR7os1OxuPipD7jz/AJBbHkivBh4y+2b/APhtyQRjomRGdN41+8qpZItU0SXTIQWVdhM0mPj4Hw7+l4A81VCEF4NnKTRZth3FLC2mcVOpmejqNLHGcyWg5OGmYlRk39GaTt9k/ToqlyCR01H4aD+wx35LPLuRvwv4FZZbqwkTWxbaA484Hh/uoyZRPskozAUbIcTVdW+IN6nA93FdjKiaVG94yKidoyaFxkkiMNDM9pWiL6Okja04aFRN2yVHrD6y4EjY4LlnUjGiwgLsmiXE3BQJo9Q6EAQHhQGqoUBHXdVAQN7cICFubhAcDmlxQ4aLotYOs6cytGLHOX30Vymo/wCTOkxwzLjPaYHUFFpLpHY2+zbhPEnxK4SNlOkuAkbYdSNAl7YhRoEzbUwokiE3vIx02hpMAnxMfRWQK5kXsy0JqA4YjPNacXTtlOZ/EnG0DxIHcr3NGOjeyh1uPYqnMcSMvNmE1fbcMUEDLPmuqao0R/E772zD2YKrMbeB9lzSNHNcPZPWFFP9FLhbPdm1q1Om5tQGthdDHNLcbmRljbPtDMGNdVXKCkyXGUV0jtNV1WgCGOaXH2HiHQCeCr8SNGH8TiZRzVkeybZM2lOGDxVUn2VtGZ9oLn0SUTdCjZ3ia6qkjvE2NGSizqRz1aJnTIqan0d4nUGquySQwBc5EqMgEFHqHQgCAIAgBQGitogIa/KAr14gIuqwkoDKoAxhJ71bixuUiucklZAtl9UE8/DqC9Vw9uHRgUuU7J1tJeW/2egbqdqVwHbRsl0GylXaH4XNgAxK1PWahaM6zfKmSjDSBHrDPiDMdqz+2/st9xEza3LcMNBd2NPzKqlAmpddEJtX16xJkQAI4jL9SrIxog5WZ2NuMzmO9XXSKMhI06QGgUGyqjOmZErjFGupRl7XfDPmEvo6nRA73bR6NjYHvAns4qyOP4ncb7JLddxOcyCJ/VZpt3TNsaZYoUCTijhu7bOeZVuOX0VTjR0sGSgyKBYuWT4mwBcs6kMHNLJ8TIBcO0eoAgCAIAgCAIAgCAIDVV0QEResQEJcUUByfs0AuPBTxwcpURlLjGyKvKDnmT3DgF7mHFGK6PMnNy8nMNnqcl8WQj5LTS2fkF4cvyZ6kO0dlKxXCR3ULHqQicNzZ/vXZcfot2PJ8DDl/M7bLL1SAWnUEc1TlV9ncc3dE20ABYvs9BVRXqtOXuPMlXorZ32dL1V1szz7Ojo1GzkYnjKUI5E5wDqa7ZDj0VveXZ5fTceDYJ78svFXLJSOwifNGb83Ng8Mphr2QRDpyLSQQD3LTk14zimiMcriyTb6YLojK3p/1O/JI+m33ZyW7X0dltvpfXApvJYxgq08bWNMluMSC4k5R2LX/p2KMX+6Mkt+UpqJ9aptyXz7f0evGCo2LhYEAQBAEAQBAEAQBAEAQBAEBregOG4poCPqW6A03lCKOmpH5/RadX87KM7+NHCLcHgvQeWvsw8bO2nsHnA7iqXtl8cBL0bIAAAaCFilK3ZqiqVHSy3HJQ5HaNzWQotnUjiv6EkEa8Vbik0qMmyknZgyjCm5GdHVRcdDoqZLs14pv7OAUlMuZ3UWQAotlLXZtYFFkors9c1Ey2UbMcKWV8TF9sHNc0jJwgpyd2TjDo+N74bg1jUJZDhJMGRmeIPWvVwbEeNSMeTC14IrZ26Fy3J1IHtd+i9LFuY4RqjDl1Zz8MuW7+6NY5Ow02EgmJccuUgZrLteoJrolg9P+SbZ9NY2O5eA+3Z7aVGSHQgCAIAgCAIAgCAIAgCAIAgMXBAaKjEBzmkgNlG2bnImeBU1N/RBwV2zdStmt0aAuSm2OCNuFRJUewgoIDzGOa7TOOcV9nNUMlWR6MeWSk+jyF0ro3U2Kts1Y4WY1aXEImXNdGbWJZBQ7M2tXGyajR6uEj1AeIDCpSDtRK6pNHHFM1CyYPdUubI8Eb2sAGQUG2ySVGSHQgCAIAgCAIAgCAIAgCAIAgCAIDBwQGBYgGHwXURZtC4SPUB4UBz3LzorIIy55tdI0ypmX/kyC4SRm1qi2WQg2zoaFWzZGNGSEggCAIAgCAIAgCAIAgCAIAgCAIAgCAIAgCAIAgCAIAgPIQCEB4EOLoyQ6EBpq0pUoyooy4uXaNOBTbM3tuzNlNcbLYYze0KDNSVGS4dCAIAgCAIAgCAIAgCAIAgCAIAgCAIAgCAIAgCAIAgCAIAgCA8hBQCA9QHiAwNNdsqePuzINXCaijJCQQBAEAQBAEAQBAEAQBAEAQBAEAQBAEAQBAEAQBAEAQBAEAQBAEAQBAEB4gPUAQBAEAQBAEAQBAEAQBAEAQBAEAQBAEAQBAEAQBAEAQH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8" name="Marcador de número de diapositiva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5" name="AutoShape 2" descr="Resultado de imagen de css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1484784"/>
            <a:ext cx="21336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4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b="1" dirty="0">
              <a:latin typeface="+mj-lt"/>
            </a:endParaRPr>
          </a:p>
          <a:p>
            <a:pPr marL="0" lvl="1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b="1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981075" lvl="3" indent="-28575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600" b="1" dirty="0" smtClean="0">
              <a:latin typeface="+mj-lt"/>
            </a:endParaRPr>
          </a:p>
          <a:p>
            <a:pPr marL="463550" lvl="3" indent="-28575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b="1" dirty="0" smtClean="0">
                <a:latin typeface="+mj-lt"/>
              </a:rPr>
              <a:t>block</a:t>
            </a:r>
            <a:r>
              <a:rPr lang="es-ES" dirty="0" smtClean="0">
                <a:latin typeface="+mj-lt"/>
              </a:rPr>
              <a:t> </a:t>
            </a:r>
            <a:r>
              <a:rPr lang="es-ES" dirty="0">
                <a:latin typeface="+mj-lt"/>
              </a:rPr>
              <a:t>muestra un elemento </a:t>
            </a:r>
            <a:r>
              <a:rPr lang="es-ES" dirty="0" smtClean="0">
                <a:latin typeface="+mj-lt"/>
              </a:rPr>
              <a:t>como si </a:t>
            </a:r>
            <a:r>
              <a:rPr lang="es-ES" dirty="0">
                <a:latin typeface="+mj-lt"/>
              </a:rPr>
              <a:t>fuera un elemento de bloque, independientemente del tipo de elemento que se trate. </a:t>
            </a:r>
            <a:endParaRPr lang="es-ES" dirty="0" smtClean="0">
              <a:latin typeface="+mj-lt"/>
            </a:endParaRPr>
          </a:p>
          <a:p>
            <a:pPr marL="463550" lvl="3" indent="-28575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b="1" dirty="0" err="1" smtClean="0">
                <a:latin typeface="+mj-lt"/>
              </a:rPr>
              <a:t>inline</a:t>
            </a:r>
            <a:r>
              <a:rPr lang="es-ES" dirty="0" smtClean="0">
                <a:latin typeface="+mj-lt"/>
              </a:rPr>
              <a:t> </a:t>
            </a:r>
            <a:r>
              <a:rPr lang="es-ES" dirty="0">
                <a:latin typeface="+mj-lt"/>
              </a:rPr>
              <a:t>visualiza un elemento en forma de elemento en línea, independientemente del tipo </a:t>
            </a:r>
            <a:r>
              <a:rPr lang="es-ES" dirty="0" smtClean="0">
                <a:latin typeface="+mj-lt"/>
              </a:rPr>
              <a:t>de elemento </a:t>
            </a:r>
            <a:r>
              <a:rPr lang="es-ES" dirty="0">
                <a:latin typeface="+mj-lt"/>
              </a:rPr>
              <a:t>que se trate</a:t>
            </a:r>
            <a:r>
              <a:rPr lang="es-ES" dirty="0" smtClean="0">
                <a:latin typeface="+mj-lt"/>
              </a:rPr>
              <a:t>.</a:t>
            </a:r>
          </a:p>
          <a:p>
            <a:pPr marL="463550" lvl="3" indent="-28575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b="1" dirty="0" err="1" smtClean="0">
                <a:latin typeface="+mj-lt"/>
              </a:rPr>
              <a:t>inline</a:t>
            </a:r>
            <a:r>
              <a:rPr lang="es-ES" b="1" dirty="0" smtClean="0">
                <a:latin typeface="+mj-lt"/>
              </a:rPr>
              <a:t>-block</a:t>
            </a:r>
            <a:r>
              <a:rPr lang="es-ES" dirty="0" smtClean="0">
                <a:latin typeface="+mj-lt"/>
              </a:rPr>
              <a:t> </a:t>
            </a:r>
            <a:r>
              <a:rPr lang="es-ES" dirty="0">
                <a:latin typeface="+mj-lt"/>
              </a:rPr>
              <a:t>visualiza un elemento en forma de elemento en línea </a:t>
            </a:r>
            <a:r>
              <a:rPr lang="es-ES" dirty="0" smtClean="0">
                <a:latin typeface="+mj-lt"/>
              </a:rPr>
              <a:t>pero comportándose </a:t>
            </a:r>
            <a:r>
              <a:rPr lang="es-ES" dirty="0">
                <a:latin typeface="+mj-lt"/>
              </a:rPr>
              <a:t>como un elemento de </a:t>
            </a:r>
            <a:r>
              <a:rPr lang="es-ES" dirty="0" smtClean="0">
                <a:latin typeface="+mj-lt"/>
              </a:rPr>
              <a:t>bloque.</a:t>
            </a:r>
            <a:endParaRPr lang="es-ES" dirty="0">
              <a:latin typeface="+mj-lt"/>
            </a:endParaRPr>
          </a:p>
          <a:p>
            <a:pPr marL="463550" lvl="3" indent="-28575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b="1" dirty="0" err="1" smtClean="0">
                <a:latin typeface="+mj-lt"/>
              </a:rPr>
              <a:t>none</a:t>
            </a:r>
            <a:r>
              <a:rPr lang="es-ES" dirty="0" smtClean="0">
                <a:latin typeface="+mj-lt"/>
              </a:rPr>
              <a:t> </a:t>
            </a:r>
            <a:r>
              <a:rPr lang="es-ES" dirty="0">
                <a:latin typeface="+mj-lt"/>
              </a:rPr>
              <a:t>oculta un elemento y hace que desaparezca de la página. El resto de elementos </a:t>
            </a:r>
            <a:r>
              <a:rPr lang="es-ES" dirty="0" smtClean="0">
                <a:latin typeface="+mj-lt"/>
              </a:rPr>
              <a:t>de la </a:t>
            </a:r>
            <a:r>
              <a:rPr lang="es-ES" dirty="0">
                <a:latin typeface="+mj-lt"/>
              </a:rPr>
              <a:t>página </a:t>
            </a:r>
            <a:r>
              <a:rPr lang="es-ES" dirty="0" smtClean="0">
                <a:latin typeface="+mj-lt"/>
              </a:rPr>
              <a:t>ocupan el espacio </a:t>
            </a:r>
            <a:r>
              <a:rPr lang="es-ES" dirty="0">
                <a:latin typeface="+mj-lt"/>
              </a:rPr>
              <a:t>en el que se debería visualizar el </a:t>
            </a:r>
            <a:r>
              <a:rPr lang="es-ES" dirty="0" smtClean="0">
                <a:latin typeface="+mj-lt"/>
              </a:rPr>
              <a:t>elemento ocultado.</a:t>
            </a: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</a:t>
            </a:fld>
            <a:endParaRPr lang="es-ES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156787"/>
              </p:ext>
            </p:extLst>
          </p:nvPr>
        </p:nvGraphicFramePr>
        <p:xfrm>
          <a:off x="596044" y="1739585"/>
          <a:ext cx="8229600" cy="1523841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244824">
                  <a:extLst>
                    <a:ext uri="{9D8B030D-6E8A-4147-A177-3AD203B41FA5}">
                      <a16:colId xmlns:a16="http://schemas.microsoft.com/office/drawing/2014/main" val="3232284777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82514896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3479530287"/>
                    </a:ext>
                  </a:extLst>
                </a:gridCol>
              </a:tblGrid>
              <a:tr h="252658">
                <a:tc>
                  <a:txBody>
                    <a:bodyPr/>
                    <a:lstStyle/>
                    <a:p>
                      <a:r>
                        <a:rPr lang="es-ES" sz="1600" dirty="0">
                          <a:effectLst/>
                          <a:latin typeface="+mj-lt"/>
                        </a:rPr>
                        <a:t>Propiedad</a:t>
                      </a:r>
                      <a:endParaRPr lang="es-ES" sz="16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  <a:latin typeface="+mj-lt"/>
                        </a:rPr>
                        <a:t>Descripción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effectLst/>
                          <a:latin typeface="+mj-lt"/>
                        </a:rPr>
                        <a:t>Valores</a:t>
                      </a:r>
                      <a:r>
                        <a:rPr lang="es-ES" sz="1600" baseline="0" dirty="0" smtClean="0">
                          <a:effectLst/>
                          <a:latin typeface="+mj-lt"/>
                        </a:rPr>
                        <a:t> importantes</a:t>
                      </a:r>
                      <a:endParaRPr lang="es-ES" sz="16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extLst>
                  <a:ext uri="{0D108BD9-81ED-4DB2-BD59-A6C34878D82A}">
                    <a16:rowId xmlns:a16="http://schemas.microsoft.com/office/drawing/2014/main" val="2280220113"/>
                  </a:ext>
                </a:extLst>
              </a:tr>
              <a:tr h="1220733"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+mj-lt"/>
                        </a:rPr>
                        <a:t>display</a:t>
                      </a:r>
                      <a:endParaRPr lang="es-ES" sz="1600" dirty="0"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600" dirty="0" smtClean="0">
                          <a:latin typeface="+mj-lt"/>
                        </a:rPr>
                        <a:t>Modifica la forma en la que se visualiza un elemento</a:t>
                      </a:r>
                      <a:endParaRPr lang="es-ES" sz="1600" dirty="0"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effectLst/>
                          <a:latin typeface="+mj-lt"/>
                        </a:rPr>
                        <a:t>[ </a:t>
                      </a:r>
                      <a:r>
                        <a:rPr lang="es-ES" sz="1600" dirty="0" smtClean="0">
                          <a:effectLst/>
                          <a:latin typeface="+mj-lt"/>
                        </a:rPr>
                        <a:t>block · </a:t>
                      </a:r>
                      <a:r>
                        <a:rPr lang="es-ES" sz="1600" dirty="0" err="1" smtClean="0">
                          <a:effectLst/>
                          <a:latin typeface="+mj-lt"/>
                        </a:rPr>
                        <a:t>inline</a:t>
                      </a:r>
                      <a:r>
                        <a:rPr lang="es-ES" sz="1600" dirty="0" smtClean="0">
                          <a:effectLst/>
                          <a:latin typeface="+mj-lt"/>
                        </a:rPr>
                        <a:t> · </a:t>
                      </a:r>
                      <a:r>
                        <a:rPr lang="es-ES" sz="1600" dirty="0" err="1" smtClean="0">
                          <a:effectLst/>
                          <a:latin typeface="+mj-lt"/>
                        </a:rPr>
                        <a:t>inline</a:t>
                      </a:r>
                      <a:r>
                        <a:rPr lang="es-ES" sz="1600" dirty="0" smtClean="0">
                          <a:effectLst/>
                          <a:latin typeface="+mj-lt"/>
                        </a:rPr>
                        <a:t>-block · </a:t>
                      </a:r>
                      <a:r>
                        <a:rPr lang="es-ES" sz="1600" dirty="0" err="1" smtClean="0">
                          <a:effectLst/>
                          <a:latin typeface="+mj-lt"/>
                        </a:rPr>
                        <a:t>flex</a:t>
                      </a:r>
                      <a:r>
                        <a:rPr lang="es-ES" sz="1600" dirty="0" smtClean="0">
                          <a:effectLst/>
                          <a:latin typeface="+mj-lt"/>
                        </a:rPr>
                        <a:t> · </a:t>
                      </a:r>
                      <a:r>
                        <a:rPr lang="es-ES" sz="1600" dirty="0" err="1" smtClean="0">
                          <a:effectLst/>
                          <a:latin typeface="+mj-lt"/>
                        </a:rPr>
                        <a:t>grid</a:t>
                      </a:r>
                      <a:r>
                        <a:rPr lang="es-ES" sz="1600" dirty="0" smtClean="0">
                          <a:effectLst/>
                          <a:latin typeface="+mj-lt"/>
                        </a:rPr>
                        <a:t> · </a:t>
                      </a:r>
                      <a:r>
                        <a:rPr lang="es-ES" sz="1600" dirty="0" err="1" smtClean="0">
                          <a:effectLst/>
                          <a:latin typeface="+mj-lt"/>
                        </a:rPr>
                        <a:t>none</a:t>
                      </a:r>
                      <a:r>
                        <a:rPr lang="es-ES" sz="1600" dirty="0">
                          <a:effectLst/>
                          <a:latin typeface="+mj-lt"/>
                        </a:rPr>
                        <a:t> ]</a:t>
                      </a:r>
                    </a:p>
                  </a:txBody>
                  <a:tcPr marL="59268" marR="59268" marT="29634" marB="29634" anchor="ctr"/>
                </a:tc>
                <a:extLst>
                  <a:ext uri="{0D108BD9-81ED-4DB2-BD59-A6C34878D82A}">
                    <a16:rowId xmlns:a16="http://schemas.microsoft.com/office/drawing/2014/main" val="2355035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70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800" dirty="0">
                <a:latin typeface="+mj-lt"/>
              </a:rPr>
              <a:t>Con </a:t>
            </a:r>
            <a:r>
              <a:rPr lang="es-ES" sz="1800" b="1" dirty="0" err="1">
                <a:latin typeface="+mj-lt"/>
              </a:rPr>
              <a:t>display:inline-block</a:t>
            </a:r>
            <a:r>
              <a:rPr lang="es-ES" sz="1800" dirty="0">
                <a:latin typeface="+mj-lt"/>
              </a:rPr>
              <a:t> es posible conseguir que las cajas que son elementos en bloque se coloquen en línea sin perder sus características de elementos en bloque, es decir, manteniendo la anchura asignada.</a:t>
            </a: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415687" y="3100800"/>
            <a:ext cx="4455499" cy="3416320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.content{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background-color:#EAEAEA;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width: 660px;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E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s-E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cajasInline</a:t>
            </a: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266700" indent="-266700" eaLnBrk="1" hangingPunct="1">
              <a:buNone/>
            </a:pP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altLang="es-E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</a:t>
            </a:r>
            <a:r>
              <a:rPr lang="es-ES" altLang="es-E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s-ES" altLang="es-E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inline</a:t>
            </a:r>
            <a:r>
              <a:rPr lang="es-ES" altLang="es-E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-block; </a:t>
            </a:r>
          </a:p>
          <a:p>
            <a:pPr marL="266700" indent="-266700" eaLnBrk="1" hangingPunct="1">
              <a:buNone/>
            </a:pP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width:200px</a:t>
            </a: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66700" indent="-266700" eaLnBrk="1" hangingPunct="1">
              <a:buNone/>
            </a:pP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margin</a:t>
            </a: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5px 8px;</a:t>
            </a:r>
          </a:p>
          <a:p>
            <a:pPr marL="266700" indent="-266700" eaLnBrk="1" hangingPunct="1">
              <a:buNone/>
            </a:pP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-color: #F90;</a:t>
            </a:r>
          </a:p>
          <a:p>
            <a:pPr marL="266700" indent="-266700" eaLnBrk="1" hangingPunct="1">
              <a:buNone/>
            </a:pP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E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text-align:center</a:t>
            </a: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66700" indent="-266700" eaLnBrk="1" hangingPunct="1">
              <a:buNone/>
            </a:pP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color:#</a:t>
            </a:r>
            <a:r>
              <a:rPr lang="es-E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fff</a:t>
            </a: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66700" indent="-266700" eaLnBrk="1" hangingPunct="1">
              <a:buNone/>
            </a:pPr>
            <a:r>
              <a:rPr lang="es-E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h3&gt;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Solución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con inline-block&lt;/h3&gt;</a:t>
            </a:r>
          </a:p>
          <a:p>
            <a:pPr marL="266700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div class="content"&gt;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div class="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cajasInline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Caja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1&lt;/div&gt;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div class="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cajasInline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Caja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2&lt;/div&gt;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div class="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cajasInline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Caja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3</a:t>
            </a: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  <a:endParaRPr lang="en-US" alt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div&gt;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37" b="20287"/>
          <a:stretch/>
        </p:blipFill>
        <p:spPr bwMode="auto">
          <a:xfrm>
            <a:off x="1362075" y="2405392"/>
            <a:ext cx="6562725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980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Activa un contenedor </a:t>
            </a:r>
            <a:r>
              <a:rPr lang="es-ES" sz="1700" dirty="0" err="1">
                <a:latin typeface="+mj-lt"/>
              </a:rPr>
              <a:t>Flexbox</a:t>
            </a:r>
            <a:r>
              <a:rPr lang="es-ES" sz="1700" dirty="0">
                <a:latin typeface="+mj-lt"/>
              </a:rPr>
              <a:t> para organizar sus </a:t>
            </a:r>
            <a:r>
              <a:rPr lang="es-ES" sz="1700" dirty="0" smtClean="0">
                <a:latin typeface="+mj-lt"/>
              </a:rPr>
              <a:t>hijos. Un </a:t>
            </a:r>
            <a:r>
              <a:rPr lang="es-ES" sz="1700" dirty="0">
                <a:latin typeface="+mj-lt"/>
              </a:rPr>
              <a:t>contenedor flexible es un elemento que permite que su contenido se adapte.</a:t>
            </a: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Un contenedor flexible se define por la propiedad </a:t>
            </a:r>
            <a:r>
              <a:rPr lang="es-ES" sz="1700" dirty="0" err="1">
                <a:latin typeface="+mj-lt"/>
              </a:rPr>
              <a:t>display</a:t>
            </a:r>
            <a:r>
              <a:rPr lang="es-ES" sz="1700" dirty="0">
                <a:latin typeface="+mj-lt"/>
              </a:rPr>
              <a:t> y se puede ser descrito como un elemento de bloque con el valor </a:t>
            </a:r>
            <a:r>
              <a:rPr lang="es-ES" sz="1700" dirty="0" err="1" smtClean="0">
                <a:latin typeface="+mj-lt"/>
              </a:rPr>
              <a:t>flex</a:t>
            </a:r>
            <a:r>
              <a:rPr lang="es-ES" sz="1700" dirty="0" smtClean="0">
                <a:latin typeface="+mj-lt"/>
              </a:rPr>
              <a:t>.</a:t>
            </a: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195736" y="3401919"/>
            <a:ext cx="4455499" cy="2123658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contenedor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35560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display: flex;</a:t>
            </a:r>
          </a:p>
          <a:p>
            <a:pPr marL="266700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endParaRPr lang="en-US" alt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s-E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s-E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id="contenedor"&gt;</a:t>
            </a:r>
          </a:p>
          <a:p>
            <a:pPr marL="355600" indent="0" eaLnBrk="1" hangingPunct="1">
              <a:buNone/>
            </a:pP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id="caja1"&gt;Caja 1&lt;/div&gt;</a:t>
            </a:r>
          </a:p>
          <a:p>
            <a:pPr marL="355600" indent="0" eaLnBrk="1" hangingPunct="1">
              <a:buNone/>
            </a:pP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id="caja2"&gt;Caja 2&lt;/div&gt;</a:t>
            </a:r>
          </a:p>
          <a:p>
            <a:pPr marL="355600" indent="0" eaLnBrk="1" hangingPunct="1">
              <a:buNone/>
            </a:pP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id="caja3"&gt;Caja 3&lt;/div&gt;</a:t>
            </a:r>
          </a:p>
          <a:p>
            <a:pPr marL="355600" indent="0" eaLnBrk="1" hangingPunct="1">
              <a:buNone/>
            </a:pP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id="caja4"&gt;Caja 4&lt;/div&gt;</a:t>
            </a:r>
          </a:p>
          <a:p>
            <a:pPr marL="266700" indent="-266700" eaLnBrk="1" hangingPunct="1">
              <a:buNone/>
            </a:pP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s-E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section</a:t>
            </a:r>
            <a:r>
              <a:rPr lang="es-E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266700" indent="-266700" eaLnBrk="1" hangingPunct="1">
              <a:buNone/>
            </a:pPr>
            <a:endParaRPr lang="en-US" alt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9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- ejes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570360"/>
            <a:ext cx="828092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Un </a:t>
            </a:r>
            <a:r>
              <a:rPr lang="es-ES" sz="1700" dirty="0">
                <a:latin typeface="+mj-lt"/>
              </a:rPr>
              <a:t>contenedor </a:t>
            </a:r>
            <a:r>
              <a:rPr lang="es-ES" sz="1700" dirty="0" err="1">
                <a:latin typeface="+mj-lt"/>
              </a:rPr>
              <a:t>flex</a:t>
            </a:r>
            <a:r>
              <a:rPr lang="es-ES" sz="1700" dirty="0">
                <a:latin typeface="+mj-lt"/>
              </a:rPr>
              <a:t> utiliza </a:t>
            </a:r>
            <a:r>
              <a:rPr lang="es-ES" sz="1700" dirty="0" smtClean="0">
                <a:latin typeface="+mj-lt"/>
              </a:rPr>
              <a:t>dos ejes </a:t>
            </a:r>
            <a:r>
              <a:rPr lang="es-ES" sz="1700" dirty="0">
                <a:latin typeface="+mj-lt"/>
              </a:rPr>
              <a:t>para describir la orientación de su </a:t>
            </a:r>
            <a:r>
              <a:rPr lang="es-ES" sz="1700" dirty="0" smtClean="0">
                <a:latin typeface="+mj-lt"/>
              </a:rPr>
              <a:t>contenido: </a:t>
            </a:r>
            <a:r>
              <a:rPr lang="es-ES" sz="1700" dirty="0">
                <a:latin typeface="+mj-lt"/>
              </a:rPr>
              <a:t>el eje principal y el eje transversal. En el eje principal es distribuido el </a:t>
            </a:r>
            <a:r>
              <a:rPr lang="es-ES" sz="1700" dirty="0" smtClean="0">
                <a:latin typeface="+mj-lt"/>
              </a:rPr>
              <a:t>contenido:</a:t>
            </a: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Los elementos se organizan desde </a:t>
            </a:r>
            <a:r>
              <a:rPr lang="es-ES" sz="1700" dirty="0">
                <a:latin typeface="+mj-lt"/>
              </a:rPr>
              <a:t>los extremos de cada eje: inicio del eje principal (</a:t>
            </a:r>
            <a:r>
              <a:rPr lang="es-ES" sz="1700" dirty="0" err="1">
                <a:latin typeface="+mj-lt"/>
              </a:rPr>
              <a:t>main-start</a:t>
            </a:r>
            <a:r>
              <a:rPr lang="es-ES" sz="1700" dirty="0">
                <a:latin typeface="+mj-lt"/>
              </a:rPr>
              <a:t>), final del eje principal (</a:t>
            </a:r>
            <a:r>
              <a:rPr lang="es-ES" sz="1700" dirty="0" err="1">
                <a:latin typeface="+mj-lt"/>
              </a:rPr>
              <a:t>main-end</a:t>
            </a:r>
            <a:r>
              <a:rPr lang="es-ES" sz="1700" dirty="0">
                <a:latin typeface="+mj-lt"/>
              </a:rPr>
              <a:t>), inicio del eje transversal (</a:t>
            </a:r>
            <a:r>
              <a:rPr lang="es-ES" sz="1700" dirty="0" err="1">
                <a:latin typeface="+mj-lt"/>
              </a:rPr>
              <a:t>cross-start</a:t>
            </a:r>
            <a:r>
              <a:rPr lang="es-ES" sz="1700" dirty="0">
                <a:latin typeface="+mj-lt"/>
              </a:rPr>
              <a:t>) y final del eje transversal (</a:t>
            </a:r>
            <a:r>
              <a:rPr lang="es-ES" sz="1700" dirty="0" err="1">
                <a:latin typeface="+mj-lt"/>
              </a:rPr>
              <a:t>cross-end</a:t>
            </a:r>
            <a:r>
              <a:rPr lang="es-ES" sz="1700" dirty="0">
                <a:latin typeface="+mj-lt"/>
              </a:rPr>
              <a:t>). </a:t>
            </a: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5</a:t>
            </a:fld>
            <a:endParaRPr lang="es-ES" dirty="0"/>
          </a:p>
        </p:txBody>
      </p:sp>
      <p:pic>
        <p:nvPicPr>
          <p:cNvPr id="13" name="Imagen 12" descr="flex_terms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204864"/>
            <a:ext cx="6264696" cy="31683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28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– propiedad </a:t>
            </a:r>
            <a:r>
              <a:rPr lang="es-ES" sz="4000" dirty="0" err="1" smtClean="0"/>
              <a:t>flex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Para </a:t>
            </a:r>
            <a:r>
              <a:rPr lang="es-ES" sz="1700" dirty="0">
                <a:latin typeface="+mj-lt"/>
              </a:rPr>
              <a:t>que un elemento dentro de un contenedor flexible sea también flexible tiene que ser declarado como tal mediante la propiedad </a:t>
            </a:r>
            <a:r>
              <a:rPr lang="es-ES" sz="1700" b="1" dirty="0" err="1">
                <a:latin typeface="+mj-lt"/>
              </a:rPr>
              <a:t>flex</a:t>
            </a:r>
            <a:r>
              <a:rPr lang="es-ES" sz="1700" dirty="0">
                <a:latin typeface="+mj-lt"/>
              </a:rPr>
              <a:t>. </a:t>
            </a:r>
            <a:r>
              <a:rPr lang="es-ES" sz="1700" dirty="0" smtClean="0">
                <a:latin typeface="+mj-lt"/>
              </a:rPr>
              <a:t>Esta  propiedad puede </a:t>
            </a:r>
            <a:r>
              <a:rPr lang="es-ES" sz="1700" dirty="0">
                <a:latin typeface="+mj-lt"/>
              </a:rPr>
              <a:t>usar tres posibles parámetros, separados por un </a:t>
            </a:r>
            <a:r>
              <a:rPr lang="es-ES" sz="1700" dirty="0" smtClean="0">
                <a:latin typeface="+mj-lt"/>
              </a:rPr>
              <a:t>espacio (si sólo hay un valor se corresponde con </a:t>
            </a:r>
            <a:r>
              <a:rPr lang="es-ES" sz="1700" dirty="0" err="1" smtClean="0">
                <a:latin typeface="+mj-lt"/>
              </a:rPr>
              <a:t>flex-grow</a:t>
            </a:r>
            <a:r>
              <a:rPr lang="es-ES" sz="1700" dirty="0" smtClean="0">
                <a:latin typeface="+mj-lt"/>
              </a:rPr>
              <a:t>):</a:t>
            </a:r>
            <a:endParaRPr lang="es-ES" sz="1600" dirty="0" smtClean="0">
              <a:latin typeface="+mj-lt"/>
            </a:endParaRPr>
          </a:p>
          <a:p>
            <a:pPr marL="1088073" lvl="4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smtClean="0">
                <a:latin typeface="+mj-lt"/>
              </a:rPr>
              <a:t> </a:t>
            </a:r>
            <a:r>
              <a:rPr lang="es-ES" sz="1600" b="1" dirty="0" err="1" smtClean="0">
                <a:latin typeface="+mj-lt"/>
              </a:rPr>
              <a:t>flex-grow</a:t>
            </a:r>
            <a:r>
              <a:rPr lang="es-ES" sz="1600" b="1" dirty="0" smtClean="0">
                <a:latin typeface="+mj-lt"/>
              </a:rPr>
              <a:t>:</a:t>
            </a:r>
            <a:r>
              <a:rPr lang="es-ES" sz="1600" dirty="0">
                <a:latin typeface="+mj-lt"/>
              </a:rPr>
              <a:t> especifica el factor de crecimiento de un elemento </a:t>
            </a:r>
            <a:r>
              <a:rPr lang="es-ES" sz="1600" dirty="0" smtClean="0">
                <a:latin typeface="+mj-lt"/>
              </a:rPr>
              <a:t>flexible, es decir,  que proporción del espacio sobrante le corresponde respecto de los otros elementos. Si el valor es 0 el elemento no crecerá para ocupar el espacio sobrante. El valor por defecto es  0.</a:t>
            </a:r>
          </a:p>
          <a:p>
            <a:pPr marL="1088073" lvl="4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err="1" smtClean="0">
                <a:latin typeface="+mj-lt"/>
              </a:rPr>
              <a:t>flex-shrink</a:t>
            </a:r>
            <a:r>
              <a:rPr lang="es-ES" sz="1600" dirty="0" smtClean="0">
                <a:latin typeface="+mj-lt"/>
              </a:rPr>
              <a:t>: </a:t>
            </a:r>
            <a:r>
              <a:rPr lang="es-ES" sz="1600" dirty="0">
                <a:latin typeface="+mj-lt"/>
              </a:rPr>
              <a:t>especifica el factor de </a:t>
            </a:r>
            <a:r>
              <a:rPr lang="es-ES" sz="1600" dirty="0" smtClean="0">
                <a:latin typeface="+mj-lt"/>
              </a:rPr>
              <a:t>encogimiento </a:t>
            </a:r>
            <a:r>
              <a:rPr lang="es-ES" sz="1600" dirty="0">
                <a:latin typeface="+mj-lt"/>
              </a:rPr>
              <a:t>de un elemento flexible, es decir,  </a:t>
            </a:r>
            <a:r>
              <a:rPr lang="es-ES" sz="1600" dirty="0" smtClean="0">
                <a:latin typeface="+mj-lt"/>
              </a:rPr>
              <a:t>si no entran todos los elementos que proporción del espacio que falta se le va a quitar a este elemento respecto de los otros elementos. Si el valor es 0 el elemento no se reducirá para adaptarse al espacio del contenedor</a:t>
            </a:r>
            <a:r>
              <a:rPr lang="es-ES" sz="1600" dirty="0">
                <a:latin typeface="+mj-lt"/>
              </a:rPr>
              <a:t>. El valor por defecto es  </a:t>
            </a:r>
            <a:r>
              <a:rPr lang="es-ES" sz="1600" dirty="0" smtClean="0">
                <a:latin typeface="+mj-lt"/>
              </a:rPr>
              <a:t>1</a:t>
            </a:r>
            <a:endParaRPr lang="es-ES" sz="1600" dirty="0">
              <a:latin typeface="+mj-lt"/>
            </a:endParaRPr>
          </a:p>
          <a:p>
            <a:pPr marL="1088073" lvl="4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err="1" smtClean="0">
                <a:latin typeface="+mj-lt"/>
              </a:rPr>
              <a:t>flex-basis</a:t>
            </a:r>
            <a:r>
              <a:rPr lang="es-ES" sz="1600" dirty="0" smtClean="0">
                <a:latin typeface="+mj-lt"/>
              </a:rPr>
              <a:t>: </a:t>
            </a:r>
            <a:r>
              <a:rPr lang="es-ES" sz="1600" dirty="0">
                <a:latin typeface="+mj-lt"/>
              </a:rPr>
              <a:t>indica un tamaño inicial para el </a:t>
            </a:r>
            <a:r>
              <a:rPr lang="es-ES" sz="1600" dirty="0" smtClean="0">
                <a:latin typeface="+mj-lt"/>
              </a:rPr>
              <a:t>elemento, el tamaño final del elemento podrá aumentar o disminuir despendiendo si sobra o falta espacio en el contenedor. El valor por defecto es auto (es tamaño que necesite el elemento).</a:t>
            </a:r>
            <a:endParaRPr lang="es-ES" sz="16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738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– propiedad </a:t>
            </a:r>
            <a:r>
              <a:rPr lang="es-ES" sz="4000" dirty="0" err="1" smtClean="0"/>
              <a:t>flex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El </a:t>
            </a:r>
            <a:r>
              <a:rPr lang="es-ES" sz="1700" dirty="0">
                <a:latin typeface="+mj-lt"/>
              </a:rPr>
              <a:t>tamaño de cada caja se calcula multiplicando el tamaño de la caja contenedora por el valor de su propiedad </a:t>
            </a:r>
            <a:r>
              <a:rPr lang="es-ES" sz="1700" dirty="0" err="1">
                <a:latin typeface="+mj-lt"/>
              </a:rPr>
              <a:t>flex</a:t>
            </a:r>
            <a:r>
              <a:rPr lang="es-ES" sz="1700" dirty="0">
                <a:latin typeface="+mj-lt"/>
              </a:rPr>
              <a:t> y luego dividiendo el resultado entre la suma de los valores </a:t>
            </a:r>
            <a:r>
              <a:rPr lang="es-ES" sz="1700" dirty="0" err="1">
                <a:latin typeface="+mj-lt"/>
              </a:rPr>
              <a:t>flex-grow</a:t>
            </a:r>
            <a:r>
              <a:rPr lang="es-ES" sz="1700" dirty="0">
                <a:latin typeface="+mj-lt"/>
              </a:rPr>
              <a:t> de todos los elementos </a:t>
            </a:r>
            <a:r>
              <a:rPr lang="es-ES" sz="1700" dirty="0" smtClean="0">
                <a:latin typeface="+mj-lt"/>
              </a:rPr>
              <a:t>hijos (para las cajas de nuestro ejemplo 600 </a:t>
            </a:r>
            <a:r>
              <a:rPr lang="es-ES" sz="1700" dirty="0">
                <a:latin typeface="+mj-lt"/>
              </a:rPr>
              <a:t>x 1/4 = </a:t>
            </a:r>
            <a:r>
              <a:rPr lang="es-ES" sz="1700" dirty="0" smtClean="0">
                <a:latin typeface="+mj-lt"/>
              </a:rPr>
              <a:t>150). </a:t>
            </a: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220072" y="2417648"/>
            <a:ext cx="3194582" cy="4339650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contenedor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display: flex; 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width: 600px;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border:1px black solid;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padding:10px;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div{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background-color:#999999;</a:t>
            </a:r>
          </a:p>
          <a:p>
            <a:pPr marL="360363" indent="0" eaLnBrk="1" hangingPunct="1">
              <a:buNone/>
            </a:pP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text-align:center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margin: 0 5px;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#caja1{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#caja2{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#caja3{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#caja4{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266700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Imagen 9"/>
          <p:cNvPicPr/>
          <p:nvPr/>
        </p:nvPicPr>
        <p:blipFill>
          <a:blip r:embed="rId2"/>
          <a:stretch>
            <a:fillRect/>
          </a:stretch>
        </p:blipFill>
        <p:spPr>
          <a:xfrm>
            <a:off x="683568" y="3055749"/>
            <a:ext cx="359981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3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– propiedad </a:t>
            </a:r>
            <a:r>
              <a:rPr lang="es-ES" sz="4000" dirty="0" err="1" smtClean="0"/>
              <a:t>flex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Ahora </a:t>
            </a:r>
            <a:r>
              <a:rPr lang="es-ES" sz="1700" dirty="0">
                <a:latin typeface="+mj-lt"/>
              </a:rPr>
              <a:t>la fórmula para calcular el tamaño de </a:t>
            </a:r>
            <a:r>
              <a:rPr lang="es-ES" sz="1700" dirty="0" smtClean="0">
                <a:latin typeface="+mj-lt"/>
              </a:rPr>
              <a:t>caja 1 es: </a:t>
            </a:r>
            <a:r>
              <a:rPr lang="es-ES" sz="1700" dirty="0">
                <a:latin typeface="+mj-lt"/>
              </a:rPr>
              <a:t>600 x 2/5 = 240</a:t>
            </a:r>
            <a:r>
              <a:rPr lang="es-ES" sz="1700" dirty="0" smtClean="0">
                <a:latin typeface="+mj-lt"/>
              </a:rPr>
              <a:t>. </a:t>
            </a:r>
            <a:r>
              <a:rPr lang="es-ES" sz="1700" dirty="0">
                <a:latin typeface="+mj-lt"/>
              </a:rPr>
              <a:t>La fórmula para calcular el tamaño del resto de los elementos </a:t>
            </a:r>
            <a:r>
              <a:rPr lang="es-ES" sz="1700" dirty="0" smtClean="0">
                <a:latin typeface="+mj-lt"/>
              </a:rPr>
              <a:t>es </a:t>
            </a:r>
            <a:r>
              <a:rPr lang="es-ES" sz="1700" dirty="0">
                <a:latin typeface="+mj-lt"/>
              </a:rPr>
              <a:t>por tanto: 600 x 1/5 = 120.</a:t>
            </a: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8</a:t>
            </a:fld>
            <a:endParaRPr lang="es-ES" dirty="0"/>
          </a:p>
        </p:txBody>
      </p:sp>
      <p:pic>
        <p:nvPicPr>
          <p:cNvPr id="9" name="Imagen 8"/>
          <p:cNvPicPr/>
          <p:nvPr/>
        </p:nvPicPr>
        <p:blipFill>
          <a:blip r:embed="rId2"/>
          <a:stretch>
            <a:fillRect/>
          </a:stretch>
        </p:blipFill>
        <p:spPr>
          <a:xfrm>
            <a:off x="2736087" y="4467901"/>
            <a:ext cx="3599815" cy="851535"/>
          </a:xfrm>
          <a:prstGeom prst="rect">
            <a:avLst/>
          </a:prstGeom>
        </p:spPr>
      </p:pic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308246" y="1877214"/>
            <a:ext cx="4455499" cy="2308324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60363" indent="-360363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caja1{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2;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#caja2{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#caja3{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#caja4{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7462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– propiedad </a:t>
            </a:r>
            <a:r>
              <a:rPr lang="es-ES" sz="4000" dirty="0" err="1" smtClean="0"/>
              <a:t>flex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Si uno </a:t>
            </a:r>
            <a:r>
              <a:rPr lang="es-ES" sz="1700" dirty="0">
                <a:latin typeface="+mj-lt"/>
              </a:rPr>
              <a:t>de los elementos no es flexible y tiene un tamaño </a:t>
            </a:r>
            <a:r>
              <a:rPr lang="es-ES" sz="1700" dirty="0" smtClean="0">
                <a:latin typeface="+mj-lt"/>
              </a:rPr>
              <a:t>explícito </a:t>
            </a:r>
            <a:r>
              <a:rPr lang="es-ES" sz="1700" dirty="0">
                <a:latin typeface="+mj-lt"/>
              </a:rPr>
              <a:t>los otros elementos </a:t>
            </a:r>
            <a:r>
              <a:rPr lang="es-ES" sz="1700" dirty="0" smtClean="0">
                <a:latin typeface="+mj-lt"/>
              </a:rPr>
              <a:t>tendrán que repartirse el </a:t>
            </a:r>
            <a:r>
              <a:rPr lang="es-ES" sz="1700" dirty="0">
                <a:latin typeface="+mj-lt"/>
              </a:rPr>
              <a:t>resto del espacio disponible.</a:t>
            </a: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La </a:t>
            </a:r>
            <a:r>
              <a:rPr lang="es-ES" sz="1700" dirty="0">
                <a:latin typeface="+mj-lt"/>
              </a:rPr>
              <a:t>primera caja tiene un tamaño de </a:t>
            </a:r>
            <a:r>
              <a:rPr lang="es-ES" sz="1700" dirty="0" smtClean="0">
                <a:latin typeface="+mj-lt"/>
              </a:rPr>
              <a:t>300px</a:t>
            </a:r>
            <a:r>
              <a:rPr lang="es-ES" sz="1700" dirty="0">
                <a:latin typeface="+mj-lt"/>
              </a:rPr>
              <a:t>, por lo que el espacio disponible para distribuir entre el resto de los elementos hijos es de </a:t>
            </a:r>
            <a:r>
              <a:rPr lang="es-ES" sz="1700" dirty="0" smtClean="0">
                <a:latin typeface="+mj-lt"/>
              </a:rPr>
              <a:t>300px </a:t>
            </a:r>
            <a:r>
              <a:rPr lang="es-ES" sz="1700" dirty="0">
                <a:latin typeface="+mj-lt"/>
              </a:rPr>
              <a:t>(es decir: 600 - 300 = 300). El navegador calculará el tamaño de cada caja flexible con la misma fórmula que usamos antes: 300 x 1/3 = 100.</a:t>
            </a: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9</a:t>
            </a:fld>
            <a:endParaRPr lang="es-ES" dirty="0"/>
          </a:p>
        </p:txBody>
      </p:sp>
      <p:pic>
        <p:nvPicPr>
          <p:cNvPr id="8" name="Imagen 7"/>
          <p:cNvPicPr/>
          <p:nvPr/>
        </p:nvPicPr>
        <p:blipFill>
          <a:blip r:embed="rId2"/>
          <a:stretch>
            <a:fillRect/>
          </a:stretch>
        </p:blipFill>
        <p:spPr>
          <a:xfrm>
            <a:off x="4211960" y="2027701"/>
            <a:ext cx="3599815" cy="861695"/>
          </a:xfrm>
          <a:prstGeom prst="rect">
            <a:avLst/>
          </a:prstGeom>
        </p:spPr>
      </p:pic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331640" y="2276872"/>
            <a:ext cx="1728192" cy="2492990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60363" indent="-360363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caja1{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width: 300px;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#caja2{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#caja3{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#caja4{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76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– propiedad </a:t>
            </a:r>
            <a:r>
              <a:rPr lang="es-ES" sz="4000" dirty="0" err="1" smtClean="0"/>
              <a:t>flex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En </a:t>
            </a:r>
            <a:r>
              <a:rPr lang="es-ES" sz="1700" dirty="0">
                <a:latin typeface="+mj-lt"/>
              </a:rPr>
              <a:t>este ejemplo hemos proporcionado </a:t>
            </a:r>
            <a:r>
              <a:rPr lang="es-ES" sz="1700" dirty="0" smtClean="0">
                <a:latin typeface="+mj-lt"/>
              </a:rPr>
              <a:t>los tres </a:t>
            </a:r>
            <a:r>
              <a:rPr lang="es-ES" sz="1700" dirty="0">
                <a:latin typeface="+mj-lt"/>
              </a:rPr>
              <a:t>parámetros para la propiedad </a:t>
            </a:r>
            <a:r>
              <a:rPr lang="es-ES" sz="1700" dirty="0" err="1" smtClean="0">
                <a:latin typeface="+mj-lt"/>
              </a:rPr>
              <a:t>flex</a:t>
            </a:r>
            <a:r>
              <a:rPr lang="es-ES" sz="1700" dirty="0" smtClean="0">
                <a:latin typeface="+mj-lt"/>
              </a:rPr>
              <a:t>. </a:t>
            </a:r>
            <a:r>
              <a:rPr lang="es-ES" sz="1700" dirty="0">
                <a:latin typeface="+mj-lt"/>
              </a:rPr>
              <a:t>Todas las cajas tienen el valor 1 para el primer parámetro (</a:t>
            </a:r>
            <a:r>
              <a:rPr lang="es-ES" sz="1700" dirty="0" err="1">
                <a:latin typeface="+mj-lt"/>
              </a:rPr>
              <a:t>flex-grow</a:t>
            </a:r>
            <a:r>
              <a:rPr lang="es-ES" sz="1700" dirty="0">
                <a:latin typeface="+mj-lt"/>
              </a:rPr>
              <a:t>) y, por tanto, la misma relación de expansión. </a:t>
            </a:r>
            <a:r>
              <a:rPr lang="es-ES" sz="1700" dirty="0" smtClean="0">
                <a:latin typeface="+mj-lt"/>
              </a:rPr>
              <a:t>El </a:t>
            </a:r>
            <a:r>
              <a:rPr lang="es-ES" sz="1700" dirty="0">
                <a:latin typeface="+mj-lt"/>
              </a:rPr>
              <a:t>parámetro </a:t>
            </a:r>
            <a:r>
              <a:rPr lang="es-ES" sz="1700" dirty="0" err="1">
                <a:latin typeface="+mj-lt"/>
              </a:rPr>
              <a:t>flex-shrink</a:t>
            </a:r>
            <a:r>
              <a:rPr lang="es-ES" sz="1700" dirty="0">
                <a:latin typeface="+mj-lt"/>
              </a:rPr>
              <a:t> </a:t>
            </a:r>
            <a:r>
              <a:rPr lang="es-ES" sz="1700" dirty="0" smtClean="0">
                <a:latin typeface="+mj-lt"/>
              </a:rPr>
              <a:t>es </a:t>
            </a:r>
            <a:r>
              <a:rPr lang="es-ES" sz="1700" dirty="0">
                <a:latin typeface="+mj-lt"/>
              </a:rPr>
              <a:t>1 para la caja 1 pero para el resto de las cajas es igual a 5, lo que </a:t>
            </a:r>
            <a:r>
              <a:rPr lang="es-ES" sz="1700" dirty="0" smtClean="0">
                <a:latin typeface="+mj-lt"/>
              </a:rPr>
              <a:t>en caso de que no haya espacio suficiente para todas las cajas hará que las cajas 2, 3 y 4 encojan 5 veces más que la caja 1.</a:t>
            </a: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10</a:t>
            </a:fld>
            <a:endParaRPr lang="es-ES" dirty="0"/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308246" y="3429000"/>
            <a:ext cx="4455499" cy="2308324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60363" indent="-360363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caja1{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 1 200px;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#caja2{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 5 100px;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#caja3{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 5 100px;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363" indent="-360363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#caja4{</a:t>
            </a:r>
          </a:p>
          <a:p>
            <a:pPr marL="360363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 5 100px;</a:t>
            </a:r>
          </a:p>
          <a:p>
            <a:pPr marL="360363" indent="-360363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763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– </a:t>
            </a:r>
            <a:r>
              <a:rPr lang="es-ES" sz="4000" dirty="0" err="1" smtClean="0"/>
              <a:t>flex</a:t>
            </a:r>
            <a:r>
              <a:rPr lang="es-ES" sz="4000" dirty="0" smtClean="0"/>
              <a:t> </a:t>
            </a:r>
            <a:r>
              <a:rPr lang="es-ES" sz="4000" dirty="0" err="1" smtClean="0"/>
              <a:t>direction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La </a:t>
            </a:r>
            <a:r>
              <a:rPr lang="es-ES" sz="1700" dirty="0">
                <a:latin typeface="+mj-lt"/>
              </a:rPr>
              <a:t>propiedad </a:t>
            </a:r>
            <a:r>
              <a:rPr lang="es-ES" sz="1700" b="1" dirty="0" err="1" smtClean="0">
                <a:latin typeface="+mj-lt"/>
              </a:rPr>
              <a:t>flex-direction</a:t>
            </a:r>
            <a:r>
              <a:rPr lang="es-ES" sz="1700" dirty="0" smtClean="0">
                <a:latin typeface="+mj-lt"/>
              </a:rPr>
              <a:t> permite establecer la dirección (ejes) del contenedor </a:t>
            </a:r>
            <a:r>
              <a:rPr lang="es-ES" sz="1700" dirty="0" err="1" smtClean="0">
                <a:latin typeface="+mj-lt"/>
              </a:rPr>
              <a:t>display:flex</a:t>
            </a:r>
            <a:endParaRPr lang="es-ES" sz="1700" dirty="0">
              <a:latin typeface="+mj-lt"/>
            </a:endParaRPr>
          </a:p>
          <a:p>
            <a:pPr marL="813753" lvl="3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b="1" dirty="0" err="1" smtClean="0">
                <a:latin typeface="+mj-lt"/>
              </a:rPr>
              <a:t>row</a:t>
            </a:r>
            <a:r>
              <a:rPr lang="es-ES" sz="1700" dirty="0" smtClean="0">
                <a:latin typeface="+mj-lt"/>
              </a:rPr>
              <a:t>: el eje principal es el eje horizontal y distribuye los elementos de izquierda a derecha.</a:t>
            </a:r>
            <a:endParaRPr lang="es-ES" sz="1700" dirty="0">
              <a:latin typeface="+mj-lt"/>
            </a:endParaRPr>
          </a:p>
          <a:p>
            <a:pPr marL="813753" lvl="3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b="1" dirty="0" err="1" smtClean="0">
                <a:latin typeface="+mj-lt"/>
              </a:rPr>
              <a:t>row</a:t>
            </a:r>
            <a:r>
              <a:rPr lang="es-ES" sz="1700" b="1" dirty="0" smtClean="0">
                <a:latin typeface="+mj-lt"/>
              </a:rPr>
              <a:t>-reverse</a:t>
            </a:r>
            <a:r>
              <a:rPr lang="es-ES" sz="1700" dirty="0">
                <a:latin typeface="+mj-lt"/>
              </a:rPr>
              <a:t>: el eje principal es el eje horizontal y distribuye los elementos de </a:t>
            </a:r>
            <a:r>
              <a:rPr lang="es-ES" sz="1700" dirty="0" smtClean="0">
                <a:latin typeface="+mj-lt"/>
              </a:rPr>
              <a:t>derecha </a:t>
            </a:r>
            <a:r>
              <a:rPr lang="es-ES" sz="1700" dirty="0">
                <a:latin typeface="+mj-lt"/>
              </a:rPr>
              <a:t>a </a:t>
            </a:r>
            <a:r>
              <a:rPr lang="es-ES" sz="1700" dirty="0" smtClean="0">
                <a:latin typeface="+mj-lt"/>
              </a:rPr>
              <a:t>izquierda.</a:t>
            </a:r>
          </a:p>
          <a:p>
            <a:pPr marL="813753" lvl="3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b="1" dirty="0" err="1" smtClean="0">
                <a:latin typeface="+mj-lt"/>
              </a:rPr>
              <a:t>column</a:t>
            </a:r>
            <a:r>
              <a:rPr lang="es-ES" sz="1700" dirty="0">
                <a:latin typeface="+mj-lt"/>
              </a:rPr>
              <a:t>: el eje principal es el eje </a:t>
            </a:r>
            <a:r>
              <a:rPr lang="es-ES" sz="1700" dirty="0" smtClean="0">
                <a:latin typeface="+mj-lt"/>
              </a:rPr>
              <a:t>vertical </a:t>
            </a:r>
            <a:r>
              <a:rPr lang="es-ES" sz="1700" dirty="0">
                <a:latin typeface="+mj-lt"/>
              </a:rPr>
              <a:t>y distribuye los elementos de </a:t>
            </a:r>
            <a:r>
              <a:rPr lang="es-ES" sz="1700" dirty="0" smtClean="0">
                <a:latin typeface="+mj-lt"/>
              </a:rPr>
              <a:t>arriba abajo.</a:t>
            </a:r>
          </a:p>
          <a:p>
            <a:pPr marL="813753" lvl="3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b="1" dirty="0" err="1" smtClean="0">
                <a:latin typeface="+mj-lt"/>
              </a:rPr>
              <a:t>column</a:t>
            </a:r>
            <a:r>
              <a:rPr lang="es-ES" sz="1700" b="1" dirty="0" smtClean="0">
                <a:latin typeface="+mj-lt"/>
              </a:rPr>
              <a:t>-reverse</a:t>
            </a:r>
            <a:r>
              <a:rPr lang="es-ES" sz="1700" dirty="0">
                <a:latin typeface="+mj-lt"/>
              </a:rPr>
              <a:t>: el eje principal es el eje vertical y distribuye los elementos de </a:t>
            </a:r>
            <a:r>
              <a:rPr lang="es-ES" sz="1700" dirty="0" smtClean="0">
                <a:latin typeface="+mj-lt"/>
              </a:rPr>
              <a:t>bajo a arriba.</a:t>
            </a: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183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- </a:t>
            </a:r>
            <a:r>
              <a:rPr lang="es-ES" sz="4000" dirty="0" err="1" smtClean="0"/>
              <a:t>order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El orden de los elementos hijos también puede ser personalizado. La propiedad </a:t>
            </a:r>
            <a:r>
              <a:rPr lang="es-ES" sz="1700" dirty="0" err="1" smtClean="0">
                <a:latin typeface="+mj-lt"/>
              </a:rPr>
              <a:t>order</a:t>
            </a:r>
            <a:r>
              <a:rPr lang="es-ES" sz="1700" dirty="0" smtClean="0">
                <a:latin typeface="+mj-lt"/>
              </a:rPr>
              <a:t> permite declarar un lugar específico para cada caja. Si el valor se duplica, las cajas afectadas seguirán el orden del código fuente.</a:t>
            </a: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 smtClean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12</a:t>
            </a:fld>
            <a:endParaRPr lang="es-E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684728" y="2636912"/>
            <a:ext cx="2017843" cy="3046988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57188" indent="-357188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caja1{</a:t>
            </a:r>
          </a:p>
          <a:p>
            <a:pPr marL="357188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57188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order: 2;</a:t>
            </a:r>
          </a:p>
          <a:p>
            <a:pPr marL="357188" indent="-357188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57188" indent="-357188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#caja2{</a:t>
            </a:r>
          </a:p>
          <a:p>
            <a:pPr marL="357188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57188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order: 4;</a:t>
            </a:r>
          </a:p>
          <a:p>
            <a:pPr marL="357188" indent="-357188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57188" indent="-357188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#caja3 {</a:t>
            </a:r>
          </a:p>
          <a:p>
            <a:pPr marL="357188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57188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order : 3;</a:t>
            </a:r>
          </a:p>
          <a:p>
            <a:pPr marL="357188" indent="-357188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57188" indent="-357188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#caja4{</a:t>
            </a:r>
          </a:p>
          <a:p>
            <a:pPr marL="357188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57188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order: 1;</a:t>
            </a:r>
          </a:p>
          <a:p>
            <a:pPr marL="357188" indent="-357188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Imagen 6"/>
          <p:cNvPicPr/>
          <p:nvPr/>
        </p:nvPicPr>
        <p:blipFill>
          <a:blip r:embed="rId2"/>
          <a:stretch>
            <a:fillRect/>
          </a:stretch>
        </p:blipFill>
        <p:spPr>
          <a:xfrm>
            <a:off x="1240225" y="3488607"/>
            <a:ext cx="3599815" cy="51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99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– </a:t>
            </a:r>
            <a:r>
              <a:rPr lang="es-ES" sz="4000" dirty="0" err="1" smtClean="0"/>
              <a:t>justify-content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Cuando </a:t>
            </a:r>
            <a:r>
              <a:rPr lang="es-ES" sz="1700" dirty="0">
                <a:latin typeface="+mj-lt"/>
              </a:rPr>
              <a:t>el tamaño de los elementos hijos no llena todo al contenedor, queda un espacio libre que tiene que ser colocado en algún lugar en el </a:t>
            </a:r>
            <a:r>
              <a:rPr lang="es-ES" sz="1700" dirty="0" smtClean="0">
                <a:latin typeface="+mj-lt"/>
              </a:rPr>
              <a:t>diseño. La propiedad </a:t>
            </a:r>
            <a:r>
              <a:rPr lang="es-ES" sz="1700" dirty="0" err="1" smtClean="0">
                <a:latin typeface="+mj-lt"/>
              </a:rPr>
              <a:t>justify-content</a:t>
            </a:r>
            <a:r>
              <a:rPr lang="es-ES" sz="1700" dirty="0" smtClean="0">
                <a:latin typeface="+mj-lt"/>
              </a:rPr>
              <a:t> permite gestionar el espacio libre a lo largo del eje principal.</a:t>
            </a: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500" dirty="0" err="1" smtClean="0">
                <a:latin typeface="+mj-lt"/>
              </a:rPr>
              <a:t>justify-content</a:t>
            </a:r>
            <a:r>
              <a:rPr lang="es-ES" sz="1500" dirty="0">
                <a:latin typeface="+mj-lt"/>
              </a:rPr>
              <a:t>: </a:t>
            </a:r>
            <a:r>
              <a:rPr lang="es-ES" sz="1500" dirty="0" err="1">
                <a:latin typeface="+mj-lt"/>
              </a:rPr>
              <a:t>flex-start</a:t>
            </a:r>
            <a:endParaRPr lang="es-ES" sz="15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500" dirty="0" smtClean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5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500" dirty="0" err="1" smtClean="0">
                <a:latin typeface="+mj-lt"/>
              </a:rPr>
              <a:t>justify-content</a:t>
            </a:r>
            <a:r>
              <a:rPr lang="es-ES" sz="1500" dirty="0">
                <a:latin typeface="+mj-lt"/>
              </a:rPr>
              <a:t>: </a:t>
            </a:r>
            <a:r>
              <a:rPr lang="es-ES" sz="1500" dirty="0" err="1">
                <a:latin typeface="+mj-lt"/>
              </a:rPr>
              <a:t>flex-end</a:t>
            </a:r>
            <a:endParaRPr lang="es-ES" sz="15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500" dirty="0" smtClean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5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500" dirty="0">
                <a:latin typeface="+mj-lt"/>
              </a:rPr>
              <a:t> </a:t>
            </a:r>
            <a:r>
              <a:rPr lang="es-ES" sz="1500" dirty="0" err="1" smtClean="0">
                <a:latin typeface="+mj-lt"/>
              </a:rPr>
              <a:t>justify-content</a:t>
            </a:r>
            <a:r>
              <a:rPr lang="es-ES" sz="1500" dirty="0">
                <a:latin typeface="+mj-lt"/>
              </a:rPr>
              <a:t>: center</a:t>
            </a: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500" dirty="0" smtClean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5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500" dirty="0">
                <a:latin typeface="+mj-lt"/>
              </a:rPr>
              <a:t> </a:t>
            </a:r>
            <a:r>
              <a:rPr lang="es-ES" sz="1500" dirty="0" err="1" smtClean="0">
                <a:latin typeface="+mj-lt"/>
              </a:rPr>
              <a:t>justify-content</a:t>
            </a:r>
            <a:r>
              <a:rPr lang="es-ES" sz="1500" dirty="0">
                <a:latin typeface="+mj-lt"/>
              </a:rPr>
              <a:t>: </a:t>
            </a:r>
            <a:r>
              <a:rPr lang="es-ES" sz="1500" dirty="0" err="1">
                <a:latin typeface="+mj-lt"/>
              </a:rPr>
              <a:t>space-between</a:t>
            </a:r>
            <a:endParaRPr lang="es-ES" sz="15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500" dirty="0" smtClean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5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500" dirty="0">
                <a:latin typeface="+mj-lt"/>
              </a:rPr>
              <a:t> </a:t>
            </a:r>
            <a:r>
              <a:rPr lang="es-ES" sz="1500" dirty="0" err="1" smtClean="0">
                <a:latin typeface="+mj-lt"/>
              </a:rPr>
              <a:t>justify-content</a:t>
            </a:r>
            <a:r>
              <a:rPr lang="es-ES" sz="1500" dirty="0">
                <a:latin typeface="+mj-lt"/>
              </a:rPr>
              <a:t>: </a:t>
            </a:r>
            <a:r>
              <a:rPr lang="es-ES" sz="1500" dirty="0" err="1">
                <a:latin typeface="+mj-lt"/>
              </a:rPr>
              <a:t>space-around</a:t>
            </a:r>
            <a:endParaRPr lang="es-ES" sz="15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r>
              <a:rPr lang="es-ES" sz="1700" dirty="0" smtClean="0">
                <a:latin typeface="+mj-lt"/>
              </a:rPr>
              <a:t> </a:t>
            </a: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13</a:t>
            </a:fld>
            <a:endParaRPr lang="es-ES" dirty="0"/>
          </a:p>
        </p:txBody>
      </p:sp>
      <p:pic>
        <p:nvPicPr>
          <p:cNvPr id="8" name="Imagen 7"/>
          <p:cNvPicPr/>
          <p:nvPr/>
        </p:nvPicPr>
        <p:blipFill>
          <a:blip r:embed="rId2"/>
          <a:stretch>
            <a:fillRect/>
          </a:stretch>
        </p:blipFill>
        <p:spPr>
          <a:xfrm>
            <a:off x="3281906" y="2359460"/>
            <a:ext cx="3599815" cy="751840"/>
          </a:xfrm>
          <a:prstGeom prst="rect">
            <a:avLst/>
          </a:prstGeom>
        </p:spPr>
      </p:pic>
      <p:pic>
        <p:nvPicPr>
          <p:cNvPr id="9" name="Imagen 8"/>
          <p:cNvPicPr/>
          <p:nvPr/>
        </p:nvPicPr>
        <p:blipFill>
          <a:blip r:embed="rId3"/>
          <a:stretch>
            <a:fillRect/>
          </a:stretch>
        </p:blipFill>
        <p:spPr>
          <a:xfrm>
            <a:off x="3281905" y="3233501"/>
            <a:ext cx="3599815" cy="752475"/>
          </a:xfrm>
          <a:prstGeom prst="rect">
            <a:avLst/>
          </a:prstGeom>
        </p:spPr>
      </p:pic>
      <p:pic>
        <p:nvPicPr>
          <p:cNvPr id="10" name="Imagen 9"/>
          <p:cNvPicPr/>
          <p:nvPr/>
        </p:nvPicPr>
        <p:blipFill>
          <a:blip r:embed="rId4"/>
          <a:stretch>
            <a:fillRect/>
          </a:stretch>
        </p:blipFill>
        <p:spPr>
          <a:xfrm>
            <a:off x="3281904" y="4067112"/>
            <a:ext cx="3599815" cy="751205"/>
          </a:xfrm>
          <a:prstGeom prst="rect">
            <a:avLst/>
          </a:prstGeom>
        </p:spPr>
      </p:pic>
      <p:pic>
        <p:nvPicPr>
          <p:cNvPr id="11" name="Imagen 10"/>
          <p:cNvPicPr/>
          <p:nvPr/>
        </p:nvPicPr>
        <p:blipFill>
          <a:blip r:embed="rId5"/>
          <a:stretch>
            <a:fillRect/>
          </a:stretch>
        </p:blipFill>
        <p:spPr>
          <a:xfrm>
            <a:off x="3923928" y="5108353"/>
            <a:ext cx="3599815" cy="751840"/>
          </a:xfrm>
          <a:prstGeom prst="rect">
            <a:avLst/>
          </a:prstGeom>
        </p:spPr>
      </p:pic>
      <p:pic>
        <p:nvPicPr>
          <p:cNvPr id="12" name="Imagen 11"/>
          <p:cNvPicPr/>
          <p:nvPr/>
        </p:nvPicPr>
        <p:blipFill>
          <a:blip r:embed="rId6"/>
          <a:stretch>
            <a:fillRect/>
          </a:stretch>
        </p:blipFill>
        <p:spPr>
          <a:xfrm>
            <a:off x="3957072" y="5971540"/>
            <a:ext cx="3599815" cy="74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97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– </a:t>
            </a:r>
            <a:r>
              <a:rPr lang="es-ES" sz="4000" dirty="0" err="1" smtClean="0"/>
              <a:t>align-items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Otra </a:t>
            </a:r>
            <a:r>
              <a:rPr lang="es-ES" sz="1700" dirty="0">
                <a:latin typeface="+mj-lt"/>
              </a:rPr>
              <a:t>propiedad que nos ayudará a distribuir el espacio es </a:t>
            </a:r>
            <a:r>
              <a:rPr lang="es-ES" sz="1700" dirty="0" err="1">
                <a:latin typeface="+mj-lt"/>
              </a:rPr>
              <a:t>align-items</a:t>
            </a:r>
            <a:r>
              <a:rPr lang="es-ES" sz="1700" dirty="0">
                <a:latin typeface="+mj-lt"/>
              </a:rPr>
              <a:t>. Esta propiedad funciona como </a:t>
            </a:r>
            <a:r>
              <a:rPr lang="es-ES" sz="1700" dirty="0" err="1">
                <a:latin typeface="+mj-lt"/>
              </a:rPr>
              <a:t>justify-content</a:t>
            </a:r>
            <a:r>
              <a:rPr lang="es-ES" sz="1700" dirty="0">
                <a:latin typeface="+mj-lt"/>
              </a:rPr>
              <a:t> pero alinea las cajas en el eje </a:t>
            </a:r>
            <a:r>
              <a:rPr lang="es-ES" sz="1700" dirty="0" smtClean="0">
                <a:latin typeface="+mj-lt"/>
              </a:rPr>
              <a:t>transversal.</a:t>
            </a:r>
            <a:endParaRPr lang="es-ES" sz="17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n-US" sz="1600" dirty="0" smtClean="0">
                <a:latin typeface="+mj-lt"/>
              </a:rPr>
              <a:t>align-items: </a:t>
            </a:r>
            <a:r>
              <a:rPr lang="en-US" sz="1600" dirty="0">
                <a:latin typeface="+mj-lt"/>
              </a:rPr>
              <a:t>flex-start</a:t>
            </a: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n-U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n-U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n-US" sz="1600" dirty="0">
                <a:latin typeface="+mj-lt"/>
              </a:rPr>
              <a:t>align-items: flex-end</a:t>
            </a: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n-U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n-U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n-US" sz="1600" dirty="0">
                <a:latin typeface="+mj-lt"/>
              </a:rPr>
              <a:t> align-items: center</a:t>
            </a: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n-U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n-U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n-US" sz="1600" dirty="0">
                <a:latin typeface="+mj-lt"/>
              </a:rPr>
              <a:t>align-items: </a:t>
            </a:r>
            <a:r>
              <a:rPr lang="en-US" sz="1600" dirty="0" smtClean="0">
                <a:latin typeface="+mj-lt"/>
              </a:rPr>
              <a:t>baseline</a:t>
            </a:r>
            <a:endParaRPr lang="en-U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n-U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n-U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n-US" sz="1600" dirty="0">
                <a:latin typeface="+mj-lt"/>
              </a:rPr>
              <a:t> align-items: </a:t>
            </a:r>
            <a:r>
              <a:rPr lang="en-US" sz="1600" dirty="0" smtClean="0">
                <a:latin typeface="+mj-lt"/>
              </a:rPr>
              <a:t>stretch</a:t>
            </a:r>
            <a:endParaRPr lang="en-US" sz="16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>
                <a:latin typeface="+mj-lt"/>
              </a:rPr>
              <a:t> </a:t>
            </a: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14</a:t>
            </a:fld>
            <a:endParaRPr lang="es-ES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906" y="3801479"/>
            <a:ext cx="2160000" cy="873297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906" y="5800261"/>
            <a:ext cx="2160000" cy="890824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906" y="2121018"/>
            <a:ext cx="2160000" cy="636573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1906" y="2956098"/>
            <a:ext cx="2160000" cy="756068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1906" y="4799423"/>
            <a:ext cx="2160000" cy="87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1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– </a:t>
            </a:r>
            <a:r>
              <a:rPr lang="es-ES" sz="4000" dirty="0" err="1" smtClean="0"/>
              <a:t>align-self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A </a:t>
            </a:r>
            <a:r>
              <a:rPr lang="es-ES" sz="1700" dirty="0">
                <a:latin typeface="+mj-lt"/>
              </a:rPr>
              <a:t>veces puede resultar útil alinear las cajas independientemente de la alineación establecida por sus elementos padres o contenedores. La propiedad de </a:t>
            </a:r>
            <a:r>
              <a:rPr lang="es-ES" sz="1700" dirty="0" err="1" smtClean="0">
                <a:latin typeface="+mj-lt"/>
              </a:rPr>
              <a:t>align-­</a:t>
            </a:r>
            <a:r>
              <a:rPr lang="es-ES" sz="1700" dirty="0" err="1">
                <a:latin typeface="+mj-lt"/>
              </a:rPr>
              <a:t>self</a:t>
            </a:r>
            <a:r>
              <a:rPr lang="es-ES" sz="1700" dirty="0">
                <a:latin typeface="+mj-lt"/>
              </a:rPr>
              <a:t> funciona exactamente igual </a:t>
            </a:r>
            <a:r>
              <a:rPr lang="es-ES" sz="1700" dirty="0" err="1">
                <a:latin typeface="+mj-lt"/>
              </a:rPr>
              <a:t>align-items</a:t>
            </a:r>
            <a:r>
              <a:rPr lang="es-ES" sz="1700" dirty="0">
                <a:latin typeface="+mj-lt"/>
              </a:rPr>
              <a:t>, pero para elementos hijos.</a:t>
            </a: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15</a:t>
            </a:fld>
            <a:endParaRPr lang="es-E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48369" y="2420888"/>
            <a:ext cx="4455499" cy="4247317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57188" indent="-357188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s-E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contenedor</a:t>
            </a: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display: flex; 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border:1px black solid;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padding:10px;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width:600px;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height: 200px;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align-items: flex-end;</a:t>
            </a:r>
          </a:p>
          <a:p>
            <a:pPr marL="357188" indent="-357188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57188" indent="-357188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div{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background-color:#999999;</a:t>
            </a:r>
          </a:p>
          <a:p>
            <a:pPr marL="357188" indent="0" eaLnBrk="1" hangingPunct="1">
              <a:buNone/>
            </a:pPr>
            <a:r>
              <a:rPr lang="en-US" altLang="es-E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text-align:center</a:t>
            </a: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margin: 0 5px;</a:t>
            </a:r>
          </a:p>
          <a:p>
            <a:pPr marL="357188" indent="-357188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57188" indent="-357188" eaLnBrk="1" hangingPunct="1">
              <a:buNone/>
            </a:pPr>
            <a:r>
              <a:rPr lang="en-US" altLang="es-E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caja1{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height: 100px;</a:t>
            </a:r>
          </a:p>
          <a:p>
            <a:pPr marL="357188" indent="-357188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57188" indent="-357188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#caja2{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height: 100px;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align-self: center;</a:t>
            </a:r>
          </a:p>
          <a:p>
            <a:pPr marL="357188" indent="-357188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57188" indent="-357188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#caja3{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height: 100px;</a:t>
            </a:r>
          </a:p>
          <a:p>
            <a:pPr marL="357188" indent="-357188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57188" indent="-357188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#caja4 {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flex: 1;</a:t>
            </a:r>
          </a:p>
          <a:p>
            <a:pPr marL="357188" indent="0" eaLnBrk="1" hangingPunct="1">
              <a:buNone/>
            </a:pPr>
            <a:r>
              <a:rPr lang="en-US" altLang="es-E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height: 100px;</a:t>
            </a:r>
          </a:p>
          <a:p>
            <a:pPr marL="357188" indent="-357188" eaLnBrk="1" hangingPunct="1">
              <a:buNone/>
            </a:pPr>
            <a:r>
              <a:rPr lang="en-US" altLang="es-ES" sz="9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Imagen 11"/>
          <p:cNvPicPr/>
          <p:nvPr/>
        </p:nvPicPr>
        <p:blipFill>
          <a:blip r:embed="rId2"/>
          <a:stretch>
            <a:fillRect/>
          </a:stretch>
        </p:blipFill>
        <p:spPr>
          <a:xfrm>
            <a:off x="5163027" y="3144034"/>
            <a:ext cx="3599815" cy="147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1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– </a:t>
            </a:r>
            <a:r>
              <a:rPr lang="es-ES" sz="4000" dirty="0" err="1" smtClean="0"/>
              <a:t>flex-wrap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Un contenedor flexible puede tener una o más líneas de cajas. La propiedad </a:t>
            </a:r>
            <a:r>
              <a:rPr lang="es-ES" sz="1700" dirty="0" err="1" smtClean="0">
                <a:latin typeface="+mj-lt"/>
              </a:rPr>
              <a:t>flex-wrap</a:t>
            </a:r>
            <a:r>
              <a:rPr lang="es-ES" sz="1700" dirty="0" smtClean="0">
                <a:latin typeface="+mj-lt"/>
              </a:rPr>
              <a:t> establece esta condición mediante tres valores posibles:</a:t>
            </a:r>
          </a:p>
          <a:p>
            <a:pPr marL="834390" lvl="3" indent="-285750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600" dirty="0" err="1" smtClean="0">
                <a:latin typeface="+mj-lt"/>
              </a:rPr>
              <a:t>flex-wrap</a:t>
            </a:r>
            <a:r>
              <a:rPr lang="es-ES" sz="1600" dirty="0" smtClean="0">
                <a:latin typeface="+mj-lt"/>
              </a:rPr>
              <a:t>: </a:t>
            </a:r>
            <a:r>
              <a:rPr lang="es-ES" sz="1600" dirty="0" err="1" smtClean="0">
                <a:latin typeface="+mj-lt"/>
              </a:rPr>
              <a:t>wrap</a:t>
            </a:r>
            <a:r>
              <a:rPr lang="es-ES" sz="1600" dirty="0">
                <a:latin typeface="+mj-lt"/>
              </a:rPr>
              <a:t>: establece un contenedor flexible de una sola línea</a:t>
            </a:r>
            <a:endParaRPr lang="es-ES" sz="1600" dirty="0" smtClean="0">
              <a:latin typeface="+mj-lt"/>
            </a:endParaRPr>
          </a:p>
          <a:p>
            <a:pPr marL="834390" lvl="3" indent="-285750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600" dirty="0" err="1" smtClean="0">
                <a:latin typeface="+mj-lt"/>
              </a:rPr>
              <a:t>flex-wrap:no-wrap</a:t>
            </a:r>
            <a:r>
              <a:rPr lang="es-ES" sz="1600" dirty="0">
                <a:latin typeface="+mj-lt"/>
              </a:rPr>
              <a:t>: declara un contenedor de varias líneas y ordena  las líneas desde el inicio del eje transversal hasta el final de éste</a:t>
            </a:r>
            <a:endParaRPr lang="es-ES" sz="1600" dirty="0" smtClean="0">
              <a:latin typeface="+mj-lt"/>
            </a:endParaRPr>
          </a:p>
          <a:p>
            <a:pPr marL="834390" lvl="3" indent="-285750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600" dirty="0" err="1" smtClean="0">
                <a:latin typeface="+mj-lt"/>
              </a:rPr>
              <a:t>flex-wrap</a:t>
            </a:r>
            <a:r>
              <a:rPr lang="es-ES" sz="1600" dirty="0" smtClean="0">
                <a:latin typeface="+mj-lt"/>
              </a:rPr>
              <a:t>: </a:t>
            </a:r>
            <a:r>
              <a:rPr lang="es-ES" sz="1600" dirty="0" err="1" smtClean="0">
                <a:latin typeface="+mj-lt"/>
              </a:rPr>
              <a:t>wrap</a:t>
            </a:r>
            <a:r>
              <a:rPr lang="es-ES" sz="1600" dirty="0" smtClean="0">
                <a:latin typeface="+mj-lt"/>
              </a:rPr>
              <a:t>-reverse</a:t>
            </a:r>
            <a:r>
              <a:rPr lang="es-ES" sz="1600" dirty="0">
                <a:latin typeface="+mj-lt"/>
              </a:rPr>
              <a:t>: declara un contenedor de varias líneas y ordena  las líneas desde el </a:t>
            </a:r>
            <a:r>
              <a:rPr lang="es-ES" sz="1600" dirty="0" smtClean="0">
                <a:latin typeface="+mj-lt"/>
              </a:rPr>
              <a:t>final </a:t>
            </a:r>
            <a:r>
              <a:rPr lang="es-ES" sz="1600" dirty="0">
                <a:latin typeface="+mj-lt"/>
              </a:rPr>
              <a:t>del eje transversal hasta el </a:t>
            </a:r>
            <a:r>
              <a:rPr lang="es-ES" sz="1600" dirty="0" smtClean="0">
                <a:latin typeface="+mj-lt"/>
              </a:rPr>
              <a:t>inicio </a:t>
            </a:r>
            <a:r>
              <a:rPr lang="es-ES" sz="1600" dirty="0">
                <a:latin typeface="+mj-lt"/>
              </a:rPr>
              <a:t>de éste</a:t>
            </a:r>
            <a:endParaRPr lang="es-ES" sz="1600" dirty="0" smtClean="0">
              <a:latin typeface="+mj-lt"/>
            </a:endParaRPr>
          </a:p>
          <a:p>
            <a:pPr marL="560070" lvl="2" indent="-285750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424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display</a:t>
            </a:r>
            <a:r>
              <a:rPr lang="es-ES" sz="4000" dirty="0" smtClean="0"/>
              <a:t>: </a:t>
            </a:r>
            <a:r>
              <a:rPr lang="es-ES" sz="4000" dirty="0" err="1" smtClean="0"/>
              <a:t>flex</a:t>
            </a:r>
            <a:r>
              <a:rPr lang="es-ES" sz="4000" dirty="0" smtClean="0"/>
              <a:t> – </a:t>
            </a:r>
            <a:r>
              <a:rPr lang="es-ES" sz="4000" dirty="0" err="1" smtClean="0"/>
              <a:t>align-content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 algn="just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700" dirty="0" smtClean="0">
                <a:latin typeface="+mj-lt"/>
              </a:rPr>
              <a:t>Cuando </a:t>
            </a:r>
            <a:r>
              <a:rPr lang="es-ES" sz="1700" dirty="0">
                <a:latin typeface="+mj-lt"/>
              </a:rPr>
              <a:t>un contenedor flexible tiene múltiples líneas, es posible que haga falta alinearlas. La propiedad </a:t>
            </a:r>
            <a:r>
              <a:rPr lang="es-ES" sz="1700" dirty="0" err="1">
                <a:latin typeface="+mj-lt"/>
              </a:rPr>
              <a:t>align-content</a:t>
            </a:r>
            <a:r>
              <a:rPr lang="es-ES" sz="1700" dirty="0">
                <a:latin typeface="+mj-lt"/>
              </a:rPr>
              <a:t> alinea las líneas dentro de un contenedor </a:t>
            </a:r>
            <a:r>
              <a:rPr lang="es-ES" sz="1700" dirty="0" smtClean="0">
                <a:latin typeface="+mj-lt"/>
              </a:rPr>
              <a:t>flexible.</a:t>
            </a:r>
            <a:endParaRPr lang="es-ES" sz="17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600" dirty="0" err="1" smtClean="0">
                <a:latin typeface="+mj-lt"/>
              </a:rPr>
              <a:t>align-content</a:t>
            </a:r>
            <a:r>
              <a:rPr lang="es-ES" sz="1600" dirty="0">
                <a:latin typeface="+mj-lt"/>
              </a:rPr>
              <a:t>: </a:t>
            </a:r>
            <a:r>
              <a:rPr lang="es-ES" sz="1600" dirty="0" err="1">
                <a:latin typeface="+mj-lt"/>
              </a:rPr>
              <a:t>flex-start</a:t>
            </a:r>
            <a:endParaRPr lang="es-E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600" dirty="0">
                <a:latin typeface="+mj-lt"/>
              </a:rPr>
              <a:t> </a:t>
            </a:r>
            <a:r>
              <a:rPr lang="es-ES" sz="1600" dirty="0" err="1" smtClean="0">
                <a:latin typeface="+mj-lt"/>
              </a:rPr>
              <a:t>align-content</a:t>
            </a:r>
            <a:r>
              <a:rPr lang="es-ES" sz="1600" dirty="0">
                <a:latin typeface="+mj-lt"/>
              </a:rPr>
              <a:t>: </a:t>
            </a:r>
            <a:r>
              <a:rPr lang="es-ES" sz="1600" dirty="0" err="1">
                <a:latin typeface="+mj-lt"/>
              </a:rPr>
              <a:t>flex-end</a:t>
            </a:r>
            <a:endParaRPr lang="es-E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600" dirty="0" smtClean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600" dirty="0" err="1" smtClean="0">
                <a:latin typeface="+mj-lt"/>
              </a:rPr>
              <a:t>align-content</a:t>
            </a:r>
            <a:r>
              <a:rPr lang="es-ES" sz="1600" dirty="0">
                <a:latin typeface="+mj-lt"/>
              </a:rPr>
              <a:t>: center</a:t>
            </a: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600" dirty="0" err="1">
                <a:latin typeface="+mj-lt"/>
              </a:rPr>
              <a:t>align-content</a:t>
            </a:r>
            <a:r>
              <a:rPr lang="es-ES" sz="1600" dirty="0">
                <a:latin typeface="+mj-lt"/>
              </a:rPr>
              <a:t>: </a:t>
            </a:r>
            <a:r>
              <a:rPr lang="es-ES" sz="1600" dirty="0" err="1" smtClean="0">
                <a:latin typeface="+mj-lt"/>
              </a:rPr>
              <a:t>space-­</a:t>
            </a:r>
            <a:r>
              <a:rPr lang="es-ES" sz="1600" dirty="0" err="1">
                <a:latin typeface="+mj-lt"/>
              </a:rPr>
              <a:t>between</a:t>
            </a:r>
            <a:endParaRPr lang="es-E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600" dirty="0" err="1">
                <a:latin typeface="+mj-lt"/>
              </a:rPr>
              <a:t>align-content</a:t>
            </a:r>
            <a:r>
              <a:rPr lang="es-ES" sz="1600" dirty="0">
                <a:latin typeface="+mj-lt"/>
              </a:rPr>
              <a:t>: </a:t>
            </a:r>
            <a:r>
              <a:rPr lang="es-ES" sz="1600" dirty="0" err="1">
                <a:latin typeface="+mj-lt"/>
              </a:rPr>
              <a:t>space</a:t>
            </a:r>
            <a:r>
              <a:rPr lang="es-ES" sz="1600" dirty="0" err="1" smtClean="0">
                <a:latin typeface="+mj-lt"/>
              </a:rPr>
              <a:t>­-around</a:t>
            </a:r>
            <a:endParaRPr lang="es-E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endParaRPr lang="es-ES" sz="1600" dirty="0">
              <a:latin typeface="+mj-lt"/>
            </a:endParaRPr>
          </a:p>
          <a:p>
            <a:pPr marL="834390" lvl="3" indent="-28575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1600" dirty="0" err="1">
                <a:latin typeface="+mj-lt"/>
              </a:rPr>
              <a:t>align-content</a:t>
            </a:r>
            <a:r>
              <a:rPr lang="es-ES" sz="1600" dirty="0">
                <a:latin typeface="+mj-lt"/>
              </a:rPr>
              <a:t>: </a:t>
            </a:r>
            <a:r>
              <a:rPr lang="es-ES" sz="1600" dirty="0" err="1">
                <a:latin typeface="+mj-lt"/>
              </a:rPr>
              <a:t>stretch</a:t>
            </a:r>
            <a:endParaRPr lang="es-ES" sz="16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17</a:t>
            </a:fld>
            <a:endParaRPr lang="es-ES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460" y="2708920"/>
            <a:ext cx="3467283" cy="288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2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visibility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20700" lvl="3" indent="-34290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b="1" dirty="0" err="1" smtClean="0">
                <a:latin typeface="+mj-lt"/>
              </a:rPr>
              <a:t>hidden</a:t>
            </a:r>
            <a:r>
              <a:rPr lang="es-ES" b="1" dirty="0" smtClean="0">
                <a:latin typeface="+mj-lt"/>
              </a:rPr>
              <a:t> </a:t>
            </a:r>
            <a:r>
              <a:rPr lang="es-ES" dirty="0">
                <a:latin typeface="+mj-lt"/>
              </a:rPr>
              <a:t>convertir una caja en invisible para que no muestre sus contenidos. El resto </a:t>
            </a:r>
            <a:r>
              <a:rPr lang="es-ES" dirty="0" smtClean="0">
                <a:latin typeface="+mj-lt"/>
              </a:rPr>
              <a:t>de elementos </a:t>
            </a:r>
            <a:r>
              <a:rPr lang="es-ES" dirty="0">
                <a:latin typeface="+mj-lt"/>
              </a:rPr>
              <a:t>de la página se muestran como si la caja todavía fuera visible, por lo que en el </a:t>
            </a:r>
            <a:r>
              <a:rPr lang="es-ES" dirty="0" smtClean="0">
                <a:latin typeface="+mj-lt"/>
              </a:rPr>
              <a:t>lugar donde se </a:t>
            </a:r>
            <a:r>
              <a:rPr lang="es-ES" dirty="0">
                <a:latin typeface="+mj-lt"/>
              </a:rPr>
              <a:t>mostraba la caja invisible, </a:t>
            </a:r>
            <a:r>
              <a:rPr lang="es-ES" dirty="0" smtClean="0">
                <a:latin typeface="+mj-lt"/>
              </a:rPr>
              <a:t>se mostrará </a:t>
            </a:r>
            <a:r>
              <a:rPr lang="es-ES" dirty="0">
                <a:latin typeface="+mj-lt"/>
              </a:rPr>
              <a:t>un hueco </a:t>
            </a:r>
            <a:r>
              <a:rPr lang="es-ES" dirty="0" smtClean="0">
                <a:latin typeface="+mj-lt"/>
              </a:rPr>
              <a:t>vacío.</a:t>
            </a:r>
            <a:endParaRPr lang="es-ES" dirty="0">
              <a:latin typeface="+mj-lt"/>
            </a:endParaRPr>
          </a:p>
          <a:p>
            <a:pPr marL="520700" lvl="3" indent="-34290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b="1" dirty="0">
                <a:latin typeface="+mj-lt"/>
              </a:rPr>
              <a:t>v</a:t>
            </a:r>
            <a:r>
              <a:rPr lang="es-ES" b="1" dirty="0" smtClean="0">
                <a:latin typeface="+mj-lt"/>
              </a:rPr>
              <a:t>isible </a:t>
            </a:r>
            <a:r>
              <a:rPr lang="es-ES" dirty="0" smtClean="0">
                <a:latin typeface="+mj-lt"/>
              </a:rPr>
              <a:t>muestra una caja que en algún momento se ha hecho invisible.</a:t>
            </a:r>
            <a:r>
              <a:rPr lang="es-ES" b="1" dirty="0" smtClean="0">
                <a:latin typeface="+mj-lt"/>
              </a:rPr>
              <a:t> </a:t>
            </a:r>
          </a:p>
          <a:p>
            <a:pPr marL="520700" lvl="3" indent="-34290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b="1" dirty="0" err="1">
                <a:latin typeface="+mj-lt"/>
              </a:rPr>
              <a:t>c</a:t>
            </a:r>
            <a:r>
              <a:rPr lang="es-ES" b="1" dirty="0" err="1" smtClean="0">
                <a:latin typeface="+mj-lt"/>
              </a:rPr>
              <a:t>ollapse</a:t>
            </a:r>
            <a:r>
              <a:rPr lang="es-ES" dirty="0">
                <a:latin typeface="+mj-lt"/>
              </a:rPr>
              <a:t> sólo se puede utilizar en las </a:t>
            </a:r>
            <a:r>
              <a:rPr lang="es-ES" dirty="0" smtClean="0">
                <a:latin typeface="+mj-lt"/>
              </a:rPr>
              <a:t>filas, grupos </a:t>
            </a:r>
            <a:r>
              <a:rPr lang="es-ES" dirty="0">
                <a:latin typeface="+mj-lt"/>
              </a:rPr>
              <a:t>de filas, columnas y grupos de columnas de una tabla. Su efecto es similar al de </a:t>
            </a:r>
            <a:r>
              <a:rPr lang="es-ES" dirty="0" smtClean="0">
                <a:latin typeface="+mj-lt"/>
              </a:rPr>
              <a:t>la propiedad </a:t>
            </a:r>
            <a:r>
              <a:rPr lang="es-ES" dirty="0" err="1">
                <a:latin typeface="+mj-lt"/>
              </a:rPr>
              <a:t>display</a:t>
            </a:r>
            <a:r>
              <a:rPr lang="es-ES" dirty="0">
                <a:latin typeface="+mj-lt"/>
              </a:rPr>
              <a:t>, ya que oculta completamente la fila y/o columna y se pueden mostrar </a:t>
            </a:r>
            <a:r>
              <a:rPr lang="es-ES" dirty="0" smtClean="0">
                <a:latin typeface="+mj-lt"/>
              </a:rPr>
              <a:t>otros contenidos </a:t>
            </a:r>
            <a:r>
              <a:rPr lang="es-ES" dirty="0">
                <a:latin typeface="+mj-lt"/>
              </a:rPr>
              <a:t>en ese lugar. </a:t>
            </a:r>
            <a:r>
              <a:rPr lang="es-ES" dirty="0" smtClean="0">
                <a:latin typeface="+mj-lt"/>
              </a:rPr>
              <a:t>Si </a:t>
            </a:r>
            <a:r>
              <a:rPr lang="es-ES" dirty="0">
                <a:latin typeface="+mj-lt"/>
              </a:rPr>
              <a:t>se utiliza </a:t>
            </a:r>
            <a:r>
              <a:rPr lang="es-ES" dirty="0" err="1" smtClean="0">
                <a:latin typeface="+mj-lt"/>
              </a:rPr>
              <a:t>collapse</a:t>
            </a:r>
            <a:r>
              <a:rPr lang="es-ES" dirty="0" smtClean="0">
                <a:latin typeface="+mj-lt"/>
              </a:rPr>
              <a:t> </a:t>
            </a:r>
            <a:r>
              <a:rPr lang="es-ES" dirty="0">
                <a:latin typeface="+mj-lt"/>
              </a:rPr>
              <a:t>sobre </a:t>
            </a:r>
            <a:r>
              <a:rPr lang="es-ES" dirty="0" smtClean="0">
                <a:latin typeface="+mj-lt"/>
              </a:rPr>
              <a:t>otro </a:t>
            </a:r>
            <a:r>
              <a:rPr lang="es-ES" dirty="0">
                <a:latin typeface="+mj-lt"/>
              </a:rPr>
              <a:t>tipo de elemento, </a:t>
            </a:r>
            <a:r>
              <a:rPr lang="es-ES" dirty="0" smtClean="0">
                <a:latin typeface="+mj-lt"/>
              </a:rPr>
              <a:t>su efecto </a:t>
            </a:r>
            <a:r>
              <a:rPr lang="es-ES" dirty="0">
                <a:latin typeface="+mj-lt"/>
              </a:rPr>
              <a:t>es idéntico </a:t>
            </a:r>
            <a:r>
              <a:rPr lang="es-ES" dirty="0" smtClean="0">
                <a:latin typeface="+mj-lt"/>
              </a:rPr>
              <a:t>a </a:t>
            </a:r>
            <a:r>
              <a:rPr lang="es-ES" dirty="0" err="1" smtClean="0">
                <a:latin typeface="+mj-lt"/>
              </a:rPr>
              <a:t>hidden</a:t>
            </a:r>
            <a:r>
              <a:rPr lang="es-ES" dirty="0">
                <a:latin typeface="+mj-lt"/>
              </a:rPr>
              <a:t>.</a:t>
            </a: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18</a:t>
            </a:fld>
            <a:endParaRPr lang="es-ES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903687"/>
              </p:ext>
            </p:extLst>
          </p:nvPr>
        </p:nvGraphicFramePr>
        <p:xfrm>
          <a:off x="457200" y="1700808"/>
          <a:ext cx="8229600" cy="748464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234480">
                  <a:extLst>
                    <a:ext uri="{9D8B030D-6E8A-4147-A177-3AD203B41FA5}">
                      <a16:colId xmlns:a16="http://schemas.microsoft.com/office/drawing/2014/main" val="2548233163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585908700"/>
                    </a:ext>
                  </a:extLst>
                </a:gridCol>
                <a:gridCol w="4402832">
                  <a:extLst>
                    <a:ext uri="{9D8B030D-6E8A-4147-A177-3AD203B41FA5}">
                      <a16:colId xmlns:a16="http://schemas.microsoft.com/office/drawing/2014/main" val="67049254"/>
                    </a:ext>
                  </a:extLst>
                </a:gridCol>
              </a:tblGrid>
              <a:tr h="237072"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  <a:latin typeface="+mj-lt"/>
                        </a:rPr>
                        <a:t>Propiedad</a:t>
                      </a:r>
                      <a:endParaRPr lang="es-ES" sz="18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  <a:latin typeface="+mj-lt"/>
                        </a:rPr>
                        <a:t>Descripción</a:t>
                      </a:r>
                      <a:endParaRPr lang="es-ES" sz="18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  <a:latin typeface="+mj-lt"/>
                        </a:rPr>
                        <a:t>Valores</a:t>
                      </a:r>
                      <a:endParaRPr lang="es-ES" sz="18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extLst>
                  <a:ext uri="{0D108BD9-81ED-4DB2-BD59-A6C34878D82A}">
                    <a16:rowId xmlns:a16="http://schemas.microsoft.com/office/drawing/2014/main" val="1244770250"/>
                  </a:ext>
                </a:extLst>
              </a:tr>
              <a:tr h="414876">
                <a:tc>
                  <a:txBody>
                    <a:bodyPr/>
                    <a:lstStyle/>
                    <a:p>
                      <a:r>
                        <a:rPr lang="es-ES" sz="1800" dirty="0" err="1">
                          <a:latin typeface="+mj-lt"/>
                        </a:rPr>
                        <a:t>visibility</a:t>
                      </a:r>
                      <a:endParaRPr lang="es-ES" sz="1800" dirty="0"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latin typeface="+mj-lt"/>
                        </a:rPr>
                        <a:t>Visibilidad de las cajas</a:t>
                      </a: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  <a:latin typeface="+mj-lt"/>
                        </a:rPr>
                        <a:t>[ visible | </a:t>
                      </a:r>
                      <a:r>
                        <a:rPr lang="es-ES" sz="1800" dirty="0" err="1">
                          <a:effectLst/>
                          <a:latin typeface="+mj-lt"/>
                        </a:rPr>
                        <a:t>hidden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 | </a:t>
                      </a:r>
                      <a:r>
                        <a:rPr lang="es-ES" sz="1800" dirty="0" err="1">
                          <a:effectLst/>
                          <a:latin typeface="+mj-lt"/>
                        </a:rPr>
                        <a:t>collapse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 ]</a:t>
                      </a:r>
                    </a:p>
                  </a:txBody>
                  <a:tcPr marL="59268" marR="59268" marT="29634" marB="29634" anchor="ctr"/>
                </a:tc>
                <a:extLst>
                  <a:ext uri="{0D108BD9-81ED-4DB2-BD59-A6C34878D82A}">
                    <a16:rowId xmlns:a16="http://schemas.microsoft.com/office/drawing/2014/main" val="1778107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28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visibility</a:t>
            </a:r>
            <a:r>
              <a:rPr lang="es-ES" sz="4000" dirty="0" smtClean="0"/>
              <a:t> vs </a:t>
            </a:r>
            <a:r>
              <a:rPr lang="es-ES" sz="4000" dirty="0" err="1" smtClean="0"/>
              <a:t>display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19</a:t>
            </a:fld>
            <a:endParaRPr lang="es-E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492896"/>
            <a:ext cx="4120307" cy="2160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323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overflow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265113" lvl="1" indent="-265113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endParaRPr lang="es-ES" sz="1800" b="1" dirty="0" smtClean="0">
              <a:latin typeface="+mj-lt"/>
            </a:endParaRPr>
          </a:p>
          <a:p>
            <a:pPr marL="265113" lvl="1" indent="-265113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endParaRPr lang="es-ES" sz="1800" b="1" dirty="0">
              <a:latin typeface="+mj-lt"/>
            </a:endParaRPr>
          </a:p>
          <a:p>
            <a:pPr marL="265113" lvl="1" indent="-265113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endParaRPr lang="es-ES" sz="1800" b="1" dirty="0" smtClean="0">
              <a:latin typeface="+mj-lt"/>
            </a:endParaRPr>
          </a:p>
          <a:p>
            <a:pPr marL="265113" lvl="1" indent="-265113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endParaRPr lang="es-ES" sz="1800" b="1" dirty="0">
              <a:latin typeface="+mj-lt"/>
            </a:endParaRPr>
          </a:p>
          <a:p>
            <a:pPr marL="0" lvl="1" indent="0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 smtClean="0">
              <a:latin typeface="+mj-lt"/>
            </a:endParaRPr>
          </a:p>
          <a:p>
            <a:pPr marL="560070" lvl="2" indent="-28575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2000" b="1" dirty="0">
                <a:latin typeface="+mj-lt"/>
              </a:rPr>
              <a:t>visible</a:t>
            </a:r>
            <a:r>
              <a:rPr lang="es-ES" sz="2000" dirty="0">
                <a:latin typeface="+mj-lt"/>
              </a:rPr>
              <a:t>: el contenido no se corta y se muestra sobresaliendo la zona reservada </a:t>
            </a:r>
            <a:r>
              <a:rPr lang="es-ES" sz="2000" dirty="0" smtClean="0">
                <a:latin typeface="+mj-lt"/>
              </a:rPr>
              <a:t>para visualizar </a:t>
            </a:r>
            <a:r>
              <a:rPr lang="es-ES" sz="2000" dirty="0">
                <a:latin typeface="+mj-lt"/>
              </a:rPr>
              <a:t>el elemento. Este es el comportamiento por defecto.</a:t>
            </a:r>
          </a:p>
          <a:p>
            <a:pPr marL="560070" lvl="2" indent="-28575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2000" b="1" dirty="0" err="1" smtClean="0">
                <a:latin typeface="+mj-lt"/>
              </a:rPr>
              <a:t>hidden</a:t>
            </a:r>
            <a:r>
              <a:rPr lang="es-ES" sz="2000" dirty="0">
                <a:latin typeface="+mj-lt"/>
              </a:rPr>
              <a:t>: el contenido sobrante se oculta y sólo se visualiza la parte del contenido que </a:t>
            </a:r>
            <a:r>
              <a:rPr lang="es-ES" sz="2000" dirty="0" smtClean="0">
                <a:latin typeface="+mj-lt"/>
              </a:rPr>
              <a:t>cabe dentro </a:t>
            </a:r>
            <a:r>
              <a:rPr lang="es-ES" sz="2000" dirty="0">
                <a:latin typeface="+mj-lt"/>
              </a:rPr>
              <a:t>de la zona reservada para el elemento.</a:t>
            </a:r>
          </a:p>
          <a:p>
            <a:pPr marL="560070" lvl="2" indent="-28575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2000" b="1" dirty="0" err="1" smtClean="0">
                <a:latin typeface="+mj-lt"/>
              </a:rPr>
              <a:t>scroll</a:t>
            </a:r>
            <a:r>
              <a:rPr lang="es-ES" sz="2000" dirty="0">
                <a:latin typeface="+mj-lt"/>
              </a:rPr>
              <a:t>: </a:t>
            </a:r>
            <a:r>
              <a:rPr lang="es-ES" sz="2000" dirty="0" smtClean="0">
                <a:latin typeface="+mj-lt"/>
              </a:rPr>
              <a:t>solo </a:t>
            </a:r>
            <a:r>
              <a:rPr lang="es-ES" sz="2000" dirty="0">
                <a:latin typeface="+mj-lt"/>
              </a:rPr>
              <a:t>se visualiza el contenido que cabe dentro de la zona reservada para </a:t>
            </a:r>
            <a:r>
              <a:rPr lang="es-ES" sz="2000" dirty="0" smtClean="0">
                <a:latin typeface="+mj-lt"/>
              </a:rPr>
              <a:t>el elemento</a:t>
            </a:r>
            <a:r>
              <a:rPr lang="es-ES" sz="2000" dirty="0">
                <a:latin typeface="+mj-lt"/>
              </a:rPr>
              <a:t>, pero también se muestran barras de </a:t>
            </a:r>
            <a:r>
              <a:rPr lang="es-ES" sz="2000" dirty="0" err="1">
                <a:latin typeface="+mj-lt"/>
              </a:rPr>
              <a:t>scroll</a:t>
            </a:r>
            <a:r>
              <a:rPr lang="es-ES" sz="2000" dirty="0">
                <a:latin typeface="+mj-lt"/>
              </a:rPr>
              <a:t> que permiten visualizar el </a:t>
            </a:r>
            <a:r>
              <a:rPr lang="es-ES" sz="2000" dirty="0" smtClean="0">
                <a:latin typeface="+mj-lt"/>
              </a:rPr>
              <a:t>resto.</a:t>
            </a:r>
            <a:endParaRPr lang="es-ES" sz="2000" dirty="0">
              <a:latin typeface="+mj-lt"/>
            </a:endParaRPr>
          </a:p>
          <a:p>
            <a:pPr marL="560070" lvl="2" indent="-28575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q"/>
            </a:pPr>
            <a:r>
              <a:rPr lang="es-ES" sz="2000" b="1" dirty="0" smtClean="0">
                <a:latin typeface="+mj-lt"/>
              </a:rPr>
              <a:t>auto</a:t>
            </a:r>
            <a:r>
              <a:rPr lang="es-ES" sz="2000" dirty="0">
                <a:latin typeface="+mj-lt"/>
              </a:rPr>
              <a:t>: el comportamiento depende del navegador, aunque normalmente es el mismo que </a:t>
            </a:r>
            <a:r>
              <a:rPr lang="es-ES" sz="2000" dirty="0" smtClean="0">
                <a:latin typeface="+mj-lt"/>
              </a:rPr>
              <a:t>la propiedad </a:t>
            </a:r>
            <a:r>
              <a:rPr lang="es-ES" sz="2000" dirty="0" err="1">
                <a:latin typeface="+mj-lt"/>
              </a:rPr>
              <a:t>scroll</a:t>
            </a:r>
            <a:r>
              <a:rPr lang="es-ES" sz="2000" dirty="0">
                <a:latin typeface="+mj-lt"/>
              </a:rPr>
              <a:t>.</a:t>
            </a: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20</a:t>
            </a:fld>
            <a:endParaRPr lang="es-ES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967468"/>
              </p:ext>
            </p:extLst>
          </p:nvPr>
        </p:nvGraphicFramePr>
        <p:xfrm>
          <a:off x="353987" y="1704476"/>
          <a:ext cx="8229600" cy="850056"/>
        </p:xfrm>
        <a:graphic>
          <a:graphicData uri="http://schemas.openxmlformats.org/drawingml/2006/table">
            <a:tbl>
              <a:tblPr firstRow="1" firstCol="1">
                <a:tableStyleId>{72833802-FEF1-4C79-8D5D-14CF1EAF98D9}</a:tableStyleId>
              </a:tblPr>
              <a:tblGrid>
                <a:gridCol w="1337693">
                  <a:extLst>
                    <a:ext uri="{9D8B030D-6E8A-4147-A177-3AD203B41FA5}">
                      <a16:colId xmlns:a16="http://schemas.microsoft.com/office/drawing/2014/main" val="2873243596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1606027926"/>
                    </a:ext>
                  </a:extLst>
                </a:gridCol>
                <a:gridCol w="3003475">
                  <a:extLst>
                    <a:ext uri="{9D8B030D-6E8A-4147-A177-3AD203B41FA5}">
                      <a16:colId xmlns:a16="http://schemas.microsoft.com/office/drawing/2014/main" val="748150256"/>
                    </a:ext>
                  </a:extLst>
                </a:gridCol>
              </a:tblGrid>
              <a:tr h="237072"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  <a:latin typeface="+mj-lt"/>
                        </a:rPr>
                        <a:t>Propiedad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  <a:latin typeface="+mj-lt"/>
                        </a:rPr>
                        <a:t>Descripción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  <a:latin typeface="+mj-lt"/>
                        </a:rPr>
                        <a:t>Valores</a:t>
                      </a:r>
                      <a:endParaRPr lang="es-ES" sz="16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extLst>
                  <a:ext uri="{0D108BD9-81ED-4DB2-BD59-A6C34878D82A}">
                    <a16:rowId xmlns:a16="http://schemas.microsoft.com/office/drawing/2014/main" val="3881374898"/>
                  </a:ext>
                </a:extLst>
              </a:tr>
              <a:tr h="414876"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+mj-lt"/>
                        </a:rPr>
                        <a:t>overflow</a:t>
                      </a:r>
                      <a:endParaRPr lang="es-ES" sz="1600" dirty="0"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latin typeface="+mj-lt"/>
                        </a:rPr>
                        <a:t>Comportamiento del contenido si se desborda en la caja</a:t>
                      </a: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effectLst/>
                          <a:latin typeface="+mj-lt"/>
                        </a:rPr>
                        <a:t>[ visible | </a:t>
                      </a:r>
                      <a:r>
                        <a:rPr lang="es-ES" sz="1600" dirty="0" err="1">
                          <a:effectLst/>
                          <a:latin typeface="+mj-lt"/>
                        </a:rPr>
                        <a:t>hidden</a:t>
                      </a:r>
                      <a:r>
                        <a:rPr lang="es-ES" sz="1600" dirty="0">
                          <a:effectLst/>
                          <a:latin typeface="+mj-lt"/>
                        </a:rPr>
                        <a:t> | </a:t>
                      </a:r>
                      <a:r>
                        <a:rPr lang="es-ES" sz="1600" dirty="0" err="1">
                          <a:effectLst/>
                          <a:latin typeface="+mj-lt"/>
                        </a:rPr>
                        <a:t>scroll</a:t>
                      </a:r>
                      <a:r>
                        <a:rPr lang="es-ES" sz="1600" dirty="0">
                          <a:effectLst/>
                          <a:latin typeface="+mj-lt"/>
                        </a:rPr>
                        <a:t> | auto ]</a:t>
                      </a:r>
                    </a:p>
                  </a:txBody>
                  <a:tcPr marL="59268" marR="59268" marT="29634" marB="29634" anchor="ctr"/>
                </a:tc>
                <a:extLst>
                  <a:ext uri="{0D108BD9-81ED-4DB2-BD59-A6C34878D82A}">
                    <a16:rowId xmlns:a16="http://schemas.microsoft.com/office/drawing/2014/main" val="2955169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80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overflow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21</a:t>
            </a:fld>
            <a:endParaRPr lang="es-E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772816"/>
            <a:ext cx="48387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081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err="1" smtClean="0"/>
              <a:t>overflow</a:t>
            </a:r>
            <a:r>
              <a:rPr lang="es-ES" sz="4000" dirty="0" smtClean="0"/>
              <a:t>-x y </a:t>
            </a:r>
            <a:r>
              <a:rPr lang="es-ES" sz="4000" dirty="0" err="1" smtClean="0"/>
              <a:t>overflow</a:t>
            </a:r>
            <a:r>
              <a:rPr lang="es-ES" sz="4000" dirty="0" smtClean="0"/>
              <a:t>-y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265113" lvl="1" indent="-265113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endParaRPr lang="es-ES" sz="1800" b="1" dirty="0" smtClean="0">
              <a:latin typeface="+mj-lt"/>
            </a:endParaRPr>
          </a:p>
          <a:p>
            <a:pPr marL="265113" lvl="1" indent="-265113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b="1" dirty="0" err="1">
                <a:latin typeface="+mj-lt"/>
              </a:rPr>
              <a:t>overflow</a:t>
            </a:r>
            <a:r>
              <a:rPr lang="es-ES" b="1" dirty="0">
                <a:latin typeface="+mj-lt"/>
              </a:rPr>
              <a:t>-x </a:t>
            </a:r>
            <a:r>
              <a:rPr lang="es-ES" dirty="0">
                <a:latin typeface="+mj-lt"/>
              </a:rPr>
              <a:t>y</a:t>
            </a:r>
            <a:r>
              <a:rPr lang="es-ES" b="1" dirty="0">
                <a:latin typeface="+mj-lt"/>
              </a:rPr>
              <a:t> </a:t>
            </a:r>
            <a:r>
              <a:rPr lang="es-ES" b="1" dirty="0" err="1">
                <a:latin typeface="+mj-lt"/>
              </a:rPr>
              <a:t>overflow</a:t>
            </a:r>
            <a:r>
              <a:rPr lang="es-ES" b="1" dirty="0">
                <a:latin typeface="+mj-lt"/>
              </a:rPr>
              <a:t>-y </a:t>
            </a:r>
            <a:r>
              <a:rPr lang="es-ES" dirty="0">
                <a:latin typeface="+mj-lt"/>
              </a:rPr>
              <a:t>sirven para exactamente lo mismo que </a:t>
            </a:r>
            <a:r>
              <a:rPr lang="es-ES" dirty="0" err="1">
                <a:latin typeface="+mj-lt"/>
              </a:rPr>
              <a:t>overflow</a:t>
            </a:r>
            <a:r>
              <a:rPr lang="es-ES" dirty="0">
                <a:latin typeface="+mj-lt"/>
              </a:rPr>
              <a:t>, pero con la diferencia que permiten especificar los comportamientos del navegador por separado, cuando surge un desbordamiento de un contenido en la horizontal y en la vertical </a:t>
            </a:r>
            <a:r>
              <a:rPr lang="es-ES" dirty="0" smtClean="0">
                <a:latin typeface="+mj-lt"/>
              </a:rPr>
              <a:t>respectivamente.</a:t>
            </a:r>
            <a:endParaRPr lang="es-ES" dirty="0">
              <a:latin typeface="+mj-lt"/>
            </a:endParaRPr>
          </a:p>
          <a:p>
            <a:pPr marL="265113" lvl="1" indent="-265113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endParaRPr lang="es-ES" sz="1800" b="1" dirty="0" smtClean="0">
              <a:latin typeface="+mj-lt"/>
            </a:endParaRPr>
          </a:p>
          <a:p>
            <a:pPr marL="265113" lvl="1" indent="-265113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endParaRPr lang="es-ES" sz="1800" b="1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293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507288" cy="1143000"/>
          </a:xfrm>
        </p:spPr>
        <p:txBody>
          <a:bodyPr>
            <a:normAutofit/>
          </a:bodyPr>
          <a:lstStyle/>
          <a:p>
            <a:r>
              <a:rPr lang="es-ES" sz="4000" dirty="0" smtClean="0"/>
              <a:t>z-</a:t>
            </a:r>
            <a:r>
              <a:rPr lang="es-ES" sz="4000" dirty="0" err="1" smtClean="0"/>
              <a:t>index</a:t>
            </a:r>
            <a:endParaRPr lang="es-ES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484784"/>
            <a:ext cx="8280920" cy="4968552"/>
          </a:xfrm>
        </p:spPr>
        <p:txBody>
          <a:bodyPr>
            <a:noAutofit/>
          </a:bodyPr>
          <a:lstStyle/>
          <a:p>
            <a:pPr marL="26511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b="1" dirty="0" smtClean="0">
              <a:latin typeface="+mj-lt"/>
            </a:endParaRPr>
          </a:p>
          <a:p>
            <a:pPr marL="26511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b="1" dirty="0">
              <a:latin typeface="+mj-lt"/>
            </a:endParaRPr>
          </a:p>
          <a:p>
            <a:pPr marL="26511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b="1" dirty="0">
              <a:latin typeface="+mj-lt"/>
            </a:endParaRPr>
          </a:p>
          <a:p>
            <a:pPr marL="26511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>
                <a:latin typeface="+mj-lt"/>
              </a:rPr>
              <a:t>Cuanto más alto sea el valor numérico de la propiedad z-</a:t>
            </a:r>
            <a:r>
              <a:rPr lang="es-ES" sz="2000" dirty="0" err="1">
                <a:latin typeface="+mj-lt"/>
              </a:rPr>
              <a:t>index</a:t>
            </a:r>
            <a:r>
              <a:rPr lang="es-ES" sz="2000" dirty="0">
                <a:latin typeface="+mj-lt"/>
              </a:rPr>
              <a:t>, más cerca del usuario se muestra la caja. Un elemento con z-</a:t>
            </a:r>
            <a:r>
              <a:rPr lang="es-ES" sz="2000" dirty="0" err="1">
                <a:latin typeface="+mj-lt"/>
              </a:rPr>
              <a:t>index</a:t>
            </a:r>
            <a:r>
              <a:rPr lang="es-ES" sz="2000" dirty="0">
                <a:latin typeface="+mj-lt"/>
              </a:rPr>
              <a:t>: 10 se muestra por encima de los elementos con z-</a:t>
            </a:r>
            <a:r>
              <a:rPr lang="es-ES" sz="2000" dirty="0" err="1">
                <a:latin typeface="+mj-lt"/>
              </a:rPr>
              <a:t>index</a:t>
            </a:r>
            <a:r>
              <a:rPr lang="es-ES" sz="2000" dirty="0">
                <a:latin typeface="+mj-lt"/>
              </a:rPr>
              <a:t>: 8 o z-</a:t>
            </a:r>
            <a:r>
              <a:rPr lang="es-ES" sz="2000" dirty="0" err="1">
                <a:latin typeface="+mj-lt"/>
              </a:rPr>
              <a:t>index</a:t>
            </a:r>
            <a:r>
              <a:rPr lang="es-ES" sz="2000" dirty="0">
                <a:latin typeface="+mj-lt"/>
              </a:rPr>
              <a:t>: 9, pero por debajo de elementos con z-</a:t>
            </a:r>
            <a:r>
              <a:rPr lang="es-ES" sz="2000" dirty="0" err="1">
                <a:latin typeface="+mj-lt"/>
              </a:rPr>
              <a:t>index</a:t>
            </a:r>
            <a:r>
              <a:rPr lang="es-ES" sz="2000" dirty="0">
                <a:latin typeface="+mj-lt"/>
              </a:rPr>
              <a:t>: 20 o z-</a:t>
            </a:r>
            <a:r>
              <a:rPr lang="es-ES" sz="2000" dirty="0" err="1">
                <a:latin typeface="+mj-lt"/>
              </a:rPr>
              <a:t>index</a:t>
            </a:r>
            <a:r>
              <a:rPr lang="es-ES" sz="2000" dirty="0">
                <a:latin typeface="+mj-lt"/>
              </a:rPr>
              <a:t>: 50.</a:t>
            </a:r>
          </a:p>
          <a:p>
            <a:pPr marL="26511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 smtClean="0">
                <a:latin typeface="+mj-lt"/>
              </a:rPr>
              <a:t>La </a:t>
            </a:r>
            <a:r>
              <a:rPr lang="es-ES" sz="2000" dirty="0">
                <a:latin typeface="+mj-lt"/>
              </a:rPr>
              <a:t>propiedad z-</a:t>
            </a:r>
            <a:r>
              <a:rPr lang="es-ES" sz="2000" dirty="0" err="1">
                <a:latin typeface="+mj-lt"/>
              </a:rPr>
              <a:t>index</a:t>
            </a:r>
            <a:r>
              <a:rPr lang="es-ES" sz="2000" dirty="0">
                <a:latin typeface="+mj-lt"/>
              </a:rPr>
              <a:t> sólo tiene efecto en los elementos posicionados, por lo que es obligatorio que la propiedad z-</a:t>
            </a:r>
            <a:r>
              <a:rPr lang="es-ES" sz="2000" dirty="0" err="1">
                <a:latin typeface="+mj-lt"/>
              </a:rPr>
              <a:t>index</a:t>
            </a:r>
            <a:r>
              <a:rPr lang="es-ES" sz="2000" dirty="0">
                <a:latin typeface="+mj-lt"/>
              </a:rPr>
              <a:t> vaya acompañada de la propiedad position.</a:t>
            </a:r>
          </a:p>
          <a:p>
            <a:pPr marL="26511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>
                <a:latin typeface="+mj-lt"/>
              </a:rPr>
              <a:t>Si debes posicionar un elemento pero no quieres moverlo de su posición original ni afectar al resto de elementos de la página, puedes utilizar el posicionamiento relativo (position: </a:t>
            </a:r>
            <a:r>
              <a:rPr lang="es-ES" sz="2000" dirty="0" err="1">
                <a:latin typeface="+mj-lt"/>
              </a:rPr>
              <a:t>relative</a:t>
            </a:r>
            <a:r>
              <a:rPr lang="es-ES" sz="2000" dirty="0">
                <a:latin typeface="+mj-lt"/>
              </a:rPr>
              <a:t>).</a:t>
            </a:r>
          </a:p>
          <a:p>
            <a:pPr marL="26511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2000" b="1" dirty="0" smtClean="0">
              <a:latin typeface="+mj-lt"/>
            </a:endParaRPr>
          </a:p>
          <a:p>
            <a:pPr marL="265113" lvl="1" indent="-265113" algn="just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800" b="1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65113" lvl="1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5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b="1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 smtClean="0">
              <a:latin typeface="+mj-lt"/>
            </a:endParaRPr>
          </a:p>
          <a:p>
            <a:pPr marL="542925" lvl="3" indent="-277813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v"/>
            </a:pPr>
            <a:endParaRPr lang="es-ES" sz="1600" b="1" dirty="0">
              <a:latin typeface="+mj-lt"/>
            </a:endParaRPr>
          </a:p>
          <a:p>
            <a:pPr marL="825182" lvl="4" indent="-285750">
              <a:spcBef>
                <a:spcPts val="0"/>
              </a:spcBef>
              <a:spcAft>
                <a:spcPts val="300"/>
              </a:spcAft>
              <a:buClr>
                <a:schemeClr val="accent1">
                  <a:lumMod val="75000"/>
                </a:schemeClr>
              </a:buClr>
              <a:buSzPct val="95000"/>
              <a:buFont typeface="Wingdings" panose="05000000000000000000" pitchFamily="2" charset="2"/>
              <a:buChar char="Ø"/>
            </a:pPr>
            <a:endParaRPr lang="es-ES" sz="1600" dirty="0">
              <a:latin typeface="+mj-lt"/>
            </a:endParaRPr>
          </a:p>
          <a:p>
            <a:pPr marL="813753" lvl="3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 smtClean="0">
              <a:latin typeface="+mj-lt"/>
            </a:endParaRPr>
          </a:p>
          <a:p>
            <a:pPr marL="539433" lvl="2" indent="-265113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</a:pPr>
            <a:endParaRPr lang="es-ES" sz="1700" dirty="0">
              <a:latin typeface="+mj-lt"/>
            </a:endParaRPr>
          </a:p>
          <a:p>
            <a:pPr marL="274320" lvl="2" indent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95000"/>
              <a:buNone/>
            </a:pPr>
            <a:endParaRPr lang="es-ES" sz="1700" dirty="0">
              <a:latin typeface="+mj-lt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3D5FF-1D01-428C-BF4E-6C13885CA336}" type="slidenum">
              <a:rPr lang="es-ES" smtClean="0"/>
              <a:pPr/>
              <a:t>23</a:t>
            </a:fld>
            <a:endParaRPr lang="es-ES" dirty="0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247437"/>
              </p:ext>
            </p:extLst>
          </p:nvPr>
        </p:nvGraphicFramePr>
        <p:xfrm>
          <a:off x="446856" y="1704798"/>
          <a:ext cx="8229600" cy="667176"/>
        </p:xfrm>
        <a:graphic>
          <a:graphicData uri="http://schemas.openxmlformats.org/drawingml/2006/table">
            <a:tbl>
              <a:tblPr firstRow="1" firstCol="1">
                <a:tableStyleId>{72833802-FEF1-4C79-8D5D-14CF1EAF98D9}</a:tableStyleId>
              </a:tblPr>
              <a:tblGrid>
                <a:gridCol w="1316832">
                  <a:extLst>
                    <a:ext uri="{9D8B030D-6E8A-4147-A177-3AD203B41FA5}">
                      <a16:colId xmlns:a16="http://schemas.microsoft.com/office/drawing/2014/main" val="3365477424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1011104812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4002195199"/>
                    </a:ext>
                  </a:extLst>
                </a:gridCol>
              </a:tblGrid>
              <a:tr h="237072"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  <a:latin typeface="+mj-lt"/>
                        </a:rPr>
                        <a:t>Propiedad</a:t>
                      </a:r>
                      <a:endParaRPr lang="es-ES" sz="18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  <a:latin typeface="+mj-lt"/>
                        </a:rPr>
                        <a:t>Descripción</a:t>
                      </a:r>
                      <a:endParaRPr lang="es-ES" sz="18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  <a:latin typeface="+mj-lt"/>
                        </a:rPr>
                        <a:t>Valores</a:t>
                      </a:r>
                      <a:endParaRPr lang="es-ES" sz="180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extLst>
                  <a:ext uri="{0D108BD9-81ED-4DB2-BD59-A6C34878D82A}">
                    <a16:rowId xmlns:a16="http://schemas.microsoft.com/office/drawing/2014/main" val="3287263740"/>
                  </a:ext>
                </a:extLst>
              </a:tr>
              <a:tr h="237072">
                <a:tc>
                  <a:txBody>
                    <a:bodyPr/>
                    <a:lstStyle/>
                    <a:p>
                      <a:r>
                        <a:rPr lang="es-ES" sz="1800" dirty="0">
                          <a:latin typeface="+mj-lt"/>
                        </a:rPr>
                        <a:t>z-</a:t>
                      </a:r>
                      <a:r>
                        <a:rPr lang="es-ES" sz="1800" dirty="0" err="1">
                          <a:latin typeface="+mj-lt"/>
                        </a:rPr>
                        <a:t>index</a:t>
                      </a:r>
                      <a:endParaRPr lang="es-ES" sz="1800" dirty="0">
                        <a:latin typeface="+mj-lt"/>
                      </a:endParaRP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latin typeface="+mj-lt"/>
                        </a:rPr>
                        <a:t>Solapamiento de niveles de capas</a:t>
                      </a:r>
                    </a:p>
                  </a:txBody>
                  <a:tcPr marL="59268" marR="59268" marT="29634" marB="29634" anchor="ctr"/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  <a:latin typeface="+mj-lt"/>
                        </a:rPr>
                        <a:t>[ auto | &lt;</a:t>
                      </a:r>
                      <a:r>
                        <a:rPr lang="es-ES" sz="1800" dirty="0" err="1">
                          <a:effectLst/>
                          <a:latin typeface="+mj-lt"/>
                        </a:rPr>
                        <a:t>entero_con_signo</a:t>
                      </a:r>
                      <a:r>
                        <a:rPr lang="es-ES" sz="1800" dirty="0">
                          <a:effectLst/>
                          <a:latin typeface="+mj-lt"/>
                        </a:rPr>
                        <a:t>&gt; ]</a:t>
                      </a:r>
                    </a:p>
                  </a:txBody>
                  <a:tcPr marL="59268" marR="59268" marT="29634" marB="29634" anchor="ctr"/>
                </a:tc>
                <a:extLst>
                  <a:ext uri="{0D108BD9-81ED-4DB2-BD59-A6C34878D82A}">
                    <a16:rowId xmlns:a16="http://schemas.microsoft.com/office/drawing/2014/main" val="2569653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74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53862</TotalTime>
  <Words>2032</Words>
  <Application>Microsoft Office PowerPoint</Application>
  <PresentationFormat>Presentación en pantalla (4:3)</PresentationFormat>
  <Paragraphs>805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Arial</vt:lpstr>
      <vt:lpstr>Calibri</vt:lpstr>
      <vt:lpstr>Constantia</vt:lpstr>
      <vt:lpstr>Courier New</vt:lpstr>
      <vt:lpstr>Times New Roman</vt:lpstr>
      <vt:lpstr>Wingdings</vt:lpstr>
      <vt:lpstr>Wingdings 2</vt:lpstr>
      <vt:lpstr>Flujo</vt:lpstr>
      <vt:lpstr>CSS – VISUALIZACIÓN</vt:lpstr>
      <vt:lpstr>display</vt:lpstr>
      <vt:lpstr>display</vt:lpstr>
      <vt:lpstr>display: flex</vt:lpstr>
      <vt:lpstr>display: flex - ejes</vt:lpstr>
      <vt:lpstr>display: flex – propiedad flex</vt:lpstr>
      <vt:lpstr>display: flex – propiedad flex</vt:lpstr>
      <vt:lpstr>display: flex – propiedad flex</vt:lpstr>
      <vt:lpstr>display: flex – propiedad flex</vt:lpstr>
      <vt:lpstr>display: flex – propiedad flex</vt:lpstr>
      <vt:lpstr>display: flex – flex direction</vt:lpstr>
      <vt:lpstr>display: flex - order</vt:lpstr>
      <vt:lpstr>display: flex – justify-content</vt:lpstr>
      <vt:lpstr>display: flex – align-items</vt:lpstr>
      <vt:lpstr>display: flex – align-self</vt:lpstr>
      <vt:lpstr>display: flex – flex-wrap</vt:lpstr>
      <vt:lpstr>display: flex – align-content</vt:lpstr>
      <vt:lpstr>visibility</vt:lpstr>
      <vt:lpstr>visibility vs display</vt:lpstr>
      <vt:lpstr>overflow</vt:lpstr>
      <vt:lpstr>overflow</vt:lpstr>
      <vt:lpstr>overflow-x y overflow-y</vt:lpstr>
      <vt:lpstr>z-index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Ainara Montoya</dc:creator>
  <cp:lastModifiedBy>Coque</cp:lastModifiedBy>
  <cp:revision>1683</cp:revision>
  <cp:lastPrinted>2015-09-21T12:13:15Z</cp:lastPrinted>
  <dcterms:created xsi:type="dcterms:W3CDTF">2012-04-05T17:12:23Z</dcterms:created>
  <dcterms:modified xsi:type="dcterms:W3CDTF">2026-09-30T04:56:53Z</dcterms:modified>
</cp:coreProperties>
</file>