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4803" r:id="rId1"/>
  </p:sldMasterIdLst>
  <p:notesMasterIdLst>
    <p:notesMasterId r:id="rId26"/>
  </p:notesMasterIdLst>
  <p:handoutMasterIdLst>
    <p:handoutMasterId r:id="rId27"/>
  </p:handoutMasterIdLst>
  <p:sldIdLst>
    <p:sldId id="277" r:id="rId2"/>
    <p:sldId id="461" r:id="rId3"/>
    <p:sldId id="462" r:id="rId4"/>
    <p:sldId id="463" r:id="rId5"/>
    <p:sldId id="482" r:id="rId6"/>
    <p:sldId id="474" r:id="rId7"/>
    <p:sldId id="606" r:id="rId8"/>
    <p:sldId id="607" r:id="rId9"/>
    <p:sldId id="608" r:id="rId10"/>
    <p:sldId id="609" r:id="rId11"/>
    <p:sldId id="610" r:id="rId12"/>
    <p:sldId id="613" r:id="rId13"/>
    <p:sldId id="614" r:id="rId14"/>
    <p:sldId id="617" r:id="rId15"/>
    <p:sldId id="616" r:id="rId16"/>
    <p:sldId id="620" r:id="rId17"/>
    <p:sldId id="622" r:id="rId18"/>
    <p:sldId id="618" r:id="rId19"/>
    <p:sldId id="621" r:id="rId20"/>
    <p:sldId id="611" r:id="rId21"/>
    <p:sldId id="627" r:id="rId22"/>
    <p:sldId id="625" r:id="rId23"/>
    <p:sldId id="626" r:id="rId24"/>
    <p:sldId id="624" r:id="rId25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200"/>
    <a:srgbClr val="F2B800"/>
    <a:srgbClr val="E1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44" autoAdjust="0"/>
    <p:restoredTop sz="99112" autoAdjust="0"/>
  </p:normalViewPr>
  <p:slideViewPr>
    <p:cSldViewPr>
      <p:cViewPr varScale="1">
        <p:scale>
          <a:sx n="117" d="100"/>
          <a:sy n="117" d="100"/>
        </p:scale>
        <p:origin x="10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20" y="-90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0EE77-5F38-457B-96A8-67CE15DC456B}" type="datetimeFigureOut">
              <a:rPr lang="es-ES" smtClean="0"/>
              <a:pPr/>
              <a:t>23/09/2026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415D2-09C9-45E9-8984-F1E4AAC1ABA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82561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11E10-B218-48E2-B7C9-DEE9015F2796}" type="datetimeFigureOut">
              <a:rPr lang="es-ES" smtClean="0"/>
              <a:pPr/>
              <a:t>23/09/2026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3F345-9B85-45FE-A289-6E9AEA1DBE5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716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3F345-9B85-45FE-A289-6E9AEA1DBE5E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171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C8F5EBE-D15D-4979-B44E-9A846C4182D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91974DF9-AD47-4691-BA21-BBFCE3637A9A}" type="slidenum">
              <a:rPr kumimoji="0" lang="en-US" smtClean="0"/>
              <a:pPr eaLnBrk="1" latinLnBrk="0" hangingPunct="1"/>
              <a:t>‹Nº›</a:t>
            </a:fld>
            <a:endParaRPr kumimoji="0" lang="en-US" dirty="0"/>
          </a:p>
        </p:txBody>
      </p:sp>
      <p:sp>
        <p:nvSpPr>
          <p:cNvPr id="7" name="Rectangle 1"/>
          <p:cNvSpPr>
            <a:spLocks noChangeArrowheads="1"/>
          </p:cNvSpPr>
          <p:nvPr userDrawn="1"/>
        </p:nvSpPr>
        <p:spPr bwMode="auto">
          <a:xfrm>
            <a:off x="2483768" y="5824119"/>
            <a:ext cx="42484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24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I.E.S. </a:t>
            </a:r>
            <a:r>
              <a:rPr kumimoji="0" lang="es-ES_tradnl" sz="2400" b="1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Txurdinaga-Artabe</a:t>
            </a:r>
            <a:endParaRPr kumimoji="0" lang="es-ES_tradnl" sz="2400" b="1" i="0" u="none" strike="noStrike" cap="none" normalizeH="0" baseline="0" dirty="0" smtClean="0">
              <a:ln>
                <a:noFill/>
              </a:ln>
              <a:solidFill>
                <a:schemeClr val="tx2">
                  <a:lumMod val="25000"/>
                </a:schemeClr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62596F2-6DAB-484A-B3EA-2A00C6A078B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E45677C-7103-4026-AEC7-719DD360423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3F78F60-EF38-4D24-9E29-087DF885C579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328C616-A571-4B28-9F11-B9706C3AA4F6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1701934-CBED-4B3E-ACCF-0BC2CF96F07F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2520F7D-3AF7-4B81-AC04-DECB38F90354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DE42B5D-E325-420D-8A79-7C7E7112DD93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BF23FF8-97B8-4246-AF60-916A0235E389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2FC5A4F-CAD3-4D49-8F7F-C0223B70D2E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D3D7A2B-CEF8-4F8B-85EC-76CD387D8B1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eaLnBrk="1" latinLnBrk="0" hangingPunct="1"/>
            <a:fld id="{B37FA328-F8CC-4DA5-9300-48729342F3F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4" r:id="rId1"/>
    <p:sldLayoutId id="2147484805" r:id="rId2"/>
    <p:sldLayoutId id="2147484806" r:id="rId3"/>
    <p:sldLayoutId id="2147484807" r:id="rId4"/>
    <p:sldLayoutId id="2147484808" r:id="rId5"/>
    <p:sldLayoutId id="2147484809" r:id="rId6"/>
    <p:sldLayoutId id="2147484810" r:id="rId7"/>
    <p:sldLayoutId id="2147484811" r:id="rId8"/>
    <p:sldLayoutId id="2147484812" r:id="rId9"/>
    <p:sldLayoutId id="2147484813" r:id="rId10"/>
    <p:sldLayoutId id="214748481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border.asp" TargetMode="External"/><Relationship Id="rId2" Type="http://schemas.openxmlformats.org/officeDocument/2006/relationships/hyperlink" Target="https://librosweb.es/libro/css/capitulo_4/anchura_y_altura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c.es/Divulgacion/GuiasReferencia/CSS21/#porcentaje" TargetMode="External"/><Relationship Id="rId4" Type="http://schemas.openxmlformats.org/officeDocument/2006/relationships/hyperlink" Target="http://www.w3c.es/Divulgacion/GuiasReferencia/CSS21/#longitudesRelativa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border.asp" TargetMode="External"/><Relationship Id="rId2" Type="http://schemas.openxmlformats.org/officeDocument/2006/relationships/hyperlink" Target="https://librosweb.es/libro/css/capitulo_4/anchura_y_altura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c.es/Divulgacion/GuiasReferencia/CSS21/#porcentaje" TargetMode="External"/><Relationship Id="rId4" Type="http://schemas.openxmlformats.org/officeDocument/2006/relationships/hyperlink" Target="http://www.w3c.es/Divulgacion/GuiasReferencia/CSS21/#longitudesRelativa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border.asp" TargetMode="External"/><Relationship Id="rId2" Type="http://schemas.openxmlformats.org/officeDocument/2006/relationships/hyperlink" Target="https://www.w3schools.com/css/css_padding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c.es/Divulgacion/GuiasReferencia/CSS21/#porcentaje" TargetMode="External"/><Relationship Id="rId4" Type="http://schemas.openxmlformats.org/officeDocument/2006/relationships/hyperlink" Target="http://www.w3c.es/Divulgacion/GuiasReferencia/CSS21/#longitudesRelativa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3_borders.asp" TargetMode="External"/><Relationship Id="rId2" Type="http://schemas.openxmlformats.org/officeDocument/2006/relationships/hyperlink" Target="https://www.w3schools.com/css/css_border.as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c.es/Divulgacion/GuiasReferencia/CSS21/#longitudesRelativas" TargetMode="External"/><Relationship Id="rId7" Type="http://schemas.openxmlformats.org/officeDocument/2006/relationships/hyperlink" Target="http://www.w3c.es/Divulgacion/GuiasReferencia/CSS21/#border-top-color" TargetMode="External"/><Relationship Id="rId2" Type="http://schemas.openxmlformats.org/officeDocument/2006/relationships/hyperlink" Target="https://www.w3schools.com/css/css_border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c.es/Divulgacion/GuiasReferencia/CSS21/#border-top-style" TargetMode="External"/><Relationship Id="rId5" Type="http://schemas.openxmlformats.org/officeDocument/2006/relationships/hyperlink" Target="http://www.w3c.es/Divulgacion/GuiasReferencia/CSS21/#border-top-width" TargetMode="External"/><Relationship Id="rId4" Type="http://schemas.openxmlformats.org/officeDocument/2006/relationships/hyperlink" Target="http://www.w3c.es/Divulgacion/GuiasReferencia/CSS21/#unidadesColores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css_border.a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w3schools.com/css/css_border.as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css3_border_images.as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css_border.as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w3schools.com/css/css_border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librosweb.es/libro/css_avanzado/capitulo_1/sombras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5175" y="3717032"/>
            <a:ext cx="7772400" cy="1362456"/>
          </a:xfrm>
        </p:spPr>
        <p:txBody>
          <a:bodyPr>
            <a:normAutofit/>
          </a:bodyPr>
          <a:lstStyle/>
          <a:p>
            <a:pPr algn="ctr"/>
            <a:r>
              <a:rPr lang="es-ES" dirty="0" err="1" smtClean="0">
                <a:solidFill>
                  <a:schemeClr val="tx1"/>
                </a:solidFill>
              </a:rPr>
              <a:t>CSS</a:t>
            </a:r>
            <a:r>
              <a:rPr lang="es-ES" smtClean="0">
                <a:solidFill>
                  <a:schemeClr val="tx1"/>
                </a:solidFill>
              </a:rPr>
              <a:t> –CAJAS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AutoShape 4" descr="data:image/jpeg;base64,/9j/4AAQSkZJRgABAQAAAQABAAD/2wCEAAkGBxITDxQUEhIWFBQVGBQXFRQVFBQUFRQXFRQWFxcUFRQYHSggGBolGxQUITEhJSkrLi4uFx8zODMsNygtLisBCgoKDg0OGxAQGywkHyQsLCwsLCwsLCwsLCwsLCwsLCwsLCwsLCwsLCwsLCwsLCwsLCwsLCwsLCwsLCwsLCwsLP/AABEIALQBGQMBEQACEQEDEQH/xAAbAAEAAgMBAQAAAAAAAAAAAAAABQYCAwQBB//EAEIQAAEDAgMEBgcFBwIHAAAAAAEAAhEDBBIhMQUGQVETYXGBkaEHIjJCUrHBcoKy0eEUIzNikqLC8PEVFiRDY4Pi/8QAGgEBAAMBAQEAAAAAAAAAAAAAAAIDBAEFBv/EACwRAAICAgIBBAIBAwUBAAAAAAABAhEDBBIhMQUTIkEyUWEUI3EVQoGR8OH/2gAMAwEAAhEDEQA/APuKAIAgCAIAgCAIAgCAIAgCAIAgCAIAgCAIAgCAIAgCAIAgCAIAgCAIAgCAIAgCAIAgCAIAgCAIAgCAIAgCAIAgCAIAgCAIAgCAIAgCAIAgCAIAgCAIAgCAIAgCAIAgCAIAgCAIAgCAIAgCAIAgCAIAgCAIAgCAIAgCAIAgCAIAgCAIAgCAIAgCAIAgCAIAgCAIAgCAIAgCAIAgCAIAgCAIAgCAIAgCAIAgEoAgCAIDyUFiUB7KAIAgCAIAgCAIAgCAIAgCAIAgCAIAgCAIAgCAIAgCAIDwlAeBwSmR5I5LnadGm7DUrU2O1hz2tMc4JXVjk/xQc4o5/wDmC1mOnpz9ofNW/wBNlq+JX7+P9nBdb7WVNxa6rmDBhro7jEFWQ0c0vohLbxx+zGhvxZu95w68Mj+2VbL0vOldEFu42Ql16T2Mc4fsdxAJAfDS0gH2vVJIB10XV6bOrkHuR/2mih6VqNQFtNg6QghjXEwXRkDlMdikvTrf5HP6ppXRw3PpA2i1pJtqMDM4HPcYHU4BaF6bFdO2VPdb8Mz2L6Ua1Z5YbaCAXEmWiAQNZPNcfpi/lf5D3JLt0XPd3eB1y9zTSwYQCXYpGZ00WHa1PYSuRp19j3CwLIaQgCAIAgCAwe8DXJEm/BxtLycjLzHPRwQJBcdARGUd6scOLqRSsvLuJC3u0ndJhFQmNSMhPUOS14sCceTPPz7MlLiib2cT0Ykkk5yVlyJKXR6GFtxtnQMgoFjaXbOX9rafZcJ61L22Zv6iLtJmuy2xTe7CfVfyPHsPFTnryirI4t7HN8fskgVnNx4XBd7ONpGp93Tb7T2jtcApKE34RFzivLPaN0x4lj2uHNpB+S44SXlBZIvwzg2zvFa2pY24qtpl8lgOrsMTHiPFShjlP8Tk8ih5I5++1oNHOd2MP1WqGhml4Rne7iRust77SoYx4D/OMPnouZNDPD/aSht45fZX96/SZRtLnoRSNUYGv6Rrxh9actDOg05qOLWb/J0Snnr8ezitvSh0pAptpydGlzsXgYW7H6ZGXfIyZNzJHzE67rfas6kRTptZUkQ4nG2OOWo81JelJS7doqfqVxIK533vGkhz4I+BrPyV8dHAvMSP9VkkrTO/Zm910WtcH42nOHtE8tRHEJP07A/CorW/ODpuymbzXF7Rmq28qu6SoZY4y1uLE6BJ9kREQux1eLqBOG17rfIx3W2xc1axa8wA0uL2kg8ABketXe211OJDLPgrgyc2psWlcOx1gX1IAxlzsWWmc8FxYYLpIzx2sj8lItGVBUaxlR4OIN9oke1GhW+WrCOPki/3X9n0N9Fo4LMm/Bju2UY1JuQ4aGo0jsxBblNSxUWuNF3qtyOXArEn3TIq0ypbt2TDcYmgeoCcuZyH18Ffmx44pcS5zlXZZdofwqn2XfIqmMlF2RUbZCbnEPY+qBEkME9Qk/MeCty51lkqJThw6Prm41rhoF/F7vJuXzlfM+o5OWWv0erpQqFlmWE2hAEAQHhXAYVqoa0ucYAzJPBdSb6RyTUVbKbtTatVxdUeHNotgMpADFUxSA5+ct7OC9LDigkkvP3/AAebmyTbbfg8qXD7axOWF7nmSDIGI5RyyAVkYRy5/wCCpuWLB15Nm7NkHtFV85mWjgY4nvXN3LxfCI09fkuUiyWjngHG4O5Q3DA+q8+VPwejBSXTMNrXWCi5wGLh2TlKlhhymkQ2JNQdEBQqlzHEHA6lm+QQQDp26ada2SXGSXlM8XhKUG/DRA3t+CZnPg4ZFeljwdUzxnkalaLPurvB0n7qofX90/GB9V5e7qPH84ro+i9M3/c/tzfZCekei5tWnUBIDmlpEmJaZ07D5KOnOrRu2I32UrH60EcJ18fp4r6DA4zXSPG2G8b7Oq1uX0zLHOYebXEfLVWT14T6kjNHblHwVv0g7SrV61I1XYsNPC0xHvEunr9nwXk5taOKfxR62tneWHy8nBusXmsAHODQCS2cjlGmmpC060ZXZVuSUYF1H+s1vaPI5tld31t5p03j3XEHscB9QsWzi5VR6GjlfaZwbpUZuB/KHHyj6q/FBRiWbUriy8NUzy0V68fiqOPWfLL6LLJ9nr4lUSV2Af3UcnO8/W/yV0X0Yc6qZq3uH/SOPJzT5x9VKD4uyWurlRzbjUf3b6nxHCD1NzJ8T5JknzJ7KrotEKpdGaPkomy6BO13t92m57/qPxBdeeUvj9HpTSjiv7LbtWthovPVA7TkPmumOK7KUdQeRB8CpQnSaNUl0XypoVFlMPJX9y7TBbufxqPce5pLR9T3rkLLs0raRNVvWpujMFrvMFSfghD8uzg3ZtOjtKTYzLcRHW/OPMKPUI2WZHzmfaNmWvR0WMHutA7+Pmvlssuc3I9vFHjBI61AsCAIAgPCgKhvptsU6tGjORmpU6mNBI8x5Lfo6sskZSMG1nUZpFQ2Rt4vviTEVCGjF7rWyWgDnML2NjRcNdV9HnYNnln7+y7GsCIIBHI5r55Nxdo9uUVJdmyjVDQABAGQAyAC6227YUUvBlcXbwxxYAXx6oOhPWuw48kpHMilxbiQw22+2LxVbLIxA4hm8gFzWg5lsnuW2Gqs1e2efPYlhtTKxX3kquDwA1ofk6BLi3P1S46jMr18fp2OLVni5Nyck0jiovc9wa0FzjkANStc+OONy6RijBzlxR30baqx5AltVoFSmPjggkAnWBi8IWLJnxzj12n0zVDWyY534a8Fr3hri72U2uNWFriORHqvHmSvC9v2M7g//I+lx5Vmwc/s+c1DD2nrLfH9QF7enKpNHm70bx2dQXonjLwQO+FGadN3JxB7CP8A5WPZx8uz0dGdNow3Po+2/saPmforcaVdHd19UWcKxnn+Di29QxW1QcQMX9Of0Krn+Jo13U0Q24gnpXx8LR5k/RV45cjZvLjUS429Iuc1o1cQ0d5j6ruSajFt/RhxR5SSKvWplrnNOrSQe4wsifJWevVOiT3ed/EHW0+II+gWiHgwbXUjZvZTxWNb7IP9Lgfok/BzVlWRHTu/a9Fa0mcQ0E9rsz81yKpHM0uU2dtCuHiW6S4d7SQfMFdIVRF2FjhvbmrHtCkB3tl3yCikrNGTJeNI17zVfUa3mZ7m/qQpsYkVmsPVPYVwufZe5kdykUfZx1iKFuY0Y2B28PNShG3RK7dnmxjNtTn4APDJGu6O/ZO7uWgfc02xk04iOpvD5LHuz44WX60eU0fTQvmk/s90yXQEAQBAeFcYPiG/V4X31Q6w4tH3ThhfZelwUMFs+Z2m5ZmbNn7LaaQeGONVpzYXYRAPExrHCeKy7W9/ccW+jVravwUq7LiyuvnpP9Hsm1tVcQNoqqcU26X2Rk0lbKRtPagvHMpso4ahdAcSJIg5Expx7l9Hra71YubfVHz+zljstRS7J2huoxoGeIw4kvHqRkC2BmDmSCOSyZPUJydfRatGEUjVQ3ffTqtq0zhhpcySHAPGjXGPZM5cUlu88fCXZGOlUuUSJ23Vu2OpurvkyXMEg4SIOUZcR4LbqQwTTUF9dmfaWaEk5f8ABZNw6pq07qg8RjGOIgDpAWmBwGhXmeqY4xlGUf8AH/Rt9LbcZRf+SjXlMgOB9ppOXW06eIU8E6pl+eHJNHRTMgEcV7V+D55qpNEdvNTm0qRq2HeB/KVVmVxNOm0sq/k93WoYbVnN0u8dPIBMKqPZ3cleRr9EqagBaDq6Y7hKm32UKNq0bHNkEHQgg9hUZK1Qi2pJkTunZdFQc069I/8AtOEfJV44cTVtzU5J/wAFz3Ut8d3T5Nlx+6MvMhZPUJ8cL/ks9PhyzIq29lv0d9cN/wDIT/VDv8lTryvGj0Mq+bNOwnRVI5t+RH5rbjMG0icuaIexzDo4QVNmOLa7PbmsGMc7kCR3aBRonFcpERunWJoOB1D3T96HfMqVF2ZEyXIkVV0Q29dthbQf8YqeDXAfUrOsnLI4/o3QhxgmVt5yVlnS621SabDza38IVqXRm+2Qe996G02snNxk9jf1K458C3FDkjt3aq4rWmftfiKKV9iSpn0DcG1l1SpGkMHfmf8AFeP6pk7UD0dGH2XMLyao9H7PUAQGMoD2UB45cYfg+TWmzcVzWfUb7D3YSfixTMdh1619BsbK/p4wgzydfB/dlJkg6QvFlyvs9NUZMqLiOs3tqKSRBs3MqdauxRbkqK5tKLso1XaMVHOosbSnIEAFw4EgnSY4L6jHq3Bc2fNZdmpPijKw2lUbUbUxkuaZGIly7m1YTjxoze/OE+Vktf713D2NAIY4HNzYz6iDKyYvTscZd9mt+o5XHwR3TOuMQqPc6pBNPlIzLABpIHkr5QjhacVS+znKWdNPyWz0X1nuNTEfVa0BuXIzr3ryvV1FNcT1fTeTTbRBb52fR31UAZOIePvCT5ys+tK4GrLGmyGsT6kfCS3wOXlC97FLlBM+d2Y8Zs23FLGxzfiBHiFNq0Vwlxaf6MranhY1o90AeAhKpCb5Nv8AZx7SP7xjp/hkHuMYv7Vmnk/uJGzDj/ttkoCtJiaPWADT/UrlHV/JbvR/QmpUf8LQ3vcZP4V4fq2TpRPa9Kx+ZFZ9Jlvh2gT8bGO8BhP4U0ZXA07CqRW9mviuzrkeLT+S9HGzBnjcSydIr6PProitv3YbSifaPyz/ACVeV8UadeFs4N2boF9UDk0/MfkuYJci3YgTVSstDVFCJP0jbOIt7VjPbpsOKRkcWGc+0FfP4Mz5yl+2e1PElGK/g+XXLazfaYe7MLV7xV7RZbK9JpMAmcLch2L0458agrMLxTcmcW1tlOrODi4gxAHLu715+fJKc7ibcGPiiZ3e2RXZRa3E3DJIMHQnkpR2JVVEJYVKR9V3RinbtYRnJJdzJ49S8bbm55OTPR14KMOiwgrMXnqAIDFAJQCVxgpG124bioIIkyOvKcu4jwWpdxRR4bOBz1KhdnmIcl1RRFtmTSF2l9nLIHey7cAxgya6STOscPOV7fpmCMuzzN/K0qK4169ujxHH7NtJy5JEXE9NwNFHiTUTNlUtIc0wQZB5EKM4KS4v7LYNxdo+oejqmTbmoWhoccgOsyT3zPevkvUmll4r6PptNP27I70nWedGqP5mO/E3/JVakvKJ514ZRLcw9w5gHwyP+K+g05WqPC3od2dQcttHn0ZByi0dSdkfcmS6eM/kvKyzTnZ7WGFY6OuwrYqTTxiD2jI+YXo43yimeXlhxmzpxKdEEj6JuDQw2hd8b3HubDR+Er5j1GfLMz6P0+HHEVL0v1GipRc3N+FwI6pBBnxUdTLw6LdjHy7PmlvtB3TMkR67fnB+a9LDluRizY/iy3VLmOK9dcftnlqLIrall04BmImF5e5kuVI9LUh12c2wtlV2VjgGIFpBgxxEEyo62V4/KJ7GNSiW7ZWzKvTUzVAwhzSQDJMGY5K7PstwaXRVi11yRYduVRWrO6ob4a+a8rBBqJvyO2Q1TY86DVXUVkzS2KGgANAjkFYskaK+PZG3WyR0pEakR3x+an7i4E0ix0dkhoAHAALN7xziT+zLUCmO/wCa87LK5G7EuiQCrLAgCAxQHiA8KAr29Vk0t6UjICH/AGZkHuJPirsUn4RVNJdsrburPrV0k4vvz+iEfNLs1EriYPQV2zlEdtzZhrNBaYc2YB0M8Oor0tLcWGVMx7Wv7iK23ZleSOidI6vrovee5iq7PI/pcl1R3f8AAa4ZiIboSRiEgATms/8AqOJz4pk5aU1HkyMbC331ZlJHZNh0tVrOeZHUOA7TAWLb2Pag5GnUw+5ko+1bKtBSpNYOAzjmvi8k3KTkfURgoLiiL33s+ksakDNkPH3dfKVZglU0Ryq4nxqpct6RsHOSO4j8wF72lkSnR5G3juNnYKq9nieRxNtA4nNaPeIb4kD6qjP8INluGHOaRHb4XRddVeiGFmKAPsiCZ7l8xDO35PovZrwc+wLz1HNccw6c+Tv1BXuaeSLh2zyNvE1LpErTuwTAzPVJV88+OP2UQ15y+j7JsSh0drSYODGzHMiT5kr5LYnyyNn0mCHGCR8+35pdJdOGuABvlJ+alBUhJ9lZo7Ca+o1pbMuHdnqr8TdlWT8WW+huzRHuSebiXfNb3k/bMCOXauy8L4aIBAMDTl9FBfJl8PB37vbJhrnEamO4Lk506OSX0TtOzDSDGmfgqp5LVCHTI5luHEniST4mUg0kWNOzts7WajRyzPcmSdROUTIt1l5nUji/YJuZ4AA9+il7nxJUSbaIVXJnaOugICpk7NOPwbFwmEAQHiAxKAxcUBpqkEEHMHIg6Eciuq76ONJqj5Xt/Z9Wwql1MY7dxyB92fdJ908jxX0OvLDtw4z6mjx8vu4JWvBls/abKzZGR0LTE93MLBs6uTC/FmzBnhlX6OvEsjdGhJszBQ5Rm0pyYo25FpxezBmdIjOVZjclL4kJ/j2Uio1oqnCCQS7AwCSQT6ohfWwk1i+R83OPKfFH0ncvdnof31b+I4ezwbPBfN+ob/uvhHwe5p6ntdy8lrrXQaF5R6KKfvptGobWoA4gERllrkkSMl0fHqli8GWjMGV6WDLxyJmTLBSiTVCzru0pnvyC+ge9FrpHjrWlfZM7H2Y+nUFWrEMBdAM5gGJWHb2Jzh0a9bFGM7ZEG1LjJzJM+K8SKZ6j8k9u/sFjgXOYHZgCRy1+a34korsxZ5uyy0NmgaNA7BCm8iRnV/st2y2xSb2R4LyMn5nr4pXAod4zpKr3/E4nzy8lavBBvs7NhbOBrSR7IJ8cvqpKVFObwWRtoF15GZ6IzbltGEgcx9VPHkLYIlbC0w02jqz7TmVVOduw12dJohQ5HUivU7YSrI2y76JjZlHU9gXM0voi0d0Zqk4keinmTxMeX+642So9a3VGdSs3MGSgXx8GSEggCAIDByA56z4QEfcXMJVghtoXQc0tcAWkQQdCFLHNxfJdM5OKmqaPn219gtDsVEx/KTp9ly9zW9UT+OY8vNoPzBmGwq9cVgx5dhg5EYhPD1uCnuf008fLGR1/fjOploYvEPT8mxpQUKlUQRIzBHiFOGTjIjKFxIvZ+wmsIeyrUZVGlRuHKeGBwIWzN6jKfVdGfFpRx9/ZYKFa+aMq1KoP56bmHvLHEeSw8sL8po0pZF9nSLm+P/Ztz/76o8jSK6o4f2zjeVeKIfef9p6ICpSpNDnD2az3nLPQ0xkrIRw/tkHLN9pf9/8AwrlvY1C4DCzMji78lfCOLl02VTeVR7os1OxuPipD7jz/AJBbHkivBh4y+2b/APhtyQRjomRGdN41+8qpZItU0SXTIQWVdhM0mPj4Hw7+l4A81VCEF4NnKTRZth3FLC2mcVOpmejqNLHGcyWg5OGmYlRk39GaTt9k/ToqlyCR01H4aD+wx35LPLuRvwv4FZZbqwkTWxbaA484Hh/uoyZRPskozAUbIcTVdW+IN6nA93FdjKiaVG94yKidoyaFxkkiMNDM9pWiL6Okja04aFRN2yVHrD6y4EjY4LlnUjGiwgLsmiXE3BQJo9Q6EAQHhQGqoUBHXdVAQN7cICFubhAcDmlxQ4aLotYOs6cytGLHOX30Vymo/wCTOkxwzLjPaYHUFFpLpHY2+zbhPEnxK4SNlOkuAkbYdSNAl7YhRoEzbUwokiE3vIx02hpMAnxMfRWQK5kXsy0JqA4YjPNacXTtlOZ/EnG0DxIHcr3NGOjeyh1uPYqnMcSMvNmE1fbcMUEDLPmuqao0R/E772zD2YKrMbeB9lzSNHNcPZPWFFP9FLhbPdm1q1Om5tQGthdDHNLcbmRljbPtDMGNdVXKCkyXGUV0jtNV1WgCGOaXH2HiHQCeCr8SNGH8TiZRzVkeybZM2lOGDxVUn2VtGZ9oLn0SUTdCjZ3ia6qkjvE2NGSizqRz1aJnTIqan0d4nUGquySQwBc5EqMgEFHqHQgCAIAgBQGitogIa/KAr14gIuqwkoDKoAxhJ71bixuUiucklZAtl9UE8/DqC9Vw9uHRgUuU7J1tJeW/2egbqdqVwHbRsl0GylXaH4XNgAxK1PWahaM6zfKmSjDSBHrDPiDMdqz+2/st9xEza3LcMNBd2NPzKqlAmpddEJtX16xJkQAI4jL9SrIxog5WZ2NuMzmO9XXSKMhI06QGgUGyqjOmZErjFGupRl7XfDPmEvo6nRA73bR6NjYHvAns4qyOP4ncb7JLddxOcyCJ/VZpt3TNsaZYoUCTijhu7bOeZVuOX0VTjR0sGSgyKBYuWT4mwBcs6kMHNLJ8TIBcO0eoAgCAIAgCAIAgCAIDVV0QEResQEJcUUByfs0AuPBTxwcpURlLjGyKvKDnmT3DgF7mHFGK6PMnNy8nMNnqcl8WQj5LTS2fkF4cvyZ6kO0dlKxXCR3ULHqQicNzZ/vXZcfot2PJ8DDl/M7bLL1SAWnUEc1TlV9ncc3dE20ABYvs9BVRXqtOXuPMlXorZ32dL1V1szz7Ojo1GzkYnjKUI5E5wDqa7ZDj0VveXZ5fTceDYJ78svFXLJSOwifNGb83Ng8Mphr2QRDpyLSQQD3LTk14zimiMcriyTb6YLojK3p/1O/JI+m33ZyW7X0dltvpfXApvJYxgq08bWNMluMSC4k5R2LX/p2KMX+6Mkt+UpqJ9aptyXz7f0evGCo2LhYEAQBAEAQBAEAQBAEAQBAEBregOG4poCPqW6A03lCKOmpH5/RadX87KM7+NHCLcHgvQeWvsw8bO2nsHnA7iqXtl8cBL0bIAAAaCFilK3ZqiqVHSy3HJQ5HaNzWQotnUjiv6EkEa8Vbik0qMmyknZgyjCm5GdHVRcdDoqZLs14pv7OAUlMuZ3UWQAotlLXZtYFFkors9c1Ey2UbMcKWV8TF9sHNc0jJwgpyd2TjDo+N74bg1jUJZDhJMGRmeIPWvVwbEeNSMeTC14IrZ26Fy3J1IHtd+i9LFuY4RqjDl1Zz8MuW7+6NY5Ow02EgmJccuUgZrLteoJrolg9P+SbZ9NY2O5eA+3Z7aVGSHQgCAIAgCAIAgCAIAgCAIAgMXBAaKjEBzmkgNlG2bnImeBU1N/RBwV2zdStmt0aAuSm2OCNuFRJUewgoIDzGOa7TOOcV9nNUMlWR6MeWSk+jyF0ro3U2Kts1Y4WY1aXEImXNdGbWJZBQ7M2tXGyajR6uEj1AeIDCpSDtRK6pNHHFM1CyYPdUubI8Eb2sAGQUG2ySVGSHQgCAIAgCAIAgCAIAgCAIAgCAIDBwQGBYgGHwXURZtC4SPUB4UBz3LzorIIy55tdI0ypmX/kyC4SRm1qi2WQg2zoaFWzZGNGSEggCAIAgCAIAgCAIAgCAIAgCAIAgCAIAgCAIAgCAIAgPIQCEB4EOLoyQ6EBpq0pUoyooy4uXaNOBTbM3tuzNlNcbLYYze0KDNSVGS4dCAIAgCAIAgCAIAgCAIAgCAIAgCAIAgCAIAgCAIAgCAIAgCA8hBQCA9QHiAwNNdsqePuzINXCaijJCQQBAEAQBAEAQBAEAQBAEAQBAEAQBAEAQBAEAQBAEAQBAEAQBAEAQBAEB4gPUAQBAEAQBAEAQBAEAQBAEAQBAEAQBAEAQBAEAQBAEAQ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AutoShape 6" descr="data:image/jpeg;base64,/9j/4AAQSkZJRgABAQAAAQABAAD/2wCEAAkGBxITDxQUEhIWFBQVGBQXFRQVFBQUFRQXFRQWFxcUFRQYHSggGBolGxQUITEhJSkrLi4uFx8zODMsNygtLisBCgoKDg0OGxAQGywkHyQsLCwsLCwsLCwsLCwsLCwsLCwsLCwsLCwsLCwsLCwsLCwsLCwsLCwsLCwsLCwsLCwsLP/AABEIALQBGQMBEQACEQEDEQH/xAAbAAEAAgMBAQAAAAAAAAAAAAAABQYCAwQBB//EAEIQAAEDAgMEBgcFBwIHAAAAAAEAAhEDBBIhMQUGQVETYXGBkaEHIjJCUrHBcoKy0eEUIzNikqLC8PEVFiRDY4Pi/8QAGgEBAAMBAQEAAAAAAAAAAAAAAAIDBAEFBv/EACwRAAICAgIBBAIBAwUBAAAAAAABAhEDBBIhMQUTIkEyUWEUI3EVQoGR8OH/2gAMAwEAAhEDEQA/APuKAIAgCAIAgCAIAgCAIAgCAIAgCAIAgCAIAgCAIAgCAIAgCAIAgCAIAgCAIAgCAIAgCAIAgCAIAgCAIAgCAIAgCAIAgCAIAgCAIAgCAIAgCAIAgCAIAgCAIAgCAIAgCAIAgCAIAgCAIAgCAIAgCAIAgCAIAgCAIAgCAIAgCAIAgCAIAgCAIAgCAIAgCAIAgCAIAgCAIAgCAIAgCAIAgCAIAgCAIAgCAIAgEoAgCAIDyUFiUB7KAIAgCAIAgCAIAgCAIAgCAIAgCAIAgCAIAgCAIAgCAIDwlAeBwSmR5I5LnadGm7DUrU2O1hz2tMc4JXVjk/xQc4o5/wDmC1mOnpz9ofNW/wBNlq+JX7+P9nBdb7WVNxa6rmDBhro7jEFWQ0c0vohLbxx+zGhvxZu95w68Mj+2VbL0vOldEFu42Ql16T2Mc4fsdxAJAfDS0gH2vVJIB10XV6bOrkHuR/2mih6VqNQFtNg6QghjXEwXRkDlMdikvTrf5HP6ppXRw3PpA2i1pJtqMDM4HPcYHU4BaF6bFdO2VPdb8Mz2L6Ua1Z5YbaCAXEmWiAQNZPNcfpi/lf5D3JLt0XPd3eB1y9zTSwYQCXYpGZ00WHa1PYSuRp19j3CwLIaQgCAIAgCAwe8DXJEm/BxtLycjLzHPRwQJBcdARGUd6scOLqRSsvLuJC3u0ndJhFQmNSMhPUOS14sCceTPPz7MlLiib2cT0Ykkk5yVlyJKXR6GFtxtnQMgoFjaXbOX9rafZcJ61L22Zv6iLtJmuy2xTe7CfVfyPHsPFTnryirI4t7HN8fskgVnNx4XBd7ONpGp93Tb7T2jtcApKE34RFzivLPaN0x4lj2uHNpB+S44SXlBZIvwzg2zvFa2pY24qtpl8lgOrsMTHiPFShjlP8Tk8ih5I5++1oNHOd2MP1WqGhml4Rne7iRust77SoYx4D/OMPnouZNDPD/aSht45fZX96/SZRtLnoRSNUYGv6Rrxh9actDOg05qOLWb/J0Snnr8ezitvSh0pAptpydGlzsXgYW7H6ZGXfIyZNzJHzE67rfas6kRTptZUkQ4nG2OOWo81JelJS7doqfqVxIK533vGkhz4I+BrPyV8dHAvMSP9VkkrTO/Zm910WtcH42nOHtE8tRHEJP07A/CorW/ODpuymbzXF7Rmq28qu6SoZY4y1uLE6BJ9kREQux1eLqBOG17rfIx3W2xc1axa8wA0uL2kg8ABketXe211OJDLPgrgyc2psWlcOx1gX1IAxlzsWWmc8FxYYLpIzx2sj8lItGVBUaxlR4OIN9oke1GhW+WrCOPki/3X9n0N9Fo4LMm/Bju2UY1JuQ4aGo0jsxBblNSxUWuNF3qtyOXArEn3TIq0ypbt2TDcYmgeoCcuZyH18Ffmx44pcS5zlXZZdofwqn2XfIqmMlF2RUbZCbnEPY+qBEkME9Qk/MeCty51lkqJThw6Prm41rhoF/F7vJuXzlfM+o5OWWv0erpQqFlmWE2hAEAQHhXAYVqoa0ucYAzJPBdSb6RyTUVbKbtTatVxdUeHNotgMpADFUxSA5+ct7OC9LDigkkvP3/AAebmyTbbfg8qXD7axOWF7nmSDIGI5RyyAVkYRy5/wCCpuWLB15Nm7NkHtFV85mWjgY4nvXN3LxfCI09fkuUiyWjngHG4O5Q3DA+q8+VPwejBSXTMNrXWCi5wGLh2TlKlhhymkQ2JNQdEBQqlzHEHA6lm+QQQDp26ada2SXGSXlM8XhKUG/DRA3t+CZnPg4ZFeljwdUzxnkalaLPurvB0n7qofX90/GB9V5e7qPH84ro+i9M3/c/tzfZCekei5tWnUBIDmlpEmJaZ07D5KOnOrRu2I32UrH60EcJ18fp4r6DA4zXSPG2G8b7Oq1uX0zLHOYebXEfLVWT14T6kjNHblHwVv0g7SrV61I1XYsNPC0xHvEunr9nwXk5taOKfxR62tneWHy8nBusXmsAHODQCS2cjlGmmpC060ZXZVuSUYF1H+s1vaPI5tld31t5p03j3XEHscB9QsWzi5VR6GjlfaZwbpUZuB/KHHyj6q/FBRiWbUriy8NUzy0V68fiqOPWfLL6LLJ9nr4lUSV2Af3UcnO8/W/yV0X0Yc6qZq3uH/SOPJzT5x9VKD4uyWurlRzbjUf3b6nxHCD1NzJ8T5JknzJ7KrotEKpdGaPkomy6BO13t92m57/qPxBdeeUvj9HpTSjiv7LbtWthovPVA7TkPmumOK7KUdQeRB8CpQnSaNUl0XypoVFlMPJX9y7TBbufxqPce5pLR9T3rkLLs0raRNVvWpujMFrvMFSfghD8uzg3ZtOjtKTYzLcRHW/OPMKPUI2WZHzmfaNmWvR0WMHutA7+Pmvlssuc3I9vFHjBI61AsCAIAgPCgKhvptsU6tGjORmpU6mNBI8x5Lfo6sskZSMG1nUZpFQ2Rt4vviTEVCGjF7rWyWgDnML2NjRcNdV9HnYNnln7+y7GsCIIBHI5r55Nxdo9uUVJdmyjVDQABAGQAyAC6227YUUvBlcXbwxxYAXx6oOhPWuw48kpHMilxbiQw22+2LxVbLIxA4hm8gFzWg5lsnuW2Gqs1e2efPYlhtTKxX3kquDwA1ofk6BLi3P1S46jMr18fp2OLVni5Nyck0jiovc9wa0FzjkANStc+OONy6RijBzlxR30baqx5AltVoFSmPjggkAnWBi8IWLJnxzj12n0zVDWyY534a8Fr3hri72U2uNWFriORHqvHmSvC9v2M7g//I+lx5Vmwc/s+c1DD2nrLfH9QF7enKpNHm70bx2dQXonjLwQO+FGadN3JxB7CP8A5WPZx8uz0dGdNow3Po+2/saPmforcaVdHd19UWcKxnn+Di29QxW1QcQMX9Of0Krn+Jo13U0Q24gnpXx8LR5k/RV45cjZvLjUS429Iuc1o1cQ0d5j6ruSajFt/RhxR5SSKvWplrnNOrSQe4wsifJWevVOiT3ed/EHW0+II+gWiHgwbXUjZvZTxWNb7IP9Lgfok/BzVlWRHTu/a9Fa0mcQ0E9rsz81yKpHM0uU2dtCuHiW6S4d7SQfMFdIVRF2FjhvbmrHtCkB3tl3yCikrNGTJeNI17zVfUa3mZ7m/qQpsYkVmsPVPYVwufZe5kdykUfZx1iKFuY0Y2B28PNShG3RK7dnmxjNtTn4APDJGu6O/ZO7uWgfc02xk04iOpvD5LHuz44WX60eU0fTQvmk/s90yXQEAQBAeFcYPiG/V4X31Q6w4tH3ThhfZelwUMFs+Z2m5ZmbNn7LaaQeGONVpzYXYRAPExrHCeKy7W9/ccW+jVravwUq7LiyuvnpP9Hsm1tVcQNoqqcU26X2Rk0lbKRtPagvHMpso4ahdAcSJIg5Expx7l9Hra71YubfVHz+zljstRS7J2huoxoGeIw4kvHqRkC2BmDmSCOSyZPUJydfRatGEUjVQ3ffTqtq0zhhpcySHAPGjXGPZM5cUlu88fCXZGOlUuUSJ23Vu2OpurvkyXMEg4SIOUZcR4LbqQwTTUF9dmfaWaEk5f8ABZNw6pq07qg8RjGOIgDpAWmBwGhXmeqY4xlGUf8AH/Rt9LbcZRf+SjXlMgOB9ppOXW06eIU8E6pl+eHJNHRTMgEcV7V+D55qpNEdvNTm0qRq2HeB/KVVmVxNOm0sq/k93WoYbVnN0u8dPIBMKqPZ3cleRr9EqagBaDq6Y7hKm32UKNq0bHNkEHQgg9hUZK1Qi2pJkTunZdFQc069I/8AtOEfJV44cTVtzU5J/wAFz3Ut8d3T5Nlx+6MvMhZPUJ8cL/ks9PhyzIq29lv0d9cN/wDIT/VDv8lTryvGj0Mq+bNOwnRVI5t+RH5rbjMG0icuaIexzDo4QVNmOLa7PbmsGMc7kCR3aBRonFcpERunWJoOB1D3T96HfMqVF2ZEyXIkVV0Q29dthbQf8YqeDXAfUrOsnLI4/o3QhxgmVt5yVlnS621SabDza38IVqXRm+2Qe996G02snNxk9jf1K458C3FDkjt3aq4rWmftfiKKV9iSpn0DcG1l1SpGkMHfmf8AFeP6pk7UD0dGH2XMLyao9H7PUAQGMoD2UB45cYfg+TWmzcVzWfUb7D3YSfixTMdh1619BsbK/p4wgzydfB/dlJkg6QvFlyvs9NUZMqLiOs3tqKSRBs3MqdauxRbkqK5tKLso1XaMVHOosbSnIEAFw4EgnSY4L6jHq3Bc2fNZdmpPijKw2lUbUbUxkuaZGIly7m1YTjxoze/OE+Vktf713D2NAIY4HNzYz6iDKyYvTscZd9mt+o5XHwR3TOuMQqPc6pBNPlIzLABpIHkr5QjhacVS+znKWdNPyWz0X1nuNTEfVa0BuXIzr3ryvV1FNcT1fTeTTbRBb52fR31UAZOIePvCT5ys+tK4GrLGmyGsT6kfCS3wOXlC97FLlBM+d2Y8Zs23FLGxzfiBHiFNq0Vwlxaf6MranhY1o90AeAhKpCb5Nv8AZx7SP7xjp/hkHuMYv7Vmnk/uJGzDj/ttkoCtJiaPWADT/UrlHV/JbvR/QmpUf8LQ3vcZP4V4fq2TpRPa9Kx+ZFZ9Jlvh2gT8bGO8BhP4U0ZXA07CqRW9mviuzrkeLT+S9HGzBnjcSydIr6PProitv3YbSifaPyz/ACVeV8UadeFs4N2boF9UDk0/MfkuYJci3YgTVSstDVFCJP0jbOIt7VjPbpsOKRkcWGc+0FfP4Mz5yl+2e1PElGK/g+XXLazfaYe7MLV7xV7RZbK9JpMAmcLch2L0458agrMLxTcmcW1tlOrODi4gxAHLu715+fJKc7ibcGPiiZ3e2RXZRa3E3DJIMHQnkpR2JVVEJYVKR9V3RinbtYRnJJdzJ49S8bbm55OTPR14KMOiwgrMXnqAIDFAJQCVxgpG124bioIIkyOvKcu4jwWpdxRR4bOBz1KhdnmIcl1RRFtmTSF2l9nLIHey7cAxgya6STOscPOV7fpmCMuzzN/K0qK4169ujxHH7NtJy5JEXE9NwNFHiTUTNlUtIc0wQZB5EKM4KS4v7LYNxdo+oejqmTbmoWhoccgOsyT3zPevkvUmll4r6PptNP27I70nWedGqP5mO/E3/JVakvKJ514ZRLcw9w5gHwyP+K+g05WqPC3od2dQcttHn0ZByi0dSdkfcmS6eM/kvKyzTnZ7WGFY6OuwrYqTTxiD2jI+YXo43yimeXlhxmzpxKdEEj6JuDQw2hd8b3HubDR+Er5j1GfLMz6P0+HHEVL0v1GipRc3N+FwI6pBBnxUdTLw6LdjHy7PmlvtB3TMkR67fnB+a9LDluRizY/iy3VLmOK9dcftnlqLIrall04BmImF5e5kuVI9LUh12c2wtlV2VjgGIFpBgxxEEyo62V4/KJ7GNSiW7ZWzKvTUzVAwhzSQDJMGY5K7PstwaXRVi11yRYduVRWrO6ob4a+a8rBBqJvyO2Q1TY86DVXUVkzS2KGgANAjkFYskaK+PZG3WyR0pEakR3x+an7i4E0ix0dkhoAHAALN7xziT+zLUCmO/wCa87LK5G7EuiQCrLAgCAxQHiA8KAr29Vk0t6UjICH/AGZkHuJPirsUn4RVNJdsrburPrV0k4vvz+iEfNLs1EriYPQV2zlEdtzZhrNBaYc2YB0M8Oor0tLcWGVMx7Wv7iK23ZleSOidI6vrovee5iq7PI/pcl1R3f8AAa4ZiIboSRiEgATms/8AqOJz4pk5aU1HkyMbC331ZlJHZNh0tVrOeZHUOA7TAWLb2Pag5GnUw+5ko+1bKtBSpNYOAzjmvi8k3KTkfURgoLiiL33s+ksakDNkPH3dfKVZglU0Ryq4nxqpct6RsHOSO4j8wF72lkSnR5G3juNnYKq9nieRxNtA4nNaPeIb4kD6qjP8INluGHOaRHb4XRddVeiGFmKAPsiCZ7l8xDO35PovZrwc+wLz1HNccw6c+Tv1BXuaeSLh2zyNvE1LpErTuwTAzPVJV88+OP2UQ15y+j7JsSh0drSYODGzHMiT5kr5LYnyyNn0mCHGCR8+35pdJdOGuABvlJ+alBUhJ9lZo7Ca+o1pbMuHdnqr8TdlWT8WW+huzRHuSebiXfNb3k/bMCOXauy8L4aIBAMDTl9FBfJl8PB37vbJhrnEamO4Lk506OSX0TtOzDSDGmfgqp5LVCHTI5luHEniST4mUg0kWNOzts7WajRyzPcmSdROUTIt1l5nUji/YJuZ4AA9+il7nxJUSbaIVXJnaOugICpk7NOPwbFwmEAQHiAxKAxcUBpqkEEHMHIg6Eciuq76ONJqj5Xt/Z9Wwql1MY7dxyB92fdJ908jxX0OvLDtw4z6mjx8vu4JWvBls/abKzZGR0LTE93MLBs6uTC/FmzBnhlX6OvEsjdGhJszBQ5Rm0pyYo25FpxezBmdIjOVZjclL4kJ/j2Uio1oqnCCQS7AwCSQT6ohfWwk1i+R83OPKfFH0ncvdnof31b+I4ezwbPBfN+ob/uvhHwe5p6ntdy8lrrXQaF5R6KKfvptGobWoA4gERllrkkSMl0fHqli8GWjMGV6WDLxyJmTLBSiTVCzru0pnvyC+ge9FrpHjrWlfZM7H2Y+nUFWrEMBdAM5gGJWHb2Jzh0a9bFGM7ZEG1LjJzJM+K8SKZ6j8k9u/sFjgXOYHZgCRy1+a34korsxZ5uyy0NmgaNA7BCm8iRnV/st2y2xSb2R4LyMn5nr4pXAod4zpKr3/E4nzy8lavBBvs7NhbOBrSR7IJ8cvqpKVFObwWRtoF15GZ6IzbltGEgcx9VPHkLYIlbC0w02jqz7TmVVOduw12dJohQ5HUivU7YSrI2y76JjZlHU9gXM0voi0d0Zqk4keinmTxMeX+642So9a3VGdSs3MGSgXx8GSEggCAIDByA56z4QEfcXMJVghtoXQc0tcAWkQQdCFLHNxfJdM5OKmqaPn219gtDsVEx/KTp9ly9zW9UT+OY8vNoPzBmGwq9cVgx5dhg5EYhPD1uCnuf008fLGR1/fjOploYvEPT8mxpQUKlUQRIzBHiFOGTjIjKFxIvZ+wmsIeyrUZVGlRuHKeGBwIWzN6jKfVdGfFpRx9/ZYKFa+aMq1KoP56bmHvLHEeSw8sL8po0pZF9nSLm+P/Ztz/76o8jSK6o4f2zjeVeKIfef9p6ICpSpNDnD2az3nLPQ0xkrIRw/tkHLN9pf9/8AwrlvY1C4DCzMji78lfCOLl02VTeVR7os1OxuPipD7jz/AJBbHkivBh4y+2b/APhtyQRjomRGdN41+8qpZItU0SXTIQWVdhM0mPj4Hw7+l4A81VCEF4NnKTRZth3FLC2mcVOpmejqNLHGcyWg5OGmYlRk39GaTt9k/ToqlyCR01H4aD+wx35LPLuRvwv4FZZbqwkTWxbaA484Hh/uoyZRPskozAUbIcTVdW+IN6nA93FdjKiaVG94yKidoyaFxkkiMNDM9pWiL6Okja04aFRN2yVHrD6y4EjY4LlnUjGiwgLsmiXE3BQJo9Q6EAQHhQGqoUBHXdVAQN7cICFubhAcDmlxQ4aLotYOs6cytGLHOX30Vymo/wCTOkxwzLjPaYHUFFpLpHY2+zbhPEnxK4SNlOkuAkbYdSNAl7YhRoEzbUwokiE3vIx02hpMAnxMfRWQK5kXsy0JqA4YjPNacXTtlOZ/EnG0DxIHcr3NGOjeyh1uPYqnMcSMvNmE1fbcMUEDLPmuqao0R/E772zD2YKrMbeB9lzSNHNcPZPWFFP9FLhbPdm1q1Om5tQGthdDHNLcbmRljbPtDMGNdVXKCkyXGUV0jtNV1WgCGOaXH2HiHQCeCr8SNGH8TiZRzVkeybZM2lOGDxVUn2VtGZ9oLn0SUTdCjZ3ia6qkjvE2NGSizqRz1aJnTIqan0d4nUGquySQwBc5EqMgEFHqHQgCAIAgBQGitogIa/KAr14gIuqwkoDKoAxhJ71bixuUiucklZAtl9UE8/DqC9Vw9uHRgUuU7J1tJeW/2egbqdqVwHbRsl0GylXaH4XNgAxK1PWahaM6zfKmSjDSBHrDPiDMdqz+2/st9xEza3LcMNBd2NPzKqlAmpddEJtX16xJkQAI4jL9SrIxog5WZ2NuMzmO9XXSKMhI06QGgUGyqjOmZErjFGupRl7XfDPmEvo6nRA73bR6NjYHvAns4qyOP4ncb7JLddxOcyCJ/VZpt3TNsaZYoUCTijhu7bOeZVuOX0VTjR0sGSgyKBYuWT4mwBcs6kMHNLJ8TIBcO0eoAgCAIAgCAIAgCAIDVV0QEResQEJcUUByfs0AuPBTxwcpURlLjGyKvKDnmT3DgF7mHFGK6PMnNy8nMNnqcl8WQj5LTS2fkF4cvyZ6kO0dlKxXCR3ULHqQicNzZ/vXZcfot2PJ8DDl/M7bLL1SAWnUEc1TlV9ncc3dE20ABYvs9BVRXqtOXuPMlXorZ32dL1V1szz7Ojo1GzkYnjKUI5E5wDqa7ZDj0VveXZ5fTceDYJ78svFXLJSOwifNGb83Ng8Mphr2QRDpyLSQQD3LTk14zimiMcriyTb6YLojK3p/1O/JI+m33ZyW7X0dltvpfXApvJYxgq08bWNMluMSC4k5R2LX/p2KMX+6Mkt+UpqJ9aptyXz7f0evGCo2LhYEAQBAEAQBAEAQBAEAQBAEBregOG4poCPqW6A03lCKOmpH5/RadX87KM7+NHCLcHgvQeWvsw8bO2nsHnA7iqXtl8cBL0bIAAAaCFilK3ZqiqVHSy3HJQ5HaNzWQotnUjiv6EkEa8Vbik0qMmyknZgyjCm5GdHVRcdDoqZLs14pv7OAUlMuZ3UWQAotlLXZtYFFkors9c1Ey2UbMcKWV8TF9sHNc0jJwgpyd2TjDo+N74bg1jUJZDhJMGRmeIPWvVwbEeNSMeTC14IrZ26Fy3J1IHtd+i9LFuY4RqjDl1Zz8MuW7+6NY5Ow02EgmJccuUgZrLteoJrolg9P+SbZ9NY2O5eA+3Z7aVGSHQgCAIAgCAIAgCAIAgCAIAgMXBAaKjEBzmkgNlG2bnImeBU1N/RBwV2zdStmt0aAuSm2OCNuFRJUewgoIDzGOa7TOOcV9nNUMlWR6MeWSk+jyF0ro3U2Kts1Y4WY1aXEImXNdGbWJZBQ7M2tXGyajR6uEj1AeIDCpSDtRK6pNHHFM1CyYPdUubI8Eb2sAGQUG2ySVGSHQgCAIAgCAIAgCAIAgCAIAgCAIDBwQGBYgGHwXURZtC4SPUB4UBz3LzorIIy55tdI0ypmX/kyC4SRm1qi2WQg2zoaFWzZGNGSEggCAIAgCAIAgCAIAgCAIAgCAIAgCAIAgCAIAgCAIAgPIQCEB4EOLoyQ6EBpq0pUoyooy4uXaNOBTbM3tuzNlNcbLYYze0KDNSVGS4dCAIAgCAIAgCAIAgCAIAgCAIAgCAIAgCAIAgCAIAgCAIAgCA8hBQCA9QHiAwNNdsqePuzINXCaijJCQQBAEAQBAEAQBAEAQBAEAQBAEAQBAEAQBAEAQBAEAQBAEAQBAEAQBAEB4gPUAQBAEAQBAEAQBAEAQBAEAQBAEAQBAEAQBAEAQBAEAQH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5" name="AutoShape 2" descr="Resultado de imagen de cs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484784"/>
            <a:ext cx="21336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4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Modelo de cajas (box </a:t>
            </a:r>
            <a:r>
              <a:rPr lang="es-ES" sz="4000" dirty="0" err="1"/>
              <a:t>model</a:t>
            </a:r>
            <a:r>
              <a:rPr lang="es-ES" sz="4000" dirty="0" smtClean="0"/>
              <a:t>)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484784"/>
            <a:ext cx="7920880" cy="4968552"/>
          </a:xfrm>
        </p:spPr>
        <p:txBody>
          <a:bodyPr>
            <a:noAutofit/>
          </a:bodyPr>
          <a:lstStyle/>
          <a:p>
            <a:pPr marL="265113" lvl="1" indent="-265113" algn="just">
              <a:spcBef>
                <a:spcPts val="0"/>
              </a:spcBef>
              <a:spcAft>
                <a:spcPts val="4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El </a:t>
            </a:r>
            <a:r>
              <a:rPr lang="es-ES" sz="1700" b="1" dirty="0">
                <a:latin typeface="+mj-lt"/>
              </a:rPr>
              <a:t>"box </a:t>
            </a:r>
            <a:r>
              <a:rPr lang="es-ES" sz="1700" b="1" dirty="0" err="1">
                <a:latin typeface="+mj-lt"/>
              </a:rPr>
              <a:t>model</a:t>
            </a:r>
            <a:r>
              <a:rPr lang="es-ES" sz="1700" b="1" dirty="0">
                <a:latin typeface="+mj-lt"/>
              </a:rPr>
              <a:t>" </a:t>
            </a:r>
            <a:r>
              <a:rPr lang="es-ES" sz="1700" dirty="0">
                <a:latin typeface="+mj-lt"/>
              </a:rPr>
              <a:t>es el comportamiento de CSS que hace que todos los elementos incluidos en una página HTML se representen mediante </a:t>
            </a:r>
            <a:r>
              <a:rPr lang="es-ES" sz="1700" b="1" dirty="0">
                <a:latin typeface="+mj-lt"/>
              </a:rPr>
              <a:t>cajas rectangulares</a:t>
            </a:r>
            <a:r>
              <a:rPr lang="es-ES" sz="1700" dirty="0">
                <a:latin typeface="+mj-lt"/>
              </a:rPr>
              <a:t>. </a:t>
            </a:r>
          </a:p>
          <a:p>
            <a:pPr marL="265113" lvl="1" indent="-265113" algn="just">
              <a:spcBef>
                <a:spcPts val="0"/>
              </a:spcBef>
              <a:spcAft>
                <a:spcPts val="4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CSS permite controlar el </a:t>
            </a:r>
            <a:r>
              <a:rPr lang="es-ES" sz="1700" b="1" dirty="0">
                <a:latin typeface="+mj-lt"/>
              </a:rPr>
              <a:t>aspecto</a:t>
            </a:r>
            <a:r>
              <a:rPr lang="es-ES" sz="1700" dirty="0">
                <a:latin typeface="+mj-lt"/>
              </a:rPr>
              <a:t> de todas las cajas</a:t>
            </a:r>
            <a:r>
              <a:rPr lang="es-ES" sz="1700" dirty="0" smtClean="0">
                <a:latin typeface="+mj-lt"/>
              </a:rPr>
              <a:t>.</a:t>
            </a:r>
          </a:p>
          <a:p>
            <a:pPr marL="265113" lvl="1" indent="-265113" algn="just">
              <a:spcBef>
                <a:spcPts val="0"/>
              </a:spcBef>
              <a:spcAft>
                <a:spcPts val="4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La mayoría de </a:t>
            </a:r>
            <a:r>
              <a:rPr lang="es-ES" sz="1700" b="1" dirty="0">
                <a:latin typeface="+mj-lt"/>
              </a:rPr>
              <a:t>cajas</a:t>
            </a:r>
            <a:r>
              <a:rPr lang="es-ES" sz="1700" dirty="0">
                <a:latin typeface="+mj-lt"/>
              </a:rPr>
              <a:t> de las páginas web no muestran ningún color de fondo ni ningún borde; </a:t>
            </a:r>
            <a:r>
              <a:rPr lang="es-ES" sz="1700" b="1" dirty="0">
                <a:latin typeface="+mj-lt"/>
              </a:rPr>
              <a:t>no son visibles a simple vista</a:t>
            </a:r>
            <a:r>
              <a:rPr lang="es-ES" sz="1700" dirty="0">
                <a:latin typeface="+mj-lt"/>
              </a:rPr>
              <a:t>.</a:t>
            </a: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36576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</a:t>
            </a:fld>
            <a:endParaRPr lang="es-ES" dirty="0"/>
          </a:p>
        </p:txBody>
      </p:sp>
      <p:pic>
        <p:nvPicPr>
          <p:cNvPr id="2050" name="Picture 2" descr="http://librosweb.es/img/css/f04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1" y="2996952"/>
            <a:ext cx="4438294" cy="343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53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Modelo de cajas (box </a:t>
            </a:r>
            <a:r>
              <a:rPr lang="es-ES" sz="4000" dirty="0" err="1"/>
              <a:t>model</a:t>
            </a:r>
            <a:r>
              <a:rPr lang="es-ES" sz="4000" dirty="0" smtClean="0"/>
              <a:t>)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CSS permite </a:t>
            </a:r>
            <a:r>
              <a:rPr lang="es-ES" sz="1700" dirty="0" smtClean="0">
                <a:latin typeface="+mj-lt"/>
              </a:rPr>
              <a:t>definir, la </a:t>
            </a:r>
            <a:r>
              <a:rPr lang="es-ES" sz="1700" b="1" dirty="0">
                <a:latin typeface="+mj-lt"/>
              </a:rPr>
              <a:t>altura</a:t>
            </a:r>
            <a:r>
              <a:rPr lang="es-ES" sz="1700" dirty="0">
                <a:latin typeface="+mj-lt"/>
              </a:rPr>
              <a:t> y </a:t>
            </a:r>
            <a:r>
              <a:rPr lang="es-ES" sz="1700" b="1" dirty="0">
                <a:latin typeface="+mj-lt"/>
              </a:rPr>
              <a:t>anchura</a:t>
            </a:r>
            <a:r>
              <a:rPr lang="es-ES" sz="1700" dirty="0">
                <a:latin typeface="+mj-lt"/>
              </a:rPr>
              <a:t> de cada caja, el </a:t>
            </a:r>
            <a:r>
              <a:rPr lang="es-ES" sz="1700" b="1" dirty="0">
                <a:latin typeface="+mj-lt"/>
              </a:rPr>
              <a:t>margen</a:t>
            </a:r>
            <a:r>
              <a:rPr lang="es-ES" sz="1700" dirty="0">
                <a:latin typeface="+mj-lt"/>
              </a:rPr>
              <a:t> existente entre cajas y el espacio de </a:t>
            </a:r>
            <a:r>
              <a:rPr lang="es-ES" sz="1700" b="1" dirty="0">
                <a:latin typeface="+mj-lt"/>
              </a:rPr>
              <a:t>relleno</a:t>
            </a:r>
            <a:r>
              <a:rPr lang="es-ES" sz="1700" dirty="0">
                <a:latin typeface="+mj-lt"/>
              </a:rPr>
              <a:t> interior que muestra cada caja.</a:t>
            </a:r>
          </a:p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CSS permite controlar la forma en que se visualizan las cajas: se pueden </a:t>
            </a:r>
            <a:r>
              <a:rPr lang="es-ES" sz="1700" b="1" dirty="0">
                <a:latin typeface="+mj-lt"/>
              </a:rPr>
              <a:t>ocultar</a:t>
            </a:r>
            <a:r>
              <a:rPr lang="es-ES" sz="1700" dirty="0">
                <a:latin typeface="+mj-lt"/>
              </a:rPr>
              <a:t>, </a:t>
            </a:r>
            <a:r>
              <a:rPr lang="es-ES" sz="1700" b="1" dirty="0">
                <a:latin typeface="+mj-lt"/>
              </a:rPr>
              <a:t>desplazar</a:t>
            </a:r>
            <a:r>
              <a:rPr lang="es-ES" sz="1700" dirty="0">
                <a:latin typeface="+mj-lt"/>
              </a:rPr>
              <a:t> respecto de su posición original y </a:t>
            </a:r>
            <a:r>
              <a:rPr lang="es-ES" sz="1700" b="1" dirty="0">
                <a:latin typeface="+mj-lt"/>
              </a:rPr>
              <a:t>fijarlas</a:t>
            </a:r>
            <a:r>
              <a:rPr lang="es-ES" sz="1700" dirty="0">
                <a:latin typeface="+mj-lt"/>
              </a:rPr>
              <a:t> en una posición concreta.</a:t>
            </a:r>
          </a:p>
          <a:p>
            <a:pPr marL="265113" lvl="1" indent="-265113" algn="just">
              <a:spcBef>
                <a:spcPts val="600"/>
              </a:spcBef>
              <a:spcAft>
                <a:spcPts val="4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Las cajas de una página </a:t>
            </a:r>
            <a:r>
              <a:rPr lang="es-ES" sz="1700" b="1" dirty="0">
                <a:latin typeface="+mj-lt"/>
              </a:rPr>
              <a:t>se crean automáticamente</a:t>
            </a:r>
            <a:r>
              <a:rPr lang="es-ES" sz="1700" dirty="0">
                <a:latin typeface="+mj-lt"/>
              </a:rPr>
              <a:t>. </a:t>
            </a:r>
            <a:endParaRPr lang="es-ES" sz="1700" dirty="0" smtClean="0">
              <a:latin typeface="+mj-lt"/>
            </a:endParaRPr>
          </a:p>
          <a:p>
            <a:pPr marL="56007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r>
              <a:rPr lang="es-ES" sz="1700" dirty="0" smtClean="0">
                <a:latin typeface="+mj-lt"/>
              </a:rPr>
              <a:t>Cada </a:t>
            </a:r>
            <a:r>
              <a:rPr lang="es-ES" sz="1700" dirty="0">
                <a:latin typeface="+mj-lt"/>
              </a:rPr>
              <a:t>vez que se inserta una etiqueta o elemento en la página, se crea una nueva caja rectangular que encierra los contenidos del elemento</a:t>
            </a:r>
            <a:r>
              <a:rPr lang="es-ES" sz="1700" dirty="0" smtClean="0">
                <a:latin typeface="+mj-lt"/>
              </a:rPr>
              <a:t>.</a:t>
            </a:r>
          </a:p>
          <a:p>
            <a:pPr marL="56007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r>
              <a:rPr lang="es-ES" sz="1700" dirty="0">
                <a:latin typeface="+mj-lt"/>
              </a:rPr>
              <a:t>Creación automática de cajas por parte de HLML para cada elemento definido.</a:t>
            </a: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36576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3</a:t>
            </a:fld>
            <a:endParaRPr lang="es-ES" dirty="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149080"/>
            <a:ext cx="2808312" cy="2106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94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Modelo de cajas (box </a:t>
            </a:r>
            <a:r>
              <a:rPr lang="es-ES" sz="4000" dirty="0" err="1"/>
              <a:t>model</a:t>
            </a:r>
            <a:r>
              <a:rPr lang="es-ES" sz="4000" dirty="0" smtClean="0"/>
              <a:t>)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7226" y="1531881"/>
            <a:ext cx="7920880" cy="4968552"/>
          </a:xfrm>
        </p:spPr>
        <p:txBody>
          <a:bodyPr>
            <a:noAutofit/>
          </a:bodyPr>
          <a:lstStyle/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Cada caja está formada por </a:t>
            </a:r>
            <a:r>
              <a:rPr lang="es-ES" sz="1700" dirty="0" smtClean="0">
                <a:latin typeface="+mj-lt"/>
              </a:rPr>
              <a:t>estas </a:t>
            </a:r>
            <a:r>
              <a:rPr lang="es-ES" sz="1700" dirty="0">
                <a:latin typeface="+mj-lt"/>
              </a:rPr>
              <a:t>partes: </a:t>
            </a:r>
            <a:r>
              <a:rPr lang="es-ES" sz="1700" dirty="0" smtClean="0">
                <a:latin typeface="+mj-lt"/>
              </a:rPr>
              <a:t> </a:t>
            </a:r>
            <a:r>
              <a:rPr lang="es-ES" sz="1700" b="1" dirty="0" smtClean="0">
                <a:latin typeface="+mj-lt"/>
              </a:rPr>
              <a:t>contenido</a:t>
            </a:r>
            <a:r>
              <a:rPr lang="es-ES" sz="1700" dirty="0">
                <a:latin typeface="+mj-lt"/>
              </a:rPr>
              <a:t>, </a:t>
            </a:r>
            <a:r>
              <a:rPr lang="es-ES" sz="1700" b="1" dirty="0">
                <a:latin typeface="+mj-lt"/>
              </a:rPr>
              <a:t>relleno</a:t>
            </a:r>
            <a:r>
              <a:rPr lang="es-ES" sz="1700" dirty="0">
                <a:latin typeface="+mj-lt"/>
              </a:rPr>
              <a:t>, </a:t>
            </a:r>
            <a:r>
              <a:rPr lang="es-ES" sz="1700" b="1" dirty="0" smtClean="0">
                <a:latin typeface="+mj-lt"/>
              </a:rPr>
              <a:t>borde</a:t>
            </a:r>
            <a:r>
              <a:rPr lang="es-ES" sz="1700" dirty="0">
                <a:latin typeface="+mj-lt"/>
              </a:rPr>
              <a:t> </a:t>
            </a:r>
            <a:r>
              <a:rPr lang="es-ES" sz="1700" dirty="0" smtClean="0">
                <a:latin typeface="+mj-lt"/>
              </a:rPr>
              <a:t>y </a:t>
            </a:r>
            <a:r>
              <a:rPr lang="es-ES" sz="1700" b="1" dirty="0" smtClean="0">
                <a:latin typeface="+mj-lt"/>
              </a:rPr>
              <a:t>margen</a:t>
            </a:r>
            <a:r>
              <a:rPr lang="es-ES" sz="1700" dirty="0" smtClean="0">
                <a:latin typeface="+mj-lt"/>
              </a:rPr>
              <a:t>:</a:t>
            </a:r>
          </a:p>
          <a:p>
            <a:pPr marL="558800" lvl="1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700" b="1" dirty="0" smtClean="0">
                <a:latin typeface="+mj-lt"/>
              </a:rPr>
              <a:t>Contenido</a:t>
            </a:r>
            <a:r>
              <a:rPr lang="es-ES" sz="1700" dirty="0" smtClean="0">
                <a:latin typeface="+mj-lt"/>
              </a:rPr>
              <a:t>: </a:t>
            </a:r>
            <a:r>
              <a:rPr lang="es-ES" sz="1700" dirty="0">
                <a:latin typeface="+mj-lt"/>
              </a:rPr>
              <a:t>se trata del contenido HTML del elemento (las palabras de un párrafo, una imagen, el texto de una lista de elementos, etc.)</a:t>
            </a:r>
          </a:p>
          <a:p>
            <a:pPr marL="558800" lvl="1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700" b="1" dirty="0">
                <a:latin typeface="+mj-lt"/>
              </a:rPr>
              <a:t>Relleno</a:t>
            </a:r>
            <a:r>
              <a:rPr lang="es-ES" sz="1700" dirty="0">
                <a:latin typeface="+mj-lt"/>
              </a:rPr>
              <a:t> (</a:t>
            </a:r>
            <a:r>
              <a:rPr lang="es-ES" sz="1700" dirty="0" err="1">
                <a:latin typeface="+mj-lt"/>
              </a:rPr>
              <a:t>padding</a:t>
            </a:r>
            <a:r>
              <a:rPr lang="es-ES" sz="1700" dirty="0">
                <a:latin typeface="+mj-lt"/>
              </a:rPr>
              <a:t>): espacio libre opcional entre el contenido y el borde que lo encierra.</a:t>
            </a:r>
          </a:p>
          <a:p>
            <a:pPr marL="558800" lvl="1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700" b="1" dirty="0">
                <a:latin typeface="+mj-lt"/>
              </a:rPr>
              <a:t>Borde</a:t>
            </a:r>
            <a:r>
              <a:rPr lang="es-ES" sz="1700" dirty="0">
                <a:latin typeface="+mj-lt"/>
              </a:rPr>
              <a:t> (</a:t>
            </a:r>
            <a:r>
              <a:rPr lang="es-ES" sz="1700" dirty="0" err="1">
                <a:latin typeface="+mj-lt"/>
              </a:rPr>
              <a:t>border</a:t>
            </a:r>
            <a:r>
              <a:rPr lang="es-ES" sz="1700" dirty="0">
                <a:latin typeface="+mj-lt"/>
              </a:rPr>
              <a:t>): línea que encierra completamente el contenido y su relleno.</a:t>
            </a:r>
          </a:p>
          <a:p>
            <a:pPr marL="558800" lvl="1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700" b="1" dirty="0" smtClean="0">
                <a:latin typeface="+mj-lt"/>
              </a:rPr>
              <a:t>Margen</a:t>
            </a:r>
            <a:r>
              <a:rPr lang="es-ES" sz="1700" dirty="0" smtClean="0">
                <a:latin typeface="+mj-lt"/>
              </a:rPr>
              <a:t> </a:t>
            </a:r>
            <a:r>
              <a:rPr lang="es-ES" sz="1700" dirty="0">
                <a:latin typeface="+mj-lt"/>
              </a:rPr>
              <a:t>(</a:t>
            </a:r>
            <a:r>
              <a:rPr lang="es-ES" sz="1700" dirty="0" err="1">
                <a:latin typeface="+mj-lt"/>
              </a:rPr>
              <a:t>margin</a:t>
            </a:r>
            <a:r>
              <a:rPr lang="es-ES" sz="1700" dirty="0">
                <a:latin typeface="+mj-lt"/>
              </a:rPr>
              <a:t>): espacio libre entre la caja y las posibles cajas adyacentes.</a:t>
            </a: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7432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700" b="1" dirty="0" smtClean="0">
                <a:latin typeface="+mj-lt"/>
              </a:rPr>
              <a:t>Nota: </a:t>
            </a:r>
            <a:r>
              <a:rPr lang="es-ES" sz="1700" dirty="0" smtClean="0">
                <a:latin typeface="+mj-lt"/>
              </a:rPr>
              <a:t>la mayoría de la propiedades que vamos a ver, a parte de los valores que veremos, admiten el valor </a:t>
            </a:r>
            <a:r>
              <a:rPr lang="es-ES" sz="1700" dirty="0" err="1" smtClean="0">
                <a:latin typeface="+mj-lt"/>
              </a:rPr>
              <a:t>inherit</a:t>
            </a:r>
            <a:r>
              <a:rPr lang="es-ES" sz="1700" dirty="0" smtClean="0">
                <a:latin typeface="+mj-lt"/>
              </a:rPr>
              <a:t> que significa que heredan el valor del padre.</a:t>
            </a:r>
            <a:endParaRPr lang="es-ES" sz="1700" dirty="0">
              <a:latin typeface="+mj-lt"/>
            </a:endParaRPr>
          </a:p>
          <a:p>
            <a:pPr marL="36576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4</a:t>
            </a:fld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3789040"/>
            <a:ext cx="28289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7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Modelo de cajas (box </a:t>
            </a:r>
            <a:r>
              <a:rPr lang="es-ES" sz="4000" dirty="0" err="1"/>
              <a:t>model</a:t>
            </a:r>
            <a:r>
              <a:rPr lang="es-ES" sz="4000" dirty="0"/>
              <a:t>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La </a:t>
            </a:r>
            <a:r>
              <a:rPr lang="es-ES" sz="1700" dirty="0">
                <a:latin typeface="+mj-lt"/>
              </a:rPr>
              <a:t>anchura y altura de un elemento no solamente se calculan teniendo en cuenta las propiedades </a:t>
            </a:r>
            <a:r>
              <a:rPr lang="es-ES" sz="1700" dirty="0" err="1">
                <a:latin typeface="+mj-lt"/>
              </a:rPr>
              <a:t>width</a:t>
            </a:r>
            <a:r>
              <a:rPr lang="es-ES" sz="1700" dirty="0">
                <a:latin typeface="+mj-lt"/>
              </a:rPr>
              <a:t> y </a:t>
            </a:r>
            <a:r>
              <a:rPr lang="es-ES" sz="1700" dirty="0" err="1">
                <a:latin typeface="+mj-lt"/>
              </a:rPr>
              <a:t>height</a:t>
            </a:r>
            <a:r>
              <a:rPr lang="es-ES" sz="1700" dirty="0">
                <a:latin typeface="+mj-lt"/>
              </a:rPr>
              <a:t>.</a:t>
            </a:r>
          </a:p>
          <a:p>
            <a:pPr marL="539433" lvl="2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Las propiedades  CSS </a:t>
            </a:r>
            <a:r>
              <a:rPr lang="es-ES" sz="1700" b="1" dirty="0" err="1">
                <a:latin typeface="+mj-lt"/>
              </a:rPr>
              <a:t>width</a:t>
            </a:r>
            <a:r>
              <a:rPr lang="es-ES" sz="1700" dirty="0">
                <a:latin typeface="+mj-lt"/>
              </a:rPr>
              <a:t>  y </a:t>
            </a:r>
            <a:r>
              <a:rPr lang="es-ES" sz="1700" b="1" dirty="0" err="1">
                <a:latin typeface="+mj-lt"/>
              </a:rPr>
              <a:t>heigth</a:t>
            </a:r>
            <a:r>
              <a:rPr lang="es-ES" sz="1700" dirty="0">
                <a:latin typeface="+mj-lt"/>
              </a:rPr>
              <a:t> hacen referencia  a la anchura y altura del </a:t>
            </a:r>
            <a:r>
              <a:rPr lang="es-ES" sz="1700" b="1" dirty="0">
                <a:latin typeface="+mj-lt"/>
              </a:rPr>
              <a:t>contenido</a:t>
            </a:r>
            <a:r>
              <a:rPr lang="es-ES" sz="1700" dirty="0">
                <a:latin typeface="+mj-lt"/>
              </a:rPr>
              <a:t>.</a:t>
            </a:r>
          </a:p>
          <a:p>
            <a:pPr marL="539433" lvl="2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El </a:t>
            </a:r>
            <a:r>
              <a:rPr lang="es-ES" sz="1700" b="1" dirty="0">
                <a:latin typeface="+mj-lt"/>
              </a:rPr>
              <a:t>margen</a:t>
            </a:r>
            <a:r>
              <a:rPr lang="es-ES" sz="1700" dirty="0">
                <a:latin typeface="+mj-lt"/>
              </a:rPr>
              <a:t>, el </a:t>
            </a:r>
            <a:r>
              <a:rPr lang="es-ES" sz="1700" b="1" dirty="0">
                <a:latin typeface="+mj-lt"/>
              </a:rPr>
              <a:t>relleno</a:t>
            </a:r>
            <a:r>
              <a:rPr lang="es-ES" sz="1700" dirty="0">
                <a:latin typeface="+mj-lt"/>
              </a:rPr>
              <a:t> y los </a:t>
            </a:r>
            <a:r>
              <a:rPr lang="es-ES" sz="1700" b="1" dirty="0">
                <a:latin typeface="+mj-lt"/>
              </a:rPr>
              <a:t>bordes</a:t>
            </a:r>
            <a:r>
              <a:rPr lang="es-ES" sz="1700" dirty="0">
                <a:latin typeface="+mj-lt"/>
              </a:rPr>
              <a:t> establecidos a un elemento </a:t>
            </a:r>
            <a:r>
              <a:rPr lang="es-ES" sz="1700" b="1" dirty="0">
                <a:latin typeface="+mj-lt"/>
              </a:rPr>
              <a:t>determinan</a:t>
            </a:r>
            <a:r>
              <a:rPr lang="es-ES" sz="1700" dirty="0">
                <a:latin typeface="+mj-lt"/>
              </a:rPr>
              <a:t> la </a:t>
            </a:r>
            <a:r>
              <a:rPr lang="es-ES" sz="1700" b="1" dirty="0">
                <a:latin typeface="+mj-lt"/>
              </a:rPr>
              <a:t>anchura</a:t>
            </a:r>
            <a:r>
              <a:rPr lang="es-ES" sz="1700" dirty="0">
                <a:latin typeface="+mj-lt"/>
              </a:rPr>
              <a:t> y </a:t>
            </a:r>
            <a:r>
              <a:rPr lang="es-ES" sz="1700" b="1" dirty="0">
                <a:latin typeface="+mj-lt"/>
              </a:rPr>
              <a:t>altura</a:t>
            </a:r>
            <a:r>
              <a:rPr lang="es-ES" sz="1700" dirty="0">
                <a:latin typeface="+mj-lt"/>
              </a:rPr>
              <a:t> </a:t>
            </a:r>
            <a:r>
              <a:rPr lang="es-ES" sz="1700" b="1" dirty="0">
                <a:latin typeface="+mj-lt"/>
              </a:rPr>
              <a:t>final</a:t>
            </a:r>
            <a:r>
              <a:rPr lang="es-ES" sz="1700" dirty="0">
                <a:latin typeface="+mj-lt"/>
              </a:rPr>
              <a:t>.</a:t>
            </a: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La anchura total del elemento se calcula teniendo en cuenta todos sus </a:t>
            </a:r>
            <a:r>
              <a:rPr lang="es-ES" sz="1700" dirty="0" smtClean="0">
                <a:latin typeface="+mj-lt"/>
              </a:rPr>
              <a:t>márgenes, </a:t>
            </a:r>
            <a:r>
              <a:rPr lang="es-ES" sz="1700" dirty="0">
                <a:latin typeface="+mj-lt"/>
              </a:rPr>
              <a:t>rellenos y </a:t>
            </a:r>
            <a:r>
              <a:rPr lang="es-ES" sz="1700" dirty="0" smtClean="0">
                <a:latin typeface="+mj-lt"/>
              </a:rPr>
              <a:t>bordes.</a:t>
            </a:r>
          </a:p>
          <a:p>
            <a:pPr marL="27432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700" dirty="0">
                <a:latin typeface="+mj-lt"/>
              </a:rPr>
              <a:t>	</a:t>
            </a:r>
            <a:r>
              <a:rPr lang="es-ES" sz="1600" dirty="0" smtClean="0">
                <a:latin typeface="+mj-lt"/>
              </a:rPr>
              <a:t>30px </a:t>
            </a:r>
            <a:r>
              <a:rPr lang="es-ES" sz="1600" dirty="0">
                <a:latin typeface="+mj-lt"/>
              </a:rPr>
              <a:t>+ 10px + 50px + 300px + 50px + 10px  + 30px = </a:t>
            </a:r>
            <a:r>
              <a:rPr lang="es-ES" sz="1600" dirty="0" smtClean="0">
                <a:latin typeface="+mj-lt"/>
              </a:rPr>
              <a:t>480px</a:t>
            </a:r>
            <a:endParaRPr lang="es-ES" sz="16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La anchura total no son los 300px indicados en la propiedad </a:t>
            </a:r>
            <a:r>
              <a:rPr lang="es-ES" sz="1700" dirty="0" err="1">
                <a:latin typeface="+mj-lt"/>
              </a:rPr>
              <a:t>width</a:t>
            </a:r>
            <a:r>
              <a:rPr lang="es-ES" sz="1700" dirty="0">
                <a:latin typeface="+mj-lt"/>
              </a:rPr>
              <a:t> sino los </a:t>
            </a:r>
            <a:r>
              <a:rPr lang="es-ES" sz="1700" dirty="0" smtClean="0">
                <a:latin typeface="+mj-lt"/>
              </a:rPr>
              <a:t>480px </a:t>
            </a:r>
            <a:r>
              <a:rPr lang="es-ES" sz="1700" dirty="0">
                <a:latin typeface="+mj-lt"/>
              </a:rPr>
              <a:t>resultado de sumar la anchura del contenido, los </a:t>
            </a:r>
            <a:r>
              <a:rPr lang="es-ES" sz="1700" dirty="0" smtClean="0">
                <a:latin typeface="+mj-lt"/>
              </a:rPr>
              <a:t>márgenes, </a:t>
            </a:r>
            <a:r>
              <a:rPr lang="es-ES" sz="1700" dirty="0">
                <a:latin typeface="+mj-lt"/>
              </a:rPr>
              <a:t>rellenos y bordes.</a:t>
            </a: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769099" y="3317793"/>
            <a:ext cx="3672408" cy="1446550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div {</a:t>
            </a:r>
          </a:p>
          <a:p>
            <a:pPr marL="266700" indent="0" eaLnBrk="1" hangingPunct="1">
              <a:buNone/>
            </a:pPr>
            <a:r>
              <a:rPr lang="en-US" alt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width: 300px;</a:t>
            </a:r>
          </a:p>
          <a:p>
            <a:pPr marL="266700" indent="0" eaLnBrk="1" hangingPunct="1">
              <a:buNone/>
            </a:pPr>
            <a:r>
              <a:rPr lang="en-US" alt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padding-left: 50px;</a:t>
            </a:r>
          </a:p>
          <a:p>
            <a:pPr marL="266700" indent="0" eaLnBrk="1" hangingPunct="1">
              <a:buNone/>
            </a:pPr>
            <a:r>
              <a:rPr lang="en-US" alt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padding-right: 50px;</a:t>
            </a:r>
          </a:p>
          <a:p>
            <a:pPr marL="266700" indent="0" eaLnBrk="1" hangingPunct="1">
              <a:buNone/>
            </a:pPr>
            <a:r>
              <a:rPr lang="en-US" alt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margin-left: 30px;</a:t>
            </a:r>
          </a:p>
          <a:p>
            <a:pPr marL="266700" indent="0" eaLnBrk="1" hangingPunct="1">
              <a:buNone/>
            </a:pPr>
            <a:r>
              <a:rPr lang="en-US" alt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margin-right: 30px;</a:t>
            </a:r>
          </a:p>
          <a:p>
            <a:pPr marL="266700" indent="0" eaLnBrk="1" hangingPunct="1">
              <a:buNone/>
            </a:pPr>
            <a:r>
              <a:rPr lang="en-US" alt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border: 10px solid black;</a:t>
            </a:r>
          </a:p>
          <a:p>
            <a:pPr marL="266700" indent="-266700" eaLnBrk="1" hangingPunct="1">
              <a:buNone/>
            </a:pPr>
            <a:r>
              <a:rPr lang="en-US" altLang="es-E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017" y="3330859"/>
            <a:ext cx="3372718" cy="1420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247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Anchura y altura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dirty="0" smtClean="0">
                <a:latin typeface="+mj-lt"/>
                <a:hlinkClick r:id="rId2"/>
              </a:rPr>
              <a:t>https</a:t>
            </a:r>
            <a:r>
              <a:rPr lang="es-ES" dirty="0">
                <a:latin typeface="+mj-lt"/>
                <a:hlinkClick r:id="rId2"/>
              </a:rPr>
              <a:t>://</a:t>
            </a:r>
            <a:r>
              <a:rPr lang="es-ES" dirty="0" smtClean="0">
                <a:latin typeface="+mj-lt"/>
                <a:hlinkClick r:id="rId2"/>
              </a:rPr>
              <a:t>librosweb.es/libro/css/capitulo_4/anchura_y_altura.html</a:t>
            </a: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 smtClean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>
              <a:latin typeface="+mj-lt"/>
              <a:hlinkClick r:id="rId3"/>
            </a:endParaRPr>
          </a:p>
          <a:p>
            <a:pPr marL="834390" lvl="3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6</a:t>
            </a:fld>
            <a:endParaRPr lang="es-ES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713008"/>
              </p:ext>
            </p:extLst>
          </p:nvPr>
        </p:nvGraphicFramePr>
        <p:xfrm>
          <a:off x="601216" y="2433464"/>
          <a:ext cx="7936396" cy="3702354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287313">
                  <a:extLst>
                    <a:ext uri="{9D8B030D-6E8A-4147-A177-3AD203B41FA5}">
                      <a16:colId xmlns:a16="http://schemas.microsoft.com/office/drawing/2014/main" val="425248423"/>
                    </a:ext>
                  </a:extLst>
                </a:gridCol>
                <a:gridCol w="1736063">
                  <a:extLst>
                    <a:ext uri="{9D8B030D-6E8A-4147-A177-3AD203B41FA5}">
                      <a16:colId xmlns:a16="http://schemas.microsoft.com/office/drawing/2014/main" val="2070831203"/>
                    </a:ext>
                  </a:extLst>
                </a:gridCol>
                <a:gridCol w="4913020">
                  <a:extLst>
                    <a:ext uri="{9D8B030D-6E8A-4147-A177-3AD203B41FA5}">
                      <a16:colId xmlns:a16="http://schemas.microsoft.com/office/drawing/2014/main" val="3412934816"/>
                    </a:ext>
                  </a:extLst>
                </a:gridCol>
              </a:tblGrid>
              <a:tr h="318887"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Propiedad</a:t>
                      </a:r>
                      <a:endParaRPr lang="es-ES" sz="18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Descripción</a:t>
                      </a:r>
                      <a:endParaRPr lang="es-ES" sz="18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  <a:latin typeface="+mj-lt"/>
                        </a:rPr>
                        <a:t>Valores</a:t>
                      </a:r>
                      <a:endParaRPr lang="es-ES" sz="18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722" marR="79722" marT="39861" marB="39861" anchor="ctr"/>
                </a:tc>
                <a:extLst>
                  <a:ext uri="{0D108BD9-81ED-4DB2-BD59-A6C34878D82A}">
                    <a16:rowId xmlns:a16="http://schemas.microsoft.com/office/drawing/2014/main" val="4228666330"/>
                  </a:ext>
                </a:extLst>
              </a:tr>
              <a:tr h="558052">
                <a:tc>
                  <a:txBody>
                    <a:bodyPr/>
                    <a:lstStyle/>
                    <a:p>
                      <a:r>
                        <a:rPr lang="es-ES" sz="1800" dirty="0" err="1">
                          <a:latin typeface="+mj-lt"/>
                        </a:rPr>
                        <a:t>width</a:t>
                      </a:r>
                      <a:endParaRPr lang="es-ES" sz="1800" dirty="0">
                        <a:latin typeface="+mj-lt"/>
                      </a:endParaRP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latin typeface="+mj-lt"/>
                        </a:rPr>
                        <a:t>Ancho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8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8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 auto </a:t>
                      </a:r>
                      <a:r>
                        <a:rPr lang="es-ES" sz="1800" dirty="0" smtClean="0">
                          <a:effectLst/>
                          <a:latin typeface="+mj-lt"/>
                        </a:rPr>
                        <a:t>]</a:t>
                      </a:r>
                      <a:endParaRPr lang="es-ES" sz="1800" dirty="0">
                        <a:effectLst/>
                        <a:latin typeface="+mj-lt"/>
                      </a:endParaRPr>
                    </a:p>
                  </a:txBody>
                  <a:tcPr marL="79722" marR="79722" marT="39861" marB="39861" anchor="ctr"/>
                </a:tc>
                <a:extLst>
                  <a:ext uri="{0D108BD9-81ED-4DB2-BD59-A6C34878D82A}">
                    <a16:rowId xmlns:a16="http://schemas.microsoft.com/office/drawing/2014/main" val="3723473752"/>
                  </a:ext>
                </a:extLst>
              </a:tr>
              <a:tr h="558052">
                <a:tc>
                  <a:txBody>
                    <a:bodyPr/>
                    <a:lstStyle/>
                    <a:p>
                      <a:r>
                        <a:rPr lang="es-ES" sz="1800" dirty="0">
                          <a:latin typeface="+mj-lt"/>
                        </a:rPr>
                        <a:t>min-</a:t>
                      </a:r>
                      <a:r>
                        <a:rPr lang="es-ES" sz="1800" dirty="0" err="1">
                          <a:latin typeface="+mj-lt"/>
                        </a:rPr>
                        <a:t>width</a:t>
                      </a:r>
                      <a:endParaRPr lang="es-ES" sz="1800" dirty="0">
                        <a:latin typeface="+mj-lt"/>
                      </a:endParaRP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latin typeface="+mj-lt"/>
                        </a:rPr>
                        <a:t>Ancho mínimo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8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8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800" dirty="0" smtClean="0">
                          <a:effectLst/>
                          <a:latin typeface="+mj-lt"/>
                        </a:rPr>
                        <a:t>&gt; ]</a:t>
                      </a:r>
                      <a:endParaRPr lang="es-ES" sz="1800" dirty="0">
                        <a:effectLst/>
                        <a:latin typeface="+mj-lt"/>
                      </a:endParaRPr>
                    </a:p>
                  </a:txBody>
                  <a:tcPr marL="79722" marR="79722" marT="39861" marB="39861" anchor="ctr"/>
                </a:tc>
                <a:extLst>
                  <a:ext uri="{0D108BD9-81ED-4DB2-BD59-A6C34878D82A}">
                    <a16:rowId xmlns:a16="http://schemas.microsoft.com/office/drawing/2014/main" val="27219609"/>
                  </a:ext>
                </a:extLst>
              </a:tr>
              <a:tr h="558052">
                <a:tc>
                  <a:txBody>
                    <a:bodyPr/>
                    <a:lstStyle/>
                    <a:p>
                      <a:r>
                        <a:rPr lang="es-ES" sz="1800">
                          <a:latin typeface="+mj-lt"/>
                        </a:rPr>
                        <a:t>max-width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latin typeface="+mj-lt"/>
                        </a:rPr>
                        <a:t>Ancho máximo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8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8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 </a:t>
                      </a:r>
                      <a:r>
                        <a:rPr lang="es-ES" sz="1800" dirty="0" err="1" smtClean="0">
                          <a:effectLst/>
                          <a:latin typeface="+mj-lt"/>
                        </a:rPr>
                        <a:t>none</a:t>
                      </a:r>
                      <a:r>
                        <a:rPr lang="es-ES" sz="1800" dirty="0" smtClean="0">
                          <a:effectLst/>
                          <a:latin typeface="+mj-lt"/>
                        </a:rPr>
                        <a:t> 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 ]</a:t>
                      </a:r>
                    </a:p>
                  </a:txBody>
                  <a:tcPr marL="79722" marR="79722" marT="39861" marB="39861" anchor="ctr"/>
                </a:tc>
                <a:extLst>
                  <a:ext uri="{0D108BD9-81ED-4DB2-BD59-A6C34878D82A}">
                    <a16:rowId xmlns:a16="http://schemas.microsoft.com/office/drawing/2014/main" val="1166150779"/>
                  </a:ext>
                </a:extLst>
              </a:tr>
              <a:tr h="558052">
                <a:tc>
                  <a:txBody>
                    <a:bodyPr/>
                    <a:lstStyle/>
                    <a:p>
                      <a:r>
                        <a:rPr lang="es-ES" sz="1800">
                          <a:latin typeface="+mj-lt"/>
                        </a:rPr>
                        <a:t>height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latin typeface="+mj-lt"/>
                        </a:rPr>
                        <a:t>Alto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8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8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 </a:t>
                      </a:r>
                      <a:r>
                        <a:rPr lang="es-ES" sz="1800" dirty="0" smtClean="0">
                          <a:effectLst/>
                          <a:latin typeface="+mj-lt"/>
                        </a:rPr>
                        <a:t>auto 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 ]</a:t>
                      </a:r>
                    </a:p>
                  </a:txBody>
                  <a:tcPr marL="79722" marR="79722" marT="39861" marB="39861" anchor="ctr"/>
                </a:tc>
                <a:extLst>
                  <a:ext uri="{0D108BD9-81ED-4DB2-BD59-A6C34878D82A}">
                    <a16:rowId xmlns:a16="http://schemas.microsoft.com/office/drawing/2014/main" val="1748754942"/>
                  </a:ext>
                </a:extLst>
              </a:tr>
              <a:tr h="558052">
                <a:tc>
                  <a:txBody>
                    <a:bodyPr/>
                    <a:lstStyle/>
                    <a:p>
                      <a:r>
                        <a:rPr lang="es-ES" sz="1800">
                          <a:latin typeface="+mj-lt"/>
                        </a:rPr>
                        <a:t>min-height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latin typeface="+mj-lt"/>
                        </a:rPr>
                        <a:t>Alto mínimo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8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8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800" dirty="0" smtClean="0">
                          <a:effectLst/>
                          <a:latin typeface="+mj-lt"/>
                        </a:rPr>
                        <a:t>&gt; ]</a:t>
                      </a:r>
                      <a:endParaRPr lang="es-ES" sz="1800" dirty="0">
                        <a:effectLst/>
                        <a:latin typeface="+mj-lt"/>
                      </a:endParaRPr>
                    </a:p>
                  </a:txBody>
                  <a:tcPr marL="79722" marR="79722" marT="39861" marB="39861" anchor="ctr"/>
                </a:tc>
                <a:extLst>
                  <a:ext uri="{0D108BD9-81ED-4DB2-BD59-A6C34878D82A}">
                    <a16:rowId xmlns:a16="http://schemas.microsoft.com/office/drawing/2014/main" val="3123965105"/>
                  </a:ext>
                </a:extLst>
              </a:tr>
              <a:tr h="558052">
                <a:tc>
                  <a:txBody>
                    <a:bodyPr/>
                    <a:lstStyle/>
                    <a:p>
                      <a:r>
                        <a:rPr lang="es-ES" sz="1800">
                          <a:latin typeface="+mj-lt"/>
                        </a:rPr>
                        <a:t>max-height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latin typeface="+mj-lt"/>
                        </a:rPr>
                        <a:t>Alto máximo</a:t>
                      </a:r>
                    </a:p>
                  </a:txBody>
                  <a:tcPr marL="79722" marR="79722" marT="39861" marB="39861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8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8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| </a:t>
                      </a:r>
                      <a:r>
                        <a:rPr lang="es-ES" sz="1800" dirty="0" err="1" smtClean="0">
                          <a:effectLst/>
                          <a:latin typeface="+mj-lt"/>
                        </a:rPr>
                        <a:t>none</a:t>
                      </a:r>
                      <a:r>
                        <a:rPr lang="es-ES" sz="1800" dirty="0" smtClean="0">
                          <a:effectLst/>
                          <a:latin typeface="+mj-lt"/>
                        </a:rPr>
                        <a:t> 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 ]</a:t>
                      </a:r>
                    </a:p>
                  </a:txBody>
                  <a:tcPr marL="79722" marR="79722" marT="39861" marB="39861" anchor="ctr"/>
                </a:tc>
                <a:extLst>
                  <a:ext uri="{0D108BD9-81ED-4DB2-BD59-A6C34878D82A}">
                    <a16:rowId xmlns:a16="http://schemas.microsoft.com/office/drawing/2014/main" val="2329991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66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Márgenes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dirty="0" smtClean="0">
                <a:latin typeface="+mj-lt"/>
                <a:hlinkClick r:id="rId2"/>
              </a:rPr>
              <a:t>https</a:t>
            </a:r>
            <a:r>
              <a:rPr lang="es-ES" dirty="0">
                <a:latin typeface="+mj-lt"/>
                <a:hlinkClick r:id="rId2"/>
              </a:rPr>
              <a:t>://</a:t>
            </a:r>
            <a:r>
              <a:rPr lang="es-ES" dirty="0" smtClean="0">
                <a:latin typeface="+mj-lt"/>
                <a:hlinkClick r:id="rId2"/>
              </a:rPr>
              <a:t>librosweb.es/libro/css/capitulo_4/anchura_y_altura.html</a:t>
            </a: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 smtClean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>
              <a:latin typeface="+mj-lt"/>
              <a:hlinkClick r:id="rId3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 smtClean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700" dirty="0" smtClean="0">
                <a:latin typeface="+mj-lt"/>
              </a:rPr>
              <a:t>Para centrar horizontalmente suele ser útil el siguiente margen:</a:t>
            </a: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7</a:t>
            </a:fld>
            <a:endParaRPr lang="es-ES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31371"/>
              </p:ext>
            </p:extLst>
          </p:nvPr>
        </p:nvGraphicFramePr>
        <p:xfrm>
          <a:off x="601216" y="2048218"/>
          <a:ext cx="8219256" cy="3053617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306488">
                  <a:extLst>
                    <a:ext uri="{9D8B030D-6E8A-4147-A177-3AD203B41FA5}">
                      <a16:colId xmlns:a16="http://schemas.microsoft.com/office/drawing/2014/main" val="42524842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70831203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3412934816"/>
                    </a:ext>
                  </a:extLst>
                </a:gridCol>
              </a:tblGrid>
              <a:tr h="290355"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  <a:latin typeface="+mj-lt"/>
                        </a:rPr>
                        <a:t>Propiedad</a:t>
                      </a:r>
                      <a:endParaRPr lang="es-ES" sz="14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  <a:latin typeface="+mj-lt"/>
                        </a:rPr>
                        <a:t>Descripción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  <a:latin typeface="+mj-lt"/>
                        </a:rPr>
                        <a:t>Valores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666330"/>
                  </a:ext>
                </a:extLst>
              </a:tr>
              <a:tr h="860339">
                <a:tc>
                  <a:txBody>
                    <a:bodyPr/>
                    <a:lstStyle/>
                    <a:p>
                      <a:r>
                        <a:rPr lang="es-ES" sz="1400" dirty="0" err="1" smtClean="0">
                          <a:latin typeface="+mj-lt"/>
                        </a:rPr>
                        <a:t>margin</a:t>
                      </a:r>
                      <a:r>
                        <a:rPr lang="es-ES" sz="1400" dirty="0" smtClean="0">
                          <a:latin typeface="+mj-lt"/>
                        </a:rPr>
                        <a:t>-top</a:t>
                      </a:r>
                    </a:p>
                    <a:p>
                      <a:r>
                        <a:rPr lang="es-ES" sz="1400" dirty="0" err="1" smtClean="0">
                          <a:latin typeface="+mj-lt"/>
                        </a:rPr>
                        <a:t>margin-right</a:t>
                      </a:r>
                      <a:endParaRPr lang="es-ES" sz="1400" dirty="0" smtClean="0">
                        <a:latin typeface="+mj-lt"/>
                      </a:endParaRPr>
                    </a:p>
                    <a:p>
                      <a:r>
                        <a:rPr lang="es-ES" sz="1400" dirty="0" err="1" smtClean="0">
                          <a:latin typeface="+mj-lt"/>
                        </a:rPr>
                        <a:t>margin-bottom</a:t>
                      </a:r>
                      <a:endParaRPr lang="es-ES" sz="1400" dirty="0" smtClean="0">
                        <a:latin typeface="+mj-lt"/>
                      </a:endParaRPr>
                    </a:p>
                    <a:p>
                      <a:r>
                        <a:rPr lang="es-ES" sz="1400" dirty="0" err="1" smtClean="0">
                          <a:latin typeface="+mj-lt"/>
                        </a:rPr>
                        <a:t>margin-left</a:t>
                      </a:r>
                      <a:endParaRPr lang="es-ES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+mj-lt"/>
                        </a:rPr>
                        <a:t>Tamaño del margen superior, derecho, inferior e izquierdo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4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4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&gt; | </a:t>
                      </a:r>
                      <a:r>
                        <a:rPr lang="es-ES" sz="1400" dirty="0" smtClean="0">
                          <a:effectLst/>
                          <a:latin typeface="+mj-lt"/>
                        </a:rPr>
                        <a:t>auto 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 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473752"/>
                  </a:ext>
                </a:extLst>
              </a:tr>
              <a:tr h="1803937">
                <a:tc>
                  <a:txBody>
                    <a:bodyPr/>
                    <a:lstStyle/>
                    <a:p>
                      <a:r>
                        <a:rPr lang="es-ES" sz="1400" dirty="0" err="1">
                          <a:latin typeface="+mj-lt"/>
                        </a:rPr>
                        <a:t>margin</a:t>
                      </a:r>
                      <a:endParaRPr lang="es-ES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+mj-lt"/>
                        </a:rPr>
                        <a:t>Ancho para varios márgenes individuales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4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4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&gt; | auto </a:t>
                      </a:r>
                      <a:r>
                        <a:rPr lang="es-ES" sz="1400" dirty="0" smtClean="0">
                          <a:effectLst/>
                          <a:latin typeface="+mj-lt"/>
                        </a:rPr>
                        <a:t>]{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1,4</a:t>
                      </a:r>
                      <a:r>
                        <a:rPr lang="es-ES" sz="1400" dirty="0" smtClean="0">
                          <a:effectLst/>
                          <a:latin typeface="+mj-lt"/>
                        </a:rPr>
                        <a:t>}</a:t>
                      </a:r>
                    </a:p>
                    <a:p>
                      <a:pPr marL="0" lvl="3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es-ES" sz="14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Un valor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: todos igual</a:t>
                      </a:r>
                    </a:p>
                    <a:p>
                      <a:pPr marL="0" lvl="3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es-ES" sz="14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Dos valores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s-ES" sz="1400" kern="1200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arriba y abajo | derecha e izquierda</a:t>
                      </a:r>
                    </a:p>
                    <a:p>
                      <a:pPr marL="0" lvl="3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es-ES" sz="14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Tres valores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: arriba</a:t>
                      </a:r>
                      <a:r>
                        <a:rPr kumimoji="0" lang="es-ES" sz="1400" kern="1200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| d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erecha</a:t>
                      </a:r>
                      <a:r>
                        <a:rPr kumimoji="0" lang="es-ES" sz="1400" kern="1200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e izquierda | abajo</a:t>
                      </a:r>
                    </a:p>
                    <a:p>
                      <a:pPr marL="0" lvl="3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es-ES" sz="14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Cuatro valores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: arriba | derecha |abajo | izquierda.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9609"/>
                  </a:ext>
                </a:extLst>
              </a:tr>
            </a:tbl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01216" y="5890478"/>
            <a:ext cx="7272808" cy="83099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div {</a:t>
            </a:r>
          </a:p>
          <a:p>
            <a:pPr marL="355600" indent="-3556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width: 80%;</a:t>
            </a: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5600" indent="-3556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margin: 10px auto; </a:t>
            </a: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346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Rellenos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1058" y="1590402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dirty="0" smtClean="0">
                <a:latin typeface="+mj-lt"/>
                <a:hlinkClick r:id="rId2"/>
              </a:rPr>
              <a:t>https</a:t>
            </a:r>
            <a:r>
              <a:rPr lang="es-ES" dirty="0">
                <a:latin typeface="+mj-lt"/>
                <a:hlinkClick r:id="rId2"/>
              </a:rPr>
              <a:t>://</a:t>
            </a:r>
            <a:r>
              <a:rPr lang="es-ES" dirty="0" smtClean="0">
                <a:latin typeface="+mj-lt"/>
                <a:hlinkClick r:id="rId2"/>
              </a:rPr>
              <a:t>www.w3schools.com/css/css_padding.asp</a:t>
            </a:r>
            <a:endParaRPr lang="es-ES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 smtClean="0">
              <a:latin typeface="+mj-lt"/>
              <a:hlinkClick r:id="rId3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>
              <a:latin typeface="+mj-lt"/>
              <a:hlinkClick r:id="rId3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8</a:t>
            </a:fld>
            <a:endParaRPr lang="es-ES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676707"/>
              </p:ext>
            </p:extLst>
          </p:nvPr>
        </p:nvGraphicFramePr>
        <p:xfrm>
          <a:off x="480812" y="2564904"/>
          <a:ext cx="8064896" cy="3053617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498900">
                  <a:extLst>
                    <a:ext uri="{9D8B030D-6E8A-4147-A177-3AD203B41FA5}">
                      <a16:colId xmlns:a16="http://schemas.microsoft.com/office/drawing/2014/main" val="425248423"/>
                    </a:ext>
                  </a:extLst>
                </a:gridCol>
                <a:gridCol w="2461540">
                  <a:extLst>
                    <a:ext uri="{9D8B030D-6E8A-4147-A177-3AD203B41FA5}">
                      <a16:colId xmlns:a16="http://schemas.microsoft.com/office/drawing/2014/main" val="2070831203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3412934816"/>
                    </a:ext>
                  </a:extLst>
                </a:gridCol>
              </a:tblGrid>
              <a:tr h="290355"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  <a:latin typeface="+mj-lt"/>
                        </a:rPr>
                        <a:t>Propiedad</a:t>
                      </a:r>
                      <a:endParaRPr lang="es-ES" sz="14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  <a:latin typeface="+mj-lt"/>
                        </a:rPr>
                        <a:t>Descripción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  <a:latin typeface="+mj-lt"/>
                        </a:rPr>
                        <a:t>Valores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666330"/>
                  </a:ext>
                </a:extLst>
              </a:tr>
              <a:tr h="860339">
                <a:tc>
                  <a:txBody>
                    <a:bodyPr/>
                    <a:lstStyle/>
                    <a:p>
                      <a:r>
                        <a:rPr lang="es-ES" sz="1400" dirty="0" err="1" smtClean="0">
                          <a:latin typeface="+mj-lt"/>
                        </a:rPr>
                        <a:t>padding</a:t>
                      </a:r>
                      <a:r>
                        <a:rPr lang="es-ES" sz="1400" dirty="0" smtClean="0">
                          <a:latin typeface="+mj-lt"/>
                        </a:rPr>
                        <a:t>-top</a:t>
                      </a:r>
                    </a:p>
                    <a:p>
                      <a:r>
                        <a:rPr lang="es-ES" sz="1400" dirty="0" err="1" smtClean="0">
                          <a:latin typeface="+mj-lt"/>
                        </a:rPr>
                        <a:t>padding-right</a:t>
                      </a:r>
                      <a:endParaRPr lang="es-ES" sz="1400" dirty="0" smtClean="0">
                        <a:latin typeface="+mj-lt"/>
                      </a:endParaRPr>
                    </a:p>
                    <a:p>
                      <a:r>
                        <a:rPr lang="es-ES" sz="1400" dirty="0" err="1" smtClean="0">
                          <a:latin typeface="+mj-lt"/>
                        </a:rPr>
                        <a:t>padding-bottom</a:t>
                      </a:r>
                      <a:endParaRPr lang="es-ES" sz="1400" dirty="0" smtClean="0">
                        <a:latin typeface="+mj-lt"/>
                      </a:endParaRPr>
                    </a:p>
                    <a:p>
                      <a:r>
                        <a:rPr lang="es-ES" sz="1400" dirty="0" err="1" smtClean="0">
                          <a:latin typeface="+mj-lt"/>
                        </a:rPr>
                        <a:t>paddding-left</a:t>
                      </a:r>
                      <a:endParaRPr lang="es-ES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 smtClean="0">
                          <a:latin typeface="+mj-lt"/>
                        </a:rPr>
                        <a:t>Ancho del relleno superior, derecho, inferior e izquierdo</a:t>
                      </a:r>
                      <a:endParaRPr lang="es-ES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4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4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&gt; | </a:t>
                      </a:r>
                      <a:r>
                        <a:rPr lang="es-ES" sz="1400" dirty="0" smtClean="0">
                          <a:effectLst/>
                          <a:latin typeface="+mj-lt"/>
                        </a:rPr>
                        <a:t>auto 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 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473752"/>
                  </a:ext>
                </a:extLst>
              </a:tr>
              <a:tr h="1803937">
                <a:tc>
                  <a:txBody>
                    <a:bodyPr/>
                    <a:lstStyle/>
                    <a:p>
                      <a:r>
                        <a:rPr lang="es-ES" sz="1400" dirty="0" err="1" smtClean="0">
                          <a:latin typeface="+mj-lt"/>
                        </a:rPr>
                        <a:t>padding</a:t>
                      </a:r>
                      <a:endParaRPr lang="es-ES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 smtClean="0">
                          <a:latin typeface="+mj-lt"/>
                        </a:rPr>
                        <a:t>Tamaños para varios rellenos individuales</a:t>
                      </a:r>
                      <a:endParaRPr lang="es-ES" sz="14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400" dirty="0">
                          <a:effectLst/>
                          <a:latin typeface="+mj-lt"/>
                          <a:hlinkClick r:id="rId4"/>
                        </a:rPr>
                        <a:t>longitud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400" dirty="0">
                          <a:effectLst/>
                          <a:latin typeface="+mj-lt"/>
                          <a:hlinkClick r:id="rId5"/>
                        </a:rPr>
                        <a:t>porcentaje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&gt; | auto </a:t>
                      </a:r>
                      <a:r>
                        <a:rPr lang="es-ES" sz="1400" dirty="0" smtClean="0">
                          <a:effectLst/>
                          <a:latin typeface="+mj-lt"/>
                        </a:rPr>
                        <a:t>]{</a:t>
                      </a:r>
                      <a:r>
                        <a:rPr lang="es-ES" sz="1400" dirty="0">
                          <a:effectLst/>
                          <a:latin typeface="+mj-lt"/>
                        </a:rPr>
                        <a:t>1,4</a:t>
                      </a:r>
                      <a:r>
                        <a:rPr lang="es-ES" sz="1400" dirty="0" smtClean="0">
                          <a:effectLst/>
                          <a:latin typeface="+mj-lt"/>
                        </a:rPr>
                        <a:t>}</a:t>
                      </a:r>
                    </a:p>
                    <a:p>
                      <a:pPr marL="0" lvl="3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es-ES" sz="14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Un valor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: todos igual</a:t>
                      </a:r>
                    </a:p>
                    <a:p>
                      <a:pPr marL="0" lvl="3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es-ES" sz="14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Dos valores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s-ES" sz="1400" kern="1200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arriba y abajo | derecha e izquierda</a:t>
                      </a:r>
                    </a:p>
                    <a:p>
                      <a:pPr marL="0" lvl="3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es-ES" sz="14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Tres valores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: arriba</a:t>
                      </a:r>
                      <a:r>
                        <a:rPr kumimoji="0" lang="es-ES" sz="1400" kern="1200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| d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erecha</a:t>
                      </a:r>
                      <a:r>
                        <a:rPr kumimoji="0" lang="es-ES" sz="1400" kern="1200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e izquierda | abajo</a:t>
                      </a:r>
                    </a:p>
                    <a:p>
                      <a:pPr marL="0" lvl="3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75000"/>
                          </a:schemeClr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r>
                        <a:rPr kumimoji="0" lang="es-ES" sz="1400" b="1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Cuatro valores</a:t>
                      </a:r>
                      <a:r>
                        <a:rPr kumimoji="0" lang="es-ES" sz="14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: arriba | derecha |abajo | izquierda.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9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75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1058" y="1590402"/>
            <a:ext cx="7920880" cy="4968552"/>
          </a:xfrm>
        </p:spPr>
        <p:txBody>
          <a:bodyPr>
            <a:noAutofit/>
          </a:bodyPr>
          <a:lstStyle/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dirty="0" smtClean="0">
                <a:latin typeface="+mj-lt"/>
              </a:rPr>
              <a:t>Bordes: </a:t>
            </a:r>
            <a:r>
              <a:rPr lang="es-ES" dirty="0" smtClean="0">
                <a:latin typeface="+mj-lt"/>
                <a:hlinkClick r:id="rId2"/>
              </a:rPr>
              <a:t>https</a:t>
            </a:r>
            <a:r>
              <a:rPr lang="es-ES" dirty="0">
                <a:latin typeface="+mj-lt"/>
                <a:hlinkClick r:id="rId2"/>
              </a:rPr>
              <a:t>://</a:t>
            </a:r>
            <a:r>
              <a:rPr lang="es-ES" dirty="0" smtClean="0">
                <a:latin typeface="+mj-lt"/>
                <a:hlinkClick r:id="rId2"/>
              </a:rPr>
              <a:t>www.w3schools.com/css/css_border.asp</a:t>
            </a:r>
            <a:endParaRPr lang="es-ES" dirty="0" smtClean="0">
              <a:latin typeface="+mj-lt"/>
            </a:endParaRPr>
          </a:p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dirty="0">
                <a:latin typeface="+mj-lt"/>
              </a:rPr>
              <a:t>Bordes redondeados</a:t>
            </a:r>
            <a:r>
              <a:rPr lang="es-ES" dirty="0" smtClean="0">
                <a:latin typeface="+mj-lt"/>
              </a:rPr>
              <a:t>:</a:t>
            </a:r>
          </a:p>
          <a:p>
            <a:pPr marL="35560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dirty="0" smtClean="0">
                <a:latin typeface="+mj-lt"/>
              </a:rPr>
              <a:t> </a:t>
            </a:r>
            <a:r>
              <a:rPr lang="es-ES" dirty="0">
                <a:latin typeface="+mj-lt"/>
                <a:hlinkClick r:id="rId3"/>
              </a:rPr>
              <a:t>https://</a:t>
            </a:r>
            <a:r>
              <a:rPr lang="es-ES" dirty="0" smtClean="0">
                <a:latin typeface="+mj-lt"/>
                <a:hlinkClick r:id="rId3"/>
              </a:rPr>
              <a:t>www.w3schools.com/css/css3_borders.asp</a:t>
            </a:r>
            <a:endParaRPr lang="es-ES" dirty="0" smtClean="0">
              <a:latin typeface="+mj-lt"/>
            </a:endParaRPr>
          </a:p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dirty="0" smtClean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 smtClean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>
              <a:latin typeface="+mj-lt"/>
              <a:hlinkClick r:id="rId2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708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03832" y="1400351"/>
            <a:ext cx="792088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>
              <a:latin typeface="+mj-lt"/>
              <a:hlinkClick r:id="rId2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10</a:t>
            </a:fld>
            <a:endParaRPr lang="es-ES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651755"/>
              </p:ext>
            </p:extLst>
          </p:nvPr>
        </p:nvGraphicFramePr>
        <p:xfrm>
          <a:off x="509204" y="1489998"/>
          <a:ext cx="7910135" cy="527416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49597">
                  <a:extLst>
                    <a:ext uri="{9D8B030D-6E8A-4147-A177-3AD203B41FA5}">
                      <a16:colId xmlns:a16="http://schemas.microsoft.com/office/drawing/2014/main" val="1835403082"/>
                    </a:ext>
                  </a:extLst>
                </a:gridCol>
                <a:gridCol w="2871289">
                  <a:extLst>
                    <a:ext uri="{9D8B030D-6E8A-4147-A177-3AD203B41FA5}">
                      <a16:colId xmlns:a16="http://schemas.microsoft.com/office/drawing/2014/main" val="3810633816"/>
                    </a:ext>
                  </a:extLst>
                </a:gridCol>
                <a:gridCol w="3589249">
                  <a:extLst>
                    <a:ext uri="{9D8B030D-6E8A-4147-A177-3AD203B41FA5}">
                      <a16:colId xmlns:a16="http://schemas.microsoft.com/office/drawing/2014/main" val="1348620202"/>
                    </a:ext>
                  </a:extLst>
                </a:gridCol>
              </a:tblGrid>
              <a:tr h="188793"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  <a:latin typeface="+mj-lt"/>
                        </a:rPr>
                        <a:t>Propiedad</a:t>
                      </a:r>
                      <a:endParaRPr lang="es-ES" sz="12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  <a:latin typeface="+mj-lt"/>
                        </a:rPr>
                        <a:t>Descripción</a:t>
                      </a:r>
                      <a:endParaRPr lang="es-ES" sz="12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  <a:latin typeface="+mj-lt"/>
                        </a:rPr>
                        <a:t>Valores</a:t>
                      </a:r>
                      <a:endParaRPr lang="es-ES" sz="12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312591701"/>
                  </a:ext>
                </a:extLst>
              </a:tr>
              <a:tr h="613577"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latin typeface="+mj-lt"/>
                        </a:rPr>
                        <a:t>border</a:t>
                      </a:r>
                      <a:r>
                        <a:rPr lang="es-ES" sz="1200" b="1" dirty="0">
                          <a:latin typeface="+mj-lt"/>
                        </a:rPr>
                        <a:t>-top-</a:t>
                      </a:r>
                      <a:r>
                        <a:rPr lang="es-ES" sz="1200" b="1" dirty="0" err="1">
                          <a:latin typeface="+mj-lt"/>
                        </a:rPr>
                        <a:t>width</a:t>
                      </a:r>
                      <a:r>
                        <a:rPr lang="es-ES" sz="1200" b="1" dirty="0">
                          <a:latin typeface="+mj-lt"/>
                        </a:rPr>
                        <a:t/>
                      </a:r>
                      <a:br>
                        <a:rPr lang="es-ES" sz="1200" b="1" dirty="0">
                          <a:latin typeface="+mj-lt"/>
                        </a:rPr>
                      </a:br>
                      <a:r>
                        <a:rPr lang="es-ES" sz="1200" b="1" dirty="0" err="1">
                          <a:latin typeface="+mj-lt"/>
                        </a:rPr>
                        <a:t>border-right-width</a:t>
                      </a:r>
                      <a:r>
                        <a:rPr lang="es-ES" sz="1200" b="1" dirty="0">
                          <a:latin typeface="+mj-lt"/>
                        </a:rPr>
                        <a:t/>
                      </a:r>
                      <a:br>
                        <a:rPr lang="es-ES" sz="1200" b="1" dirty="0">
                          <a:latin typeface="+mj-lt"/>
                        </a:rPr>
                      </a:br>
                      <a:r>
                        <a:rPr lang="es-ES" sz="1200" b="1" dirty="0" err="1">
                          <a:latin typeface="+mj-lt"/>
                        </a:rPr>
                        <a:t>border-bottom-width</a:t>
                      </a:r>
                      <a:r>
                        <a:rPr lang="es-ES" sz="1200" b="1" dirty="0">
                          <a:latin typeface="+mj-lt"/>
                        </a:rPr>
                        <a:t/>
                      </a:r>
                      <a:br>
                        <a:rPr lang="es-ES" sz="1200" b="1" dirty="0">
                          <a:latin typeface="+mj-lt"/>
                        </a:rPr>
                      </a:br>
                      <a:r>
                        <a:rPr lang="es-ES" sz="1200" b="1" dirty="0" err="1">
                          <a:latin typeface="+mj-lt"/>
                        </a:rPr>
                        <a:t>border-left-width</a:t>
                      </a:r>
                      <a:endParaRPr lang="es-ES" sz="1200" b="1" dirty="0"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+mj-lt"/>
                        </a:rPr>
                        <a:t>Anchura del borde superior, derecho, inferior o izquierdo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  <a:latin typeface="+mj-lt"/>
                        </a:rPr>
                        <a:t>[ thin | medium | thick | &lt;</a:t>
                      </a:r>
                      <a:r>
                        <a:rPr lang="es-ES" sz="1200">
                          <a:effectLst/>
                          <a:latin typeface="+mj-lt"/>
                          <a:hlinkClick r:id="rId3"/>
                        </a:rPr>
                        <a:t>longitud</a:t>
                      </a:r>
                      <a:r>
                        <a:rPr lang="es-ES" sz="1200">
                          <a:effectLst/>
                          <a:latin typeface="+mj-lt"/>
                        </a:rPr>
                        <a:t>&gt; ]</a:t>
                      </a: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4168566053"/>
                  </a:ext>
                </a:extLst>
              </a:tr>
              <a:tr h="330388"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latin typeface="+mj-lt"/>
                        </a:rPr>
                        <a:t>border-width</a:t>
                      </a:r>
                      <a:endParaRPr lang="es-ES" sz="1200" b="1" dirty="0"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latin typeface="+mj-lt"/>
                        </a:rPr>
                        <a:t>Anchos de varios bordes individuales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  <a:latin typeface="+mj-lt"/>
                        </a:rPr>
                        <a:t>[ thin | medium | thick | &lt;</a:t>
                      </a:r>
                      <a:r>
                        <a:rPr lang="es-ES" sz="1200">
                          <a:effectLst/>
                          <a:latin typeface="+mj-lt"/>
                          <a:hlinkClick r:id="rId3"/>
                        </a:rPr>
                        <a:t>longitud</a:t>
                      </a:r>
                      <a:r>
                        <a:rPr lang="es-ES" sz="1200">
                          <a:effectLst/>
                          <a:latin typeface="+mj-lt"/>
                        </a:rPr>
                        <a:t>&gt; ] {1,4}</a:t>
                      </a: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1689460562"/>
                  </a:ext>
                </a:extLst>
              </a:tr>
              <a:tr h="613577"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latin typeface="+mj-lt"/>
                        </a:rPr>
                        <a:t>border</a:t>
                      </a:r>
                      <a:r>
                        <a:rPr lang="es-ES" sz="1200" b="1" dirty="0">
                          <a:latin typeface="+mj-lt"/>
                        </a:rPr>
                        <a:t>-top-color</a:t>
                      </a:r>
                      <a:br>
                        <a:rPr lang="es-ES" sz="1200" b="1" dirty="0">
                          <a:latin typeface="+mj-lt"/>
                        </a:rPr>
                      </a:br>
                      <a:r>
                        <a:rPr lang="es-ES" sz="1200" b="1" dirty="0" err="1">
                          <a:latin typeface="+mj-lt"/>
                        </a:rPr>
                        <a:t>border</a:t>
                      </a:r>
                      <a:r>
                        <a:rPr lang="es-ES" sz="1200" b="1" dirty="0">
                          <a:latin typeface="+mj-lt"/>
                        </a:rPr>
                        <a:t>-</a:t>
                      </a:r>
                      <a:r>
                        <a:rPr lang="es-ES" sz="1200" b="1" dirty="0" err="1">
                          <a:latin typeface="+mj-lt"/>
                        </a:rPr>
                        <a:t>right</a:t>
                      </a:r>
                      <a:r>
                        <a:rPr lang="es-ES" sz="1200" b="1" dirty="0">
                          <a:latin typeface="+mj-lt"/>
                        </a:rPr>
                        <a:t>-color</a:t>
                      </a:r>
                      <a:br>
                        <a:rPr lang="es-ES" sz="1200" b="1" dirty="0">
                          <a:latin typeface="+mj-lt"/>
                        </a:rPr>
                      </a:br>
                      <a:r>
                        <a:rPr lang="es-ES" sz="1200" b="1" dirty="0" err="1">
                          <a:latin typeface="+mj-lt"/>
                        </a:rPr>
                        <a:t>border</a:t>
                      </a:r>
                      <a:r>
                        <a:rPr lang="es-ES" sz="1200" b="1" dirty="0">
                          <a:latin typeface="+mj-lt"/>
                        </a:rPr>
                        <a:t>-</a:t>
                      </a:r>
                      <a:r>
                        <a:rPr lang="es-ES" sz="1200" b="1" dirty="0" err="1">
                          <a:latin typeface="+mj-lt"/>
                        </a:rPr>
                        <a:t>bottom</a:t>
                      </a:r>
                      <a:r>
                        <a:rPr lang="es-ES" sz="1200" b="1" dirty="0">
                          <a:latin typeface="+mj-lt"/>
                        </a:rPr>
                        <a:t>-color</a:t>
                      </a:r>
                      <a:br>
                        <a:rPr lang="es-ES" sz="1200" b="1" dirty="0">
                          <a:latin typeface="+mj-lt"/>
                        </a:rPr>
                      </a:br>
                      <a:r>
                        <a:rPr lang="es-ES" sz="1200" b="1" dirty="0" err="1">
                          <a:latin typeface="+mj-lt"/>
                        </a:rPr>
                        <a:t>border</a:t>
                      </a:r>
                      <a:r>
                        <a:rPr lang="es-ES" sz="1200" b="1" dirty="0">
                          <a:latin typeface="+mj-lt"/>
                        </a:rPr>
                        <a:t>-</a:t>
                      </a:r>
                      <a:r>
                        <a:rPr lang="es-ES" sz="1200" b="1" dirty="0" err="1">
                          <a:latin typeface="+mj-lt"/>
                        </a:rPr>
                        <a:t>left</a:t>
                      </a:r>
                      <a:r>
                        <a:rPr lang="es-ES" sz="1200" b="1" dirty="0">
                          <a:latin typeface="+mj-lt"/>
                        </a:rPr>
                        <a:t>-color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latin typeface="+mj-lt"/>
                        </a:rPr>
                        <a:t>Color del borde superior, derecho, inferior o izquierdo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200">
                          <a:effectLst/>
                          <a:latin typeface="+mj-lt"/>
                          <a:hlinkClick r:id="rId4"/>
                        </a:rPr>
                        <a:t>color</a:t>
                      </a:r>
                      <a:r>
                        <a:rPr lang="es-ES" sz="1200">
                          <a:effectLst/>
                          <a:latin typeface="+mj-lt"/>
                        </a:rPr>
                        <a:t>&gt; | transparent ]</a:t>
                      </a: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2250944246"/>
                  </a:ext>
                </a:extLst>
              </a:tr>
              <a:tr h="330388">
                <a:tc>
                  <a:txBody>
                    <a:bodyPr/>
                    <a:lstStyle/>
                    <a:p>
                      <a:r>
                        <a:rPr lang="es-ES" sz="1200" b="1">
                          <a:latin typeface="+mj-lt"/>
                        </a:rPr>
                        <a:t>border-color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latin typeface="+mj-lt"/>
                        </a:rPr>
                        <a:t>Colores de varios bordes individuales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200">
                          <a:effectLst/>
                          <a:latin typeface="+mj-lt"/>
                          <a:hlinkClick r:id="rId4"/>
                        </a:rPr>
                        <a:t>color</a:t>
                      </a:r>
                      <a:r>
                        <a:rPr lang="es-ES" sz="1200">
                          <a:effectLst/>
                          <a:latin typeface="+mj-lt"/>
                        </a:rPr>
                        <a:t>&gt; | transparent ] {1,4}</a:t>
                      </a: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3056510480"/>
                  </a:ext>
                </a:extLst>
              </a:tr>
              <a:tr h="613577">
                <a:tc>
                  <a:txBody>
                    <a:bodyPr/>
                    <a:lstStyle/>
                    <a:p>
                      <a:r>
                        <a:rPr lang="es-ES" sz="1200" b="1">
                          <a:latin typeface="+mj-lt"/>
                        </a:rPr>
                        <a:t>border-top-style</a:t>
                      </a:r>
                      <a:br>
                        <a:rPr lang="es-ES" sz="1200" b="1">
                          <a:latin typeface="+mj-lt"/>
                        </a:rPr>
                      </a:br>
                      <a:r>
                        <a:rPr lang="es-ES" sz="1200" b="1">
                          <a:latin typeface="+mj-lt"/>
                        </a:rPr>
                        <a:t>border-right-style</a:t>
                      </a:r>
                      <a:br>
                        <a:rPr lang="es-ES" sz="1200" b="1">
                          <a:latin typeface="+mj-lt"/>
                        </a:rPr>
                      </a:br>
                      <a:r>
                        <a:rPr lang="es-ES" sz="1200" b="1">
                          <a:latin typeface="+mj-lt"/>
                        </a:rPr>
                        <a:t>border-bottom-style</a:t>
                      </a:r>
                      <a:br>
                        <a:rPr lang="es-ES" sz="1200" b="1">
                          <a:latin typeface="+mj-lt"/>
                        </a:rPr>
                      </a:br>
                      <a:r>
                        <a:rPr lang="es-ES" sz="1200" b="1">
                          <a:latin typeface="+mj-lt"/>
                        </a:rPr>
                        <a:t>border-left-style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latin typeface="+mj-lt"/>
                        </a:rPr>
                        <a:t>Estilo del borde superior, derecho, inferior o izquierdo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  <a:latin typeface="+mj-lt"/>
                        </a:rPr>
                        <a:t>[ none | hidden | dotted | dashed | solid | double | groove | ridge | inset | outset ]</a:t>
                      </a: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2739644720"/>
                  </a:ext>
                </a:extLst>
              </a:tr>
              <a:tr h="613577">
                <a:tc>
                  <a:txBody>
                    <a:bodyPr/>
                    <a:lstStyle/>
                    <a:p>
                      <a:r>
                        <a:rPr lang="es-ES" sz="1200" b="1">
                          <a:latin typeface="+mj-lt"/>
                        </a:rPr>
                        <a:t>border-style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latin typeface="+mj-lt"/>
                        </a:rPr>
                        <a:t>Estilos de varios bordes individuales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  <a:latin typeface="+mj-lt"/>
                        </a:rPr>
                        <a:t>[ none | hidden | dotted | dashed | solid | double | groove | ridge | inset | outset ] {1,4}</a:t>
                      </a: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152761924"/>
                  </a:ext>
                </a:extLst>
              </a:tr>
              <a:tr h="613577">
                <a:tc>
                  <a:txBody>
                    <a:bodyPr/>
                    <a:lstStyle/>
                    <a:p>
                      <a:r>
                        <a:rPr lang="es-ES" sz="1200" b="1">
                          <a:latin typeface="+mj-lt"/>
                        </a:rPr>
                        <a:t>border-top</a:t>
                      </a:r>
                      <a:br>
                        <a:rPr lang="es-ES" sz="1200" b="1">
                          <a:latin typeface="+mj-lt"/>
                        </a:rPr>
                      </a:br>
                      <a:r>
                        <a:rPr lang="es-ES" sz="1200" b="1">
                          <a:latin typeface="+mj-lt"/>
                        </a:rPr>
                        <a:t>border-right</a:t>
                      </a:r>
                      <a:br>
                        <a:rPr lang="es-ES" sz="1200" b="1">
                          <a:latin typeface="+mj-lt"/>
                        </a:rPr>
                      </a:br>
                      <a:r>
                        <a:rPr lang="es-ES" sz="1200" b="1">
                          <a:latin typeface="+mj-lt"/>
                        </a:rPr>
                        <a:t>border-bottom</a:t>
                      </a:r>
                      <a:br>
                        <a:rPr lang="es-ES" sz="1200" b="1">
                          <a:latin typeface="+mj-lt"/>
                        </a:rPr>
                      </a:br>
                      <a:r>
                        <a:rPr lang="es-ES" sz="1200" b="1">
                          <a:latin typeface="+mj-lt"/>
                        </a:rPr>
                        <a:t>border-left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latin typeface="+mj-lt"/>
                        </a:rPr>
                        <a:t>Ancho, estilo y el color para el borde superior, derecho, inferior o izquierdo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200">
                          <a:effectLst/>
                          <a:latin typeface="+mj-lt"/>
                          <a:hlinkClick r:id="rId5"/>
                        </a:rPr>
                        <a:t>border-top-width</a:t>
                      </a:r>
                      <a:r>
                        <a:rPr lang="es-ES" sz="1200">
                          <a:effectLst/>
                          <a:latin typeface="+mj-lt"/>
                        </a:rPr>
                        <a:t>&gt; || &lt;</a:t>
                      </a:r>
                      <a:r>
                        <a:rPr lang="es-ES" sz="1200">
                          <a:effectLst/>
                          <a:latin typeface="+mj-lt"/>
                          <a:hlinkClick r:id="rId6"/>
                        </a:rPr>
                        <a:t>border-top-style</a:t>
                      </a:r>
                      <a:r>
                        <a:rPr lang="es-ES" sz="1200">
                          <a:effectLst/>
                          <a:latin typeface="+mj-lt"/>
                        </a:rPr>
                        <a:t>&gt; || &lt;</a:t>
                      </a:r>
                      <a:r>
                        <a:rPr lang="es-ES" sz="1200">
                          <a:effectLst/>
                          <a:latin typeface="+mj-lt"/>
                          <a:hlinkClick r:id="rId7"/>
                        </a:rPr>
                        <a:t>border-top-color</a:t>
                      </a:r>
                      <a:r>
                        <a:rPr lang="es-ES" sz="1200">
                          <a:effectLst/>
                          <a:latin typeface="+mj-lt"/>
                        </a:rPr>
                        <a:t>&gt; ]</a:t>
                      </a: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636832903"/>
                  </a:ext>
                </a:extLst>
              </a:tr>
              <a:tr h="471982"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latin typeface="+mj-lt"/>
                        </a:rPr>
                        <a:t>border</a:t>
                      </a:r>
                      <a:endParaRPr lang="es-ES" sz="1200" b="1" dirty="0"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+mj-lt"/>
                        </a:rPr>
                        <a:t>Ancho, el estilo y el color para los 4 bordes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200" dirty="0" err="1">
                          <a:effectLst/>
                          <a:latin typeface="+mj-lt"/>
                          <a:hlinkClick r:id="rId5"/>
                        </a:rPr>
                        <a:t>border</a:t>
                      </a:r>
                      <a:r>
                        <a:rPr lang="es-ES" sz="1200" dirty="0">
                          <a:effectLst/>
                          <a:latin typeface="+mj-lt"/>
                          <a:hlinkClick r:id="rId5"/>
                        </a:rPr>
                        <a:t>-top-</a:t>
                      </a:r>
                      <a:r>
                        <a:rPr lang="es-ES" sz="1200" dirty="0" err="1">
                          <a:effectLst/>
                          <a:latin typeface="+mj-lt"/>
                          <a:hlinkClick r:id="rId5"/>
                        </a:rPr>
                        <a:t>width</a:t>
                      </a:r>
                      <a:r>
                        <a:rPr lang="es-ES" sz="1200" dirty="0">
                          <a:effectLst/>
                          <a:latin typeface="+mj-lt"/>
                        </a:rPr>
                        <a:t>&gt; || &lt;</a:t>
                      </a:r>
                      <a:r>
                        <a:rPr lang="es-ES" sz="1200" dirty="0" err="1">
                          <a:effectLst/>
                          <a:latin typeface="+mj-lt"/>
                          <a:hlinkClick r:id="rId6"/>
                        </a:rPr>
                        <a:t>border</a:t>
                      </a:r>
                      <a:r>
                        <a:rPr lang="es-ES" sz="1200" dirty="0">
                          <a:effectLst/>
                          <a:latin typeface="+mj-lt"/>
                          <a:hlinkClick r:id="rId6"/>
                        </a:rPr>
                        <a:t>-top-</a:t>
                      </a:r>
                      <a:r>
                        <a:rPr lang="es-ES" sz="1200" dirty="0" err="1">
                          <a:effectLst/>
                          <a:latin typeface="+mj-lt"/>
                          <a:hlinkClick r:id="rId6"/>
                        </a:rPr>
                        <a:t>style</a:t>
                      </a:r>
                      <a:r>
                        <a:rPr lang="es-ES" sz="1200" dirty="0">
                          <a:effectLst/>
                          <a:latin typeface="+mj-lt"/>
                        </a:rPr>
                        <a:t>&gt; || &lt;</a:t>
                      </a:r>
                      <a:r>
                        <a:rPr lang="es-ES" sz="1200" dirty="0" err="1">
                          <a:effectLst/>
                          <a:latin typeface="+mj-lt"/>
                          <a:hlinkClick r:id="rId7"/>
                        </a:rPr>
                        <a:t>border</a:t>
                      </a:r>
                      <a:r>
                        <a:rPr lang="es-ES" sz="1200" dirty="0">
                          <a:effectLst/>
                          <a:latin typeface="+mj-lt"/>
                          <a:hlinkClick r:id="rId7"/>
                        </a:rPr>
                        <a:t>-top-color</a:t>
                      </a:r>
                      <a:r>
                        <a:rPr lang="es-ES" sz="1200" dirty="0">
                          <a:effectLst/>
                          <a:latin typeface="+mj-lt"/>
                        </a:rPr>
                        <a:t>&gt; ]</a:t>
                      </a: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2779666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51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 redondeados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1442" y="1628800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b="1" dirty="0" smtClean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 smtClean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dirty="0">
              <a:latin typeface="+mj-lt"/>
              <a:hlinkClick r:id="rId2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11</a:t>
            </a:fld>
            <a:endParaRPr lang="es-ES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516213"/>
              </p:ext>
            </p:extLst>
          </p:nvPr>
        </p:nvGraphicFramePr>
        <p:xfrm>
          <a:off x="553409" y="2132856"/>
          <a:ext cx="8133391" cy="306767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36276">
                  <a:extLst>
                    <a:ext uri="{9D8B030D-6E8A-4147-A177-3AD203B41FA5}">
                      <a16:colId xmlns:a16="http://schemas.microsoft.com/office/drawing/2014/main" val="1835403082"/>
                    </a:ext>
                  </a:extLst>
                </a:gridCol>
                <a:gridCol w="2700071">
                  <a:extLst>
                    <a:ext uri="{9D8B030D-6E8A-4147-A177-3AD203B41FA5}">
                      <a16:colId xmlns:a16="http://schemas.microsoft.com/office/drawing/2014/main" val="3810633816"/>
                    </a:ext>
                  </a:extLst>
                </a:gridCol>
                <a:gridCol w="3397044">
                  <a:extLst>
                    <a:ext uri="{9D8B030D-6E8A-4147-A177-3AD203B41FA5}">
                      <a16:colId xmlns:a16="http://schemas.microsoft.com/office/drawing/2014/main" val="1348620202"/>
                    </a:ext>
                  </a:extLst>
                </a:gridCol>
              </a:tblGrid>
              <a:tr h="86062"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  <a:latin typeface="+mj-lt"/>
                        </a:rPr>
                        <a:t>Propiedad</a:t>
                      </a:r>
                      <a:endParaRPr lang="es-ES" sz="12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  <a:latin typeface="+mj-lt"/>
                        </a:rPr>
                        <a:t>Descripción</a:t>
                      </a:r>
                      <a:endParaRPr lang="es-ES" sz="12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  <a:latin typeface="+mj-lt"/>
                        </a:rPr>
                        <a:t>Valores</a:t>
                      </a:r>
                      <a:endParaRPr lang="es-ES" sz="12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312591701"/>
                  </a:ext>
                </a:extLst>
              </a:tr>
              <a:tr h="613577">
                <a:tc>
                  <a:txBody>
                    <a:bodyPr/>
                    <a:lstStyle/>
                    <a:p>
                      <a:r>
                        <a:rPr lang="es-ES" sz="1200" b="1" dirty="0" err="1" smtClean="0">
                          <a:latin typeface="+mj-lt"/>
                        </a:rPr>
                        <a:t>border</a:t>
                      </a:r>
                      <a:r>
                        <a:rPr lang="es-ES" sz="1200" b="1" dirty="0" smtClean="0">
                          <a:latin typeface="+mj-lt"/>
                        </a:rPr>
                        <a:t>-top-</a:t>
                      </a:r>
                      <a:r>
                        <a:rPr lang="es-ES" sz="1200" b="1" dirty="0" err="1" smtClean="0">
                          <a:latin typeface="+mj-lt"/>
                        </a:rPr>
                        <a:t>right</a:t>
                      </a:r>
                      <a:r>
                        <a:rPr lang="es-ES" sz="1200" b="1" dirty="0" smtClean="0">
                          <a:latin typeface="+mj-lt"/>
                        </a:rPr>
                        <a:t>-</a:t>
                      </a:r>
                      <a:r>
                        <a:rPr lang="es-ES" sz="1200" b="1" dirty="0" err="1" smtClean="0">
                          <a:latin typeface="+mj-lt"/>
                        </a:rPr>
                        <a:t>radius</a:t>
                      </a:r>
                      <a:endParaRPr lang="es-ES" sz="1200" b="1" dirty="0" smtClean="0">
                        <a:latin typeface="+mj-lt"/>
                      </a:endParaRPr>
                    </a:p>
                    <a:p>
                      <a:r>
                        <a:rPr lang="es-ES" sz="1200" b="1" dirty="0" err="1" smtClean="0">
                          <a:latin typeface="+mj-lt"/>
                        </a:rPr>
                        <a:t>border</a:t>
                      </a:r>
                      <a:r>
                        <a:rPr lang="es-ES" sz="1200" b="1" dirty="0" smtClean="0">
                          <a:latin typeface="+mj-lt"/>
                        </a:rPr>
                        <a:t>-top-</a:t>
                      </a:r>
                      <a:r>
                        <a:rPr lang="es-ES" sz="1200" b="1" dirty="0" err="1" smtClean="0">
                          <a:latin typeface="+mj-lt"/>
                        </a:rPr>
                        <a:t>left</a:t>
                      </a:r>
                      <a:r>
                        <a:rPr lang="es-ES" sz="1200" b="1" dirty="0" smtClean="0">
                          <a:latin typeface="+mj-lt"/>
                        </a:rPr>
                        <a:t>-</a:t>
                      </a:r>
                      <a:r>
                        <a:rPr lang="es-ES" sz="1200" b="1" dirty="0" err="1" smtClean="0">
                          <a:latin typeface="+mj-lt"/>
                        </a:rPr>
                        <a:t>radius</a:t>
                      </a:r>
                      <a:endParaRPr lang="es-ES" sz="1200" b="1" dirty="0" smtClean="0">
                        <a:latin typeface="+mj-lt"/>
                      </a:endParaRPr>
                    </a:p>
                    <a:p>
                      <a:r>
                        <a:rPr lang="es-ES" sz="1200" b="1" dirty="0" err="1" smtClean="0">
                          <a:latin typeface="+mj-lt"/>
                        </a:rPr>
                        <a:t>border-bottom-right-radius</a:t>
                      </a:r>
                      <a:endParaRPr lang="es-ES" sz="1200" b="1" dirty="0" smtClean="0">
                        <a:latin typeface="+mj-lt"/>
                      </a:endParaRPr>
                    </a:p>
                    <a:p>
                      <a:r>
                        <a:rPr lang="es-ES" sz="1200" b="1" dirty="0" err="1" smtClean="0">
                          <a:latin typeface="+mj-lt"/>
                        </a:rPr>
                        <a:t>border-bottom-left-radius</a:t>
                      </a:r>
                      <a:endParaRPr lang="es-ES" sz="1200" b="1" dirty="0"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 dirty="0" smtClean="0">
                          <a:latin typeface="+mj-lt"/>
                        </a:rPr>
                        <a:t>Radio(s)</a:t>
                      </a:r>
                      <a:r>
                        <a:rPr lang="es-ES" sz="1200" baseline="0" dirty="0" smtClean="0">
                          <a:latin typeface="+mj-lt"/>
                        </a:rPr>
                        <a:t> de curvatura de las esquinas de los bordes</a:t>
                      </a:r>
                      <a:endParaRPr lang="es-ES" sz="1200" dirty="0"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 dirty="0" smtClean="0">
                          <a:effectLst/>
                          <a:latin typeface="+mj-lt"/>
                        </a:rPr>
                        <a:t>[ &lt;longitud&gt; | &lt;%&gt; ] [ &lt;longitud&gt; | &lt;%&gt; ]?</a:t>
                      </a:r>
                      <a:endParaRPr lang="es-ES" sz="1200" dirty="0">
                        <a:effectLst/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4168566053"/>
                  </a:ext>
                </a:extLst>
              </a:tr>
              <a:tr h="430898">
                <a:tc>
                  <a:txBody>
                    <a:bodyPr/>
                    <a:lstStyle/>
                    <a:p>
                      <a:r>
                        <a:rPr lang="es-ES" sz="1200" b="1" dirty="0" err="1" smtClean="0">
                          <a:latin typeface="+mj-lt"/>
                        </a:rPr>
                        <a:t>border-radius</a:t>
                      </a:r>
                      <a:endParaRPr lang="es-ES" sz="1200" b="1" dirty="0"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 dirty="0" smtClean="0">
                          <a:latin typeface="+mj-lt"/>
                        </a:rPr>
                        <a:t>Radio(s) de curvatura de las esquinas de </a:t>
                      </a:r>
                      <a:r>
                        <a:rPr lang="es-ES" sz="1200" dirty="0">
                          <a:latin typeface="+mj-lt"/>
                        </a:rPr>
                        <a:t>varios bordes individuales</a:t>
                      </a:r>
                    </a:p>
                  </a:txBody>
                  <a:tcPr marL="47198" marR="47198" marT="23599" marB="23599" anchor="ctr"/>
                </a:tc>
                <a:tc>
                  <a:txBody>
                    <a:bodyPr/>
                    <a:lstStyle/>
                    <a:p>
                      <a:r>
                        <a:rPr lang="es-ES" sz="1200" dirty="0" smtClean="0">
                          <a:effectLst/>
                          <a:latin typeface="+mj-lt"/>
                        </a:rPr>
                        <a:t>[ &lt;</a:t>
                      </a:r>
                      <a:r>
                        <a:rPr lang="es-ES" sz="1200" dirty="0" err="1" smtClean="0">
                          <a:effectLst/>
                          <a:latin typeface="+mj-lt"/>
                        </a:rPr>
                        <a:t>length</a:t>
                      </a:r>
                      <a:r>
                        <a:rPr lang="es-ES" sz="1200" dirty="0" smtClean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200" dirty="0" err="1" smtClean="0">
                          <a:effectLst/>
                          <a:latin typeface="+mj-lt"/>
                        </a:rPr>
                        <a:t>percentage</a:t>
                      </a:r>
                      <a:r>
                        <a:rPr lang="es-ES" sz="1200" dirty="0" smtClean="0">
                          <a:effectLst/>
                          <a:latin typeface="+mj-lt"/>
                        </a:rPr>
                        <a:t>&gt; ]{1,4} [ / [ &lt;</a:t>
                      </a:r>
                      <a:r>
                        <a:rPr lang="es-ES" sz="1200" dirty="0" err="1" smtClean="0">
                          <a:effectLst/>
                          <a:latin typeface="+mj-lt"/>
                        </a:rPr>
                        <a:t>length</a:t>
                      </a:r>
                      <a:r>
                        <a:rPr lang="es-ES" sz="1200" dirty="0" smtClean="0">
                          <a:effectLst/>
                          <a:latin typeface="+mj-lt"/>
                        </a:rPr>
                        <a:t>&gt; | &lt;</a:t>
                      </a:r>
                      <a:r>
                        <a:rPr lang="es-ES" sz="1200" dirty="0" err="1" smtClean="0">
                          <a:effectLst/>
                          <a:latin typeface="+mj-lt"/>
                        </a:rPr>
                        <a:t>percentage</a:t>
                      </a:r>
                      <a:r>
                        <a:rPr lang="es-ES" sz="1200" dirty="0" smtClean="0">
                          <a:effectLst/>
                          <a:latin typeface="+mj-lt"/>
                        </a:rPr>
                        <a:t>&gt; ]{1,4} ]?</a:t>
                      </a:r>
                    </a:p>
                    <a:p>
                      <a:endParaRPr lang="es-ES" sz="1200" dirty="0" smtClean="0">
                        <a:effectLst/>
                        <a:latin typeface="+mj-lt"/>
                      </a:endParaRPr>
                    </a:p>
                    <a:p>
                      <a:r>
                        <a:rPr lang="es-ES" sz="1200" b="1" dirty="0" smtClean="0">
                          <a:effectLst/>
                          <a:latin typeface="+mj-lt"/>
                        </a:rPr>
                        <a:t>Un valor</a:t>
                      </a:r>
                      <a:r>
                        <a:rPr lang="es-ES" sz="1200" dirty="0" smtClean="0">
                          <a:effectLst/>
                          <a:latin typeface="+mj-lt"/>
                        </a:rPr>
                        <a:t>: todos igual</a:t>
                      </a:r>
                    </a:p>
                    <a:p>
                      <a:r>
                        <a:rPr lang="es-ES" sz="1200" b="1" dirty="0" smtClean="0">
                          <a:effectLst/>
                          <a:latin typeface="+mj-lt"/>
                        </a:rPr>
                        <a:t>Dos valores</a:t>
                      </a:r>
                      <a:r>
                        <a:rPr lang="es-ES" sz="1200" dirty="0" smtClean="0">
                          <a:effectLst/>
                          <a:latin typeface="+mj-lt"/>
                        </a:rPr>
                        <a:t>: arriba-izquierda  y abajo-derecha | arriba-derecha y</a:t>
                      </a:r>
                      <a:r>
                        <a:rPr lang="es-ES" sz="1200" baseline="0" dirty="0" smtClean="0">
                          <a:effectLst/>
                          <a:latin typeface="+mj-lt"/>
                        </a:rPr>
                        <a:t> abajo-</a:t>
                      </a:r>
                      <a:r>
                        <a:rPr lang="es-ES" sz="1200" dirty="0" smtClean="0">
                          <a:effectLst/>
                          <a:latin typeface="+mj-lt"/>
                        </a:rPr>
                        <a:t>izquierda</a:t>
                      </a:r>
                    </a:p>
                    <a:p>
                      <a:r>
                        <a:rPr lang="es-ES" sz="1200" b="1" dirty="0" smtClean="0">
                          <a:effectLst/>
                          <a:latin typeface="+mj-lt"/>
                        </a:rPr>
                        <a:t>Tres valores</a:t>
                      </a:r>
                      <a:r>
                        <a:rPr lang="es-ES" sz="1200" dirty="0" smtClean="0">
                          <a:effectLst/>
                          <a:latin typeface="+mj-lt"/>
                        </a:rPr>
                        <a:t>: arriba-izquierda | arriba-derecha  y abajo-izquierda | abajo-derecha</a:t>
                      </a:r>
                    </a:p>
                    <a:p>
                      <a:r>
                        <a:rPr lang="es-ES" sz="1200" b="1" dirty="0" smtClean="0">
                          <a:effectLst/>
                          <a:latin typeface="+mj-lt"/>
                        </a:rPr>
                        <a:t>Cuatro valores</a:t>
                      </a:r>
                      <a:r>
                        <a:rPr lang="es-ES" sz="1200" dirty="0" smtClean="0">
                          <a:effectLst/>
                          <a:latin typeface="+mj-lt"/>
                        </a:rPr>
                        <a:t>: arriba-izquierda | arriba-derecha | abajo-derecha | abajo-izquierda.</a:t>
                      </a:r>
                    </a:p>
                    <a:p>
                      <a:endParaRPr lang="es-ES" sz="1200" dirty="0">
                        <a:effectLst/>
                        <a:latin typeface="+mj-lt"/>
                      </a:endParaRPr>
                    </a:p>
                  </a:txBody>
                  <a:tcPr marL="47198" marR="47198" marT="23599" marB="23599" anchor="ctr"/>
                </a:tc>
                <a:extLst>
                  <a:ext uri="{0D108BD9-81ED-4DB2-BD59-A6C34878D82A}">
                    <a16:rowId xmlns:a16="http://schemas.microsoft.com/office/drawing/2014/main" val="1689460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90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Outline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1442" y="1628800"/>
            <a:ext cx="7920880" cy="4968552"/>
          </a:xfrm>
        </p:spPr>
        <p:txBody>
          <a:bodyPr>
            <a:noAutofit/>
          </a:bodyPr>
          <a:lstStyle/>
          <a:p>
            <a:pPr marL="28575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dirty="0">
                <a:latin typeface="+mj-lt"/>
              </a:rPr>
              <a:t>La </a:t>
            </a:r>
            <a:r>
              <a:rPr lang="es-ES" sz="1600" dirty="0" smtClean="0">
                <a:latin typeface="+mj-lt"/>
              </a:rPr>
              <a:t>propiedad </a:t>
            </a:r>
            <a:r>
              <a:rPr lang="es-ES" sz="1600" b="1" dirty="0" err="1">
                <a:latin typeface="+mj-lt"/>
              </a:rPr>
              <a:t>outline</a:t>
            </a:r>
            <a:r>
              <a:rPr lang="es-ES" sz="1600" dirty="0">
                <a:latin typeface="+mj-lt"/>
              </a:rPr>
              <a:t> </a:t>
            </a:r>
            <a:r>
              <a:rPr lang="es-ES" sz="1600" dirty="0" smtClean="0">
                <a:latin typeface="+mj-lt"/>
              </a:rPr>
              <a:t>permite añadir un segundo borde a un determinado desplazamiento del primeros. El desplazamiento se define con la propiedad </a:t>
            </a:r>
            <a:r>
              <a:rPr lang="es-ES" sz="1600" b="1" dirty="0" err="1" smtClean="0">
                <a:latin typeface="+mj-lt"/>
              </a:rPr>
              <a:t>outline</a:t>
            </a:r>
            <a:r>
              <a:rPr lang="es-ES" sz="1600" b="1" dirty="0" smtClean="0">
                <a:latin typeface="+mj-lt"/>
              </a:rPr>
              <a:t>-offset</a:t>
            </a:r>
            <a:endParaRPr lang="es-ES" sz="1600" b="1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b="1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6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b="1" dirty="0" smtClean="0">
                <a:latin typeface="+mj-lt"/>
              </a:rPr>
              <a:t> </a:t>
            </a:r>
            <a:endParaRPr lang="es-ES" sz="1600" b="1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b="1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600" dirty="0">
              <a:latin typeface="+mj-lt"/>
              <a:hlinkClick r:id="rId2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600" b="1" dirty="0" smtClean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44960" y="2419536"/>
            <a:ext cx="3676922" cy="2246769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contenedor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display: block; 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width: 500px; 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margin: 50px auto; 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padding: 15px;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border: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lpx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solid #999999; 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background: #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FFFFFF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outline: 2px dashed #000000;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outline-offset: l5px;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44" y="4945608"/>
            <a:ext cx="7283676" cy="1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8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 con imágenes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592225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  <a:hlinkClick r:id="rId2"/>
              </a:rPr>
              <a:t>https://</a:t>
            </a:r>
            <a:r>
              <a:rPr lang="es-ES" sz="2000" dirty="0" smtClean="0">
                <a:latin typeface="+mj-lt"/>
                <a:hlinkClick r:id="rId2"/>
              </a:rPr>
              <a:t>www.w3schools.com/css/css3_border_images.asp</a:t>
            </a: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800" dirty="0" smtClean="0">
                <a:latin typeface="+mj-lt"/>
              </a:rPr>
              <a:t>Se puede poner </a:t>
            </a:r>
            <a:r>
              <a:rPr lang="es-ES" sz="1800" dirty="0">
                <a:latin typeface="+mj-lt"/>
              </a:rPr>
              <a:t>una imagen como borde de un </a:t>
            </a:r>
            <a:r>
              <a:rPr lang="es-ES" sz="1800" dirty="0" smtClean="0">
                <a:latin typeface="+mj-lt"/>
              </a:rPr>
              <a:t>elemento</a:t>
            </a:r>
            <a:r>
              <a:rPr lang="es-ES" sz="1800" dirty="0">
                <a:latin typeface="+mj-lt"/>
              </a:rPr>
              <a:t>:</a:t>
            </a:r>
          </a:p>
          <a:p>
            <a:pPr marL="45085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b="1" dirty="0" err="1" smtClean="0">
                <a:latin typeface="+mj-lt"/>
              </a:rPr>
              <a:t>border-image-source</a:t>
            </a:r>
            <a:r>
              <a:rPr lang="es-ES" sz="1600" b="1" dirty="0">
                <a:latin typeface="+mj-lt"/>
              </a:rPr>
              <a:t>: </a:t>
            </a:r>
            <a:r>
              <a:rPr lang="es-ES" sz="1600" b="1" dirty="0" err="1">
                <a:latin typeface="+mj-lt"/>
              </a:rPr>
              <a:t>url</a:t>
            </a:r>
            <a:r>
              <a:rPr lang="es-ES" sz="1600" b="1" dirty="0">
                <a:latin typeface="+mj-lt"/>
              </a:rPr>
              <a:t>(imagen.gif)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smtClean="0">
                <a:latin typeface="+mj-lt"/>
              </a:rPr>
              <a:t>para indicar la ruta de la imagen.</a:t>
            </a:r>
            <a:endParaRPr lang="es-ES" sz="1600" dirty="0">
              <a:latin typeface="+mj-lt"/>
            </a:endParaRPr>
          </a:p>
          <a:p>
            <a:pPr marL="45085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b="1" dirty="0" err="1" smtClean="0">
                <a:latin typeface="+mj-lt"/>
              </a:rPr>
              <a:t>border-image-slice</a:t>
            </a:r>
            <a:r>
              <a:rPr lang="es-ES" sz="1600" b="1" dirty="0">
                <a:latin typeface="+mj-lt"/>
              </a:rPr>
              <a:t>: [&lt;número&gt; | &lt;porcentaje&gt;] {1,4} &amp;&amp; </a:t>
            </a:r>
            <a:r>
              <a:rPr lang="es-ES" sz="1600" b="1" dirty="0" err="1">
                <a:latin typeface="+mj-lt"/>
              </a:rPr>
              <a:t>fill</a:t>
            </a:r>
            <a:r>
              <a:rPr lang="es-ES" sz="1600" b="1" dirty="0">
                <a:latin typeface="+mj-lt"/>
              </a:rPr>
              <a:t>?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smtClean="0">
                <a:latin typeface="+mj-lt"/>
              </a:rPr>
              <a:t>divide </a:t>
            </a:r>
            <a:r>
              <a:rPr lang="es-ES" sz="1600" dirty="0">
                <a:latin typeface="+mj-lt"/>
              </a:rPr>
              <a:t>la imagen en varias áreas, las cuales se corresponden con las distintas zonas del borde.</a:t>
            </a:r>
          </a:p>
          <a:p>
            <a:pPr marL="45085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b="1" dirty="0" err="1" smtClean="0">
                <a:latin typeface="+mj-lt"/>
              </a:rPr>
              <a:t>border-image-outset</a:t>
            </a:r>
            <a:r>
              <a:rPr lang="es-ES" sz="1600" b="1" dirty="0">
                <a:latin typeface="+mj-lt"/>
              </a:rPr>
              <a:t>: [&lt;medida&gt; | &lt;número&gt;] {1,4}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smtClean="0">
                <a:latin typeface="+mj-lt"/>
              </a:rPr>
              <a:t>indica </a:t>
            </a:r>
            <a:r>
              <a:rPr lang="es-ES" sz="1600" dirty="0">
                <a:latin typeface="+mj-lt"/>
              </a:rPr>
              <a:t>el área de la imagen que puede extenderse más allá de la caja que lo contiene</a:t>
            </a:r>
            <a:r>
              <a:rPr lang="es-ES" sz="1600" dirty="0" smtClean="0">
                <a:latin typeface="+mj-lt"/>
              </a:rPr>
              <a:t>.</a:t>
            </a:r>
          </a:p>
          <a:p>
            <a:pPr marL="45085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b="1" dirty="0" err="1">
                <a:latin typeface="+mj-lt"/>
              </a:rPr>
              <a:t>border-image-width</a:t>
            </a:r>
            <a:r>
              <a:rPr lang="es-ES" sz="1600" b="1" dirty="0">
                <a:latin typeface="+mj-lt"/>
              </a:rPr>
              <a:t>: [&lt;medida&gt; | &lt;porcentaje&gt; | &lt;número&gt; | auto] {1,4i}:</a:t>
            </a:r>
            <a:r>
              <a:rPr lang="es-ES" sz="1600" dirty="0">
                <a:latin typeface="+mj-lt"/>
              </a:rPr>
              <a:t> indica el área donde se coloca la imagen, que por defecto se corresponde con el área del borde.</a:t>
            </a:r>
          </a:p>
          <a:p>
            <a:pPr marL="45085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b="1" dirty="0" err="1">
                <a:latin typeface="+mj-lt"/>
              </a:rPr>
              <a:t>border-image-repeat</a:t>
            </a:r>
            <a:r>
              <a:rPr lang="es-ES" sz="1600" b="1" dirty="0">
                <a:latin typeface="+mj-lt"/>
              </a:rPr>
              <a:t>: [ </a:t>
            </a:r>
            <a:r>
              <a:rPr lang="es-ES" sz="1600" b="1" dirty="0" err="1">
                <a:latin typeface="+mj-lt"/>
              </a:rPr>
              <a:t>stretch</a:t>
            </a:r>
            <a:r>
              <a:rPr lang="es-ES" sz="1600" b="1" dirty="0">
                <a:latin typeface="+mj-lt"/>
              </a:rPr>
              <a:t> | </a:t>
            </a:r>
            <a:r>
              <a:rPr lang="es-ES" sz="1600" b="1" dirty="0" err="1">
                <a:latin typeface="+mj-lt"/>
              </a:rPr>
              <a:t>repeat</a:t>
            </a:r>
            <a:r>
              <a:rPr lang="es-ES" sz="1600" b="1" dirty="0">
                <a:latin typeface="+mj-lt"/>
              </a:rPr>
              <a:t> | round | </a:t>
            </a:r>
            <a:r>
              <a:rPr lang="es-ES" sz="1600" b="1" dirty="0" err="1">
                <a:latin typeface="+mj-lt"/>
              </a:rPr>
              <a:t>space</a:t>
            </a:r>
            <a:r>
              <a:rPr lang="es-ES" sz="1600" b="1" dirty="0">
                <a:latin typeface="+mj-lt"/>
              </a:rPr>
              <a:t> ]{1,2}</a:t>
            </a:r>
            <a:r>
              <a:rPr lang="es-ES" sz="1600" dirty="0">
                <a:latin typeface="+mj-lt"/>
              </a:rPr>
              <a:t>: indica si la imagen se va a repetir o no (Si ponemos dos valores el primero corresponde a los bordes horizontales, y el segundo a los verticales):</a:t>
            </a:r>
            <a:endParaRPr lang="es-ES" sz="1600" dirty="0" smtClean="0">
              <a:latin typeface="+mj-lt"/>
            </a:endParaRPr>
          </a:p>
          <a:p>
            <a:pPr marL="725170" lvl="3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Courier New" panose="02070309020205020404" pitchFamily="49" charset="0"/>
              <a:buChar char="o"/>
            </a:pPr>
            <a:r>
              <a:rPr lang="es-ES" sz="1500" b="1" dirty="0" err="1" smtClean="0">
                <a:latin typeface="+mj-lt"/>
              </a:rPr>
              <a:t>stretch</a:t>
            </a:r>
            <a:r>
              <a:rPr lang="es-ES" sz="1500" dirty="0" smtClean="0">
                <a:latin typeface="+mj-lt"/>
              </a:rPr>
              <a:t>: la imagen no se repite, se estirará para adaptarse</a:t>
            </a:r>
          </a:p>
          <a:p>
            <a:pPr marL="725170" lvl="3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Courier New" panose="02070309020205020404" pitchFamily="49" charset="0"/>
              <a:buChar char="o"/>
            </a:pPr>
            <a:r>
              <a:rPr lang="es-ES" sz="1500" b="1" dirty="0" err="1" smtClean="0">
                <a:latin typeface="+mj-lt"/>
              </a:rPr>
              <a:t>repeat</a:t>
            </a:r>
            <a:r>
              <a:rPr lang="es-ES" sz="1500" dirty="0" smtClean="0">
                <a:latin typeface="+mj-lt"/>
              </a:rPr>
              <a:t> </a:t>
            </a:r>
            <a:r>
              <a:rPr lang="es-ES" sz="1500" dirty="0">
                <a:latin typeface="+mj-lt"/>
              </a:rPr>
              <a:t>la imagen simplemente se repite, </a:t>
            </a:r>
            <a:endParaRPr lang="es-ES" sz="1500" dirty="0" smtClean="0">
              <a:latin typeface="+mj-lt"/>
            </a:endParaRPr>
          </a:p>
          <a:p>
            <a:pPr marL="725170" lvl="3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Courier New" panose="02070309020205020404" pitchFamily="49" charset="0"/>
              <a:buChar char="o"/>
            </a:pPr>
            <a:r>
              <a:rPr lang="es-ES" sz="1500" b="1" dirty="0" smtClean="0">
                <a:latin typeface="+mj-lt"/>
              </a:rPr>
              <a:t>round</a:t>
            </a:r>
            <a:r>
              <a:rPr lang="es-ES" sz="1500" dirty="0" smtClean="0">
                <a:latin typeface="+mj-lt"/>
              </a:rPr>
              <a:t> la imagen se repite pero </a:t>
            </a:r>
            <a:r>
              <a:rPr lang="es-ES" sz="1500" dirty="0">
                <a:latin typeface="+mj-lt"/>
              </a:rPr>
              <a:t>un número entero de repeticiones (sin imágenes a medias), para ello ajusta el tamaño de la imagen</a:t>
            </a:r>
            <a:r>
              <a:rPr lang="es-ES" sz="1500" dirty="0" smtClean="0">
                <a:latin typeface="+mj-lt"/>
              </a:rPr>
              <a:t>.</a:t>
            </a:r>
          </a:p>
          <a:p>
            <a:pPr marL="725170" lvl="3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Courier New" panose="02070309020205020404" pitchFamily="49" charset="0"/>
              <a:buChar char="o"/>
            </a:pPr>
            <a:r>
              <a:rPr lang="es-ES" sz="1500" b="1" dirty="0" err="1" smtClean="0">
                <a:latin typeface="+mj-lt"/>
              </a:rPr>
              <a:t>space</a:t>
            </a:r>
            <a:r>
              <a:rPr lang="es-ES" sz="1500" dirty="0" smtClean="0">
                <a:latin typeface="+mj-lt"/>
              </a:rPr>
              <a:t> igual que round pero en vez de ajustar la imagen deja espacios en blanco alrededor para adaptarse.</a:t>
            </a:r>
            <a:endParaRPr lang="es-ES" sz="1500" dirty="0">
              <a:latin typeface="+mj-lt"/>
            </a:endParaRPr>
          </a:p>
          <a:p>
            <a:pPr marL="450850" lvl="2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8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964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 con imágenes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752923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 smtClean="0">
                <a:latin typeface="+mj-lt"/>
              </a:rPr>
              <a:t>Todas </a:t>
            </a:r>
            <a:r>
              <a:rPr lang="es-ES" sz="2000" dirty="0">
                <a:latin typeface="+mj-lt"/>
              </a:rPr>
              <a:t>las propiedades anteriores pueden especificarse en una sola propiedad </a:t>
            </a:r>
            <a:r>
              <a:rPr lang="es-ES" sz="2000" dirty="0" smtClean="0">
                <a:latin typeface="+mj-lt"/>
              </a:rPr>
              <a:t>abreviada:</a:t>
            </a:r>
            <a:endParaRPr lang="es-ES" sz="2000" dirty="0">
              <a:latin typeface="+mj-lt"/>
            </a:endParaRPr>
          </a:p>
          <a:p>
            <a:pPr marL="36195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  <a:tabLst>
                <a:tab pos="7267575" algn="l"/>
              </a:tabLst>
            </a:pPr>
            <a:r>
              <a:rPr lang="es-ES" sz="2000" b="1" dirty="0" err="1">
                <a:latin typeface="+mj-lt"/>
              </a:rPr>
              <a:t>border-image</a:t>
            </a:r>
            <a:r>
              <a:rPr lang="es-ES" sz="2000" b="1" dirty="0">
                <a:latin typeface="+mj-lt"/>
              </a:rPr>
              <a:t>: &lt;</a:t>
            </a:r>
            <a:r>
              <a:rPr lang="es-ES" sz="2000" b="1" dirty="0" err="1">
                <a:latin typeface="+mj-lt"/>
              </a:rPr>
              <a:t>border-image-source</a:t>
            </a:r>
            <a:r>
              <a:rPr lang="es-ES" sz="2000" b="1" dirty="0">
                <a:latin typeface="+mj-lt"/>
              </a:rPr>
              <a:t>&gt; || &lt;</a:t>
            </a:r>
            <a:r>
              <a:rPr lang="es-ES" sz="2000" b="1" dirty="0" err="1">
                <a:latin typeface="+mj-lt"/>
              </a:rPr>
              <a:t>border-image-slice</a:t>
            </a:r>
            <a:r>
              <a:rPr lang="es-ES" sz="2000" b="1" dirty="0">
                <a:latin typeface="+mj-lt"/>
              </a:rPr>
              <a:t>&gt; [ / &lt;</a:t>
            </a:r>
            <a:r>
              <a:rPr lang="es-ES" sz="2000" b="1" dirty="0" err="1">
                <a:latin typeface="+mj-lt"/>
              </a:rPr>
              <a:t>border-image-width</a:t>
            </a:r>
            <a:r>
              <a:rPr lang="es-ES" sz="2000" b="1" dirty="0">
                <a:latin typeface="+mj-lt"/>
              </a:rPr>
              <a:t>&gt;? [ / &lt;</a:t>
            </a:r>
            <a:r>
              <a:rPr lang="es-ES" sz="2000" b="1" dirty="0" err="1">
                <a:latin typeface="+mj-lt"/>
              </a:rPr>
              <a:t>border-image-outset</a:t>
            </a:r>
            <a:r>
              <a:rPr lang="es-ES" sz="2000" b="1" dirty="0">
                <a:latin typeface="+mj-lt"/>
              </a:rPr>
              <a:t>&gt; ]? ]? || &lt;</a:t>
            </a:r>
            <a:r>
              <a:rPr lang="es-ES" sz="2000" b="1" dirty="0" err="1">
                <a:latin typeface="+mj-lt"/>
              </a:rPr>
              <a:t>border-image-repeat</a:t>
            </a:r>
            <a:r>
              <a:rPr lang="es-ES" sz="2000" b="1" dirty="0">
                <a:latin typeface="+mj-lt"/>
              </a:rPr>
              <a:t>&gt;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Las propiedades </a:t>
            </a:r>
            <a:r>
              <a:rPr lang="es-ES" sz="2000" dirty="0" err="1">
                <a:latin typeface="+mj-lt"/>
              </a:rPr>
              <a:t>border-image-width</a:t>
            </a:r>
            <a:r>
              <a:rPr lang="es-ES" sz="2000" dirty="0">
                <a:latin typeface="+mj-lt"/>
              </a:rPr>
              <a:t> y </a:t>
            </a:r>
            <a:r>
              <a:rPr lang="es-ES" sz="2000" dirty="0" err="1">
                <a:latin typeface="+mj-lt"/>
              </a:rPr>
              <a:t>border-image-outset</a:t>
            </a:r>
            <a:r>
              <a:rPr lang="es-ES" sz="2000" dirty="0">
                <a:latin typeface="+mj-lt"/>
              </a:rPr>
              <a:t> son opcionales y además se debe escribir una barra inclinada delante de ellas. Las demás son obligatorias</a:t>
            </a:r>
            <a:r>
              <a:rPr lang="es-ES" sz="2000" dirty="0" smtClean="0">
                <a:latin typeface="+mj-lt"/>
              </a:rPr>
              <a:t>.</a:t>
            </a:r>
            <a:endParaRPr lang="es-ES" sz="20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2621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 con imágenes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752923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b="1" dirty="0" err="1" smtClean="0">
                <a:latin typeface="+mj-lt"/>
              </a:rPr>
              <a:t>border-image-slice</a:t>
            </a:r>
            <a:endParaRPr lang="es-ES" sz="2000" b="1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 smtClean="0">
                <a:latin typeface="+mj-lt"/>
              </a:rPr>
              <a:t>Una sola </a:t>
            </a:r>
            <a:r>
              <a:rPr lang="es-ES" sz="1600" dirty="0">
                <a:latin typeface="+mj-lt"/>
              </a:rPr>
              <a:t>imagen es la que nos servirá para ponerla en los cuatro bordes y las cuatro esquinas del borde, para ello la propiedad </a:t>
            </a:r>
            <a:r>
              <a:rPr lang="es-ES" sz="1600" dirty="0" err="1" smtClean="0">
                <a:latin typeface="+mj-lt"/>
              </a:rPr>
              <a:t>border-image-slice</a:t>
            </a:r>
            <a:r>
              <a:rPr lang="es-ES" sz="1600" dirty="0" smtClean="0">
                <a:latin typeface="+mj-lt"/>
              </a:rPr>
              <a:t> nos </a:t>
            </a:r>
            <a:r>
              <a:rPr lang="es-ES" sz="1600" dirty="0">
                <a:latin typeface="+mj-lt"/>
              </a:rPr>
              <a:t>divide la imagen en una serie de diferentes áreas, que se corresponden con los laterales y las esquinas del borde. </a:t>
            </a:r>
            <a:r>
              <a:rPr lang="es-ES" sz="1600" dirty="0" smtClean="0">
                <a:latin typeface="+mj-lt"/>
              </a:rPr>
              <a:t>La propiedad </a:t>
            </a:r>
            <a:r>
              <a:rPr lang="es-ES" sz="1600" dirty="0" err="1">
                <a:latin typeface="+mj-lt"/>
              </a:rPr>
              <a:t>border-image-slice</a:t>
            </a:r>
            <a:r>
              <a:rPr lang="es-ES" sz="1600" dirty="0">
                <a:latin typeface="+mj-lt"/>
              </a:rPr>
              <a:t> </a:t>
            </a:r>
            <a:r>
              <a:rPr lang="es-ES" sz="1600" dirty="0" smtClean="0">
                <a:latin typeface="+mj-lt"/>
              </a:rPr>
              <a:t>crea </a:t>
            </a:r>
            <a:r>
              <a:rPr lang="es-ES" sz="1600" dirty="0">
                <a:latin typeface="+mj-lt"/>
              </a:rPr>
              <a:t>cuatro líneas de partición que se corresponden con los cuatro valores como máximo que podemos darle a esta propiedad y que se distribuyen como en el siguiente esquema: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15</a:t>
            </a:fld>
            <a:endParaRPr lang="es-ES" dirty="0"/>
          </a:p>
        </p:txBody>
      </p:sp>
      <p:pic>
        <p:nvPicPr>
          <p:cNvPr id="6" name="Imagen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82"/>
          <a:stretch/>
        </p:blipFill>
        <p:spPr bwMode="auto">
          <a:xfrm>
            <a:off x="2771800" y="3639772"/>
            <a:ext cx="3665220" cy="31172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3296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 con imágenes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752923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b="1" dirty="0" err="1">
                <a:latin typeface="+mj-lt"/>
              </a:rPr>
              <a:t>border-image-slice</a:t>
            </a:r>
            <a:endParaRPr lang="es-ES" sz="2000" b="1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 smtClean="0">
                <a:latin typeface="+mj-lt"/>
              </a:rPr>
              <a:t>El </a:t>
            </a:r>
            <a:r>
              <a:rPr lang="es-ES" sz="1600" dirty="0">
                <a:latin typeface="+mj-lt"/>
              </a:rPr>
              <a:t>cuadrado coloreado de azul representa a la imagen. Las líneas 1, 2, 3, y 4 dividen la imagen en nueve partes. Estas líneas vienen marcadas por los valores indicados en </a:t>
            </a:r>
            <a:r>
              <a:rPr lang="es-ES" sz="1600" dirty="0" err="1">
                <a:latin typeface="+mj-lt"/>
              </a:rPr>
              <a:t>border-image-slice</a:t>
            </a:r>
            <a:r>
              <a:rPr lang="es-ES" sz="1600" dirty="0">
                <a:latin typeface="+mj-lt"/>
              </a:rPr>
              <a:t>, miden la distancia desde su respectivo borde a la línea. Línea 1: borde superior; línea 2: borde derecho; línea 3: borde inferior; línea 4: borde izquierdo.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+mj-lt"/>
              </a:rPr>
              <a:t>Si hay cuatro valores estos toman el orden visto anteriormente. Si hay 3 valores el primero es el superior, el segundo los dos laterales, y el tercero el inferior. Si hay dos valores el primero corresponde a las líneas horizontales y el segundo a las verticales. Si hay un sólo valor, es el mismo para todas las líneas.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+mj-lt"/>
              </a:rPr>
              <a:t>La imagen queda dividida en nueve zonas. cuatro esquinas, cuatro laterales, y una zona central. Estas se corresponden con las cuatro esquinas del borde, los cuatro laterales del borde, y el contenedor de la imagen respectivamente. La parte de la imagen que quede en cada una de estas zonas es la que se verá en el sitio que le corresponde.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851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 con imágenes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752923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b="1" dirty="0" smtClean="0">
                <a:latin typeface="+mj-lt"/>
              </a:rPr>
              <a:t>Ejemplo</a:t>
            </a:r>
            <a:endParaRPr lang="es-ES" sz="2000" b="1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800" dirty="0" smtClean="0">
                <a:latin typeface="+mj-lt"/>
              </a:rPr>
              <a:t>Vamos </a:t>
            </a:r>
            <a:r>
              <a:rPr lang="es-ES" sz="1800" dirty="0">
                <a:latin typeface="+mj-lt"/>
              </a:rPr>
              <a:t>a </a:t>
            </a:r>
            <a:r>
              <a:rPr lang="es-ES" sz="1800" dirty="0" smtClean="0">
                <a:latin typeface="+mj-lt"/>
              </a:rPr>
              <a:t>partir de una caja con un borde: </a:t>
            </a:r>
            <a:endParaRPr lang="es-ES" sz="18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8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8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8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8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8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8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8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800" dirty="0" smtClean="0">
                <a:latin typeface="+mj-lt"/>
              </a:rPr>
              <a:t>El borde es </a:t>
            </a:r>
            <a:r>
              <a:rPr lang="es-ES" sz="1800" dirty="0">
                <a:latin typeface="+mj-lt"/>
              </a:rPr>
              <a:t>lo bastante ancho como para que pueda contener las </a:t>
            </a:r>
            <a:r>
              <a:rPr lang="es-ES" sz="1800" dirty="0" smtClean="0">
                <a:latin typeface="+mj-lt"/>
              </a:rPr>
              <a:t>imágenes.</a:t>
            </a:r>
            <a:endParaRPr lang="es-ES" sz="18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051223" y="2574905"/>
            <a:ext cx="6279554" cy="2246769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s-E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capaborde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61950" indent="0" eaLnBrk="1" hangingPunct="1">
              <a:buNone/>
            </a:pPr>
            <a:r>
              <a:rPr lang="es-ES" altLang="es-E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300px; </a:t>
            </a:r>
          </a:p>
          <a:p>
            <a:pPr marL="361950" indent="0" eaLnBrk="1" hangingPunct="1">
              <a:buNone/>
            </a:pPr>
            <a:r>
              <a:rPr lang="es-ES" altLang="es-E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150px; </a:t>
            </a:r>
          </a:p>
          <a:p>
            <a:pPr marL="361950" indent="0" eaLnBrk="1" hangingPunct="1">
              <a:buNone/>
            </a:pPr>
            <a:r>
              <a:rPr lang="es-ES" altLang="es-E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border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30px </a:t>
            </a:r>
            <a:r>
              <a:rPr lang="es-E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blue; </a:t>
            </a:r>
          </a:p>
          <a:p>
            <a:pPr marL="266700" indent="-266700" eaLnBrk="1" hangingPunct="1">
              <a:buNone/>
            </a:pPr>
            <a:r>
              <a:rPr lang="es-E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endParaRPr lang="es-E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id="</a:t>
            </a:r>
            <a:r>
              <a:rPr lang="es-E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capaborde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361950" indent="0" eaLnBrk="1" hangingPunct="1">
              <a:buNone/>
            </a:pPr>
            <a:r>
              <a:rPr lang="es-E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p&gt;Elemento con bordes con imágenes.&lt;/p</a:t>
            </a:r>
            <a:r>
              <a:rPr lang="es-E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61950" indent="0" eaLnBrk="1" hangingPunct="1">
              <a:buNone/>
            </a:pPr>
            <a:r>
              <a:rPr lang="es-E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p&gt;Visible en los principales navegadores.&lt;/p&gt;</a:t>
            </a:r>
          </a:p>
          <a:p>
            <a:pPr marL="266700" indent="-266700" eaLnBrk="1" hangingPunct="1">
              <a:buNone/>
            </a:pPr>
            <a:r>
              <a:rPr lang="es-E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</a:p>
        </p:txBody>
      </p:sp>
    </p:spTree>
    <p:extLst>
      <p:ext uri="{BB962C8B-B14F-4D97-AF65-F5344CB8AC3E}">
        <p14:creationId xmlns:p14="http://schemas.microsoft.com/office/powerpoint/2010/main" val="82602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 con imágenes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752923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b="1" dirty="0" smtClean="0">
                <a:latin typeface="+mj-lt"/>
              </a:rPr>
              <a:t>Ejemplo</a:t>
            </a:r>
            <a:endParaRPr lang="es-ES" sz="2000" b="1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 smtClean="0">
                <a:latin typeface="+mj-lt"/>
              </a:rPr>
              <a:t>Si </a:t>
            </a:r>
            <a:r>
              <a:rPr lang="es-ES" sz="1600" dirty="0">
                <a:latin typeface="+mj-lt"/>
              </a:rPr>
              <a:t>tenemos la siguiente imagen de 150px x 150px: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+mj-lt"/>
              </a:rPr>
              <a:t>Al aplicar la propiedad </a:t>
            </a:r>
            <a:r>
              <a:rPr lang="es-ES" sz="1600" dirty="0" err="1">
                <a:latin typeface="+mj-lt"/>
              </a:rPr>
              <a:t>border-image-slice</a:t>
            </a:r>
            <a:r>
              <a:rPr lang="es-ES" sz="1600" dirty="0">
                <a:latin typeface="+mj-lt"/>
              </a:rPr>
              <a:t>: 33% la imagen queda dividida en nueve partes iguales de la siguiente manera: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+mj-lt"/>
              </a:rPr>
              <a:t>Cada una de estas partes de la imagen es la que se verá en su correspondiente parte del borde.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18</a:t>
            </a:fld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097" y="2636912"/>
            <a:ext cx="1079086" cy="10790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890" y="5252545"/>
            <a:ext cx="1231499" cy="12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4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Bordes con imágenes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752923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b="1" dirty="0" smtClean="0">
                <a:latin typeface="+mj-lt"/>
              </a:rPr>
              <a:t>Ejemplo</a:t>
            </a:r>
            <a:endParaRPr lang="es-ES" sz="2000" b="1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 smtClean="0">
                <a:latin typeface="+mj-lt"/>
              </a:rPr>
              <a:t>A </a:t>
            </a:r>
            <a:r>
              <a:rPr lang="es-ES" sz="2000" dirty="0">
                <a:latin typeface="+mj-lt"/>
              </a:rPr>
              <a:t>continuación </a:t>
            </a:r>
            <a:r>
              <a:rPr lang="es-ES" sz="2000" dirty="0" smtClean="0">
                <a:latin typeface="+mj-lt"/>
              </a:rPr>
              <a:t>incluimos </a:t>
            </a:r>
            <a:r>
              <a:rPr lang="es-ES" sz="2000" dirty="0">
                <a:latin typeface="+mj-lt"/>
              </a:rPr>
              <a:t>el borde </a:t>
            </a:r>
            <a:r>
              <a:rPr lang="es-ES" sz="2000" dirty="0" smtClean="0">
                <a:latin typeface="+mj-lt"/>
              </a:rPr>
              <a:t>de la imagen:</a:t>
            </a: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19</a:t>
            </a:fld>
            <a:endParaRPr lang="es-ES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382863" y="2536498"/>
            <a:ext cx="6279554" cy="2292935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capaborde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6195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300px; </a:t>
            </a:r>
          </a:p>
          <a:p>
            <a:pPr marL="36195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150px; </a:t>
            </a:r>
          </a:p>
          <a:p>
            <a:pPr marL="36195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border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30px 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blue; </a:t>
            </a:r>
            <a:endParaRPr lang="es-ES" altLang="es-ES" sz="13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195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border-image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imagenes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/imagen.jpg) 33% round;</a:t>
            </a:r>
          </a:p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endParaRPr lang="es-ES" altLang="es-E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id="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capaborde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361950" indent="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&lt;p&gt;Elemento con bordes con imágenes.&lt;/p&gt;</a:t>
            </a:r>
          </a:p>
          <a:p>
            <a:pPr marL="361950" indent="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&lt;p&gt;Visible en los principales navegadores.&lt;/p&gt;</a:t>
            </a:r>
          </a:p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</a:t>
            </a:r>
            <a:r>
              <a:rPr lang="es-ES" altLang="es-ES" sz="1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s-ES" altLang="es-E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5106700"/>
            <a:ext cx="2828852" cy="164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3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Box-</a:t>
            </a:r>
            <a:r>
              <a:rPr lang="es-ES" sz="4000" dirty="0" err="1" smtClean="0"/>
              <a:t>Sizing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1442" y="1628800"/>
            <a:ext cx="7920880" cy="4968552"/>
          </a:xfrm>
        </p:spPr>
        <p:txBody>
          <a:bodyPr>
            <a:noAutofit/>
          </a:bodyPr>
          <a:lstStyle/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dirty="0" smtClean="0">
                <a:latin typeface="+mj-lt"/>
              </a:rPr>
              <a:t>La propiedad </a:t>
            </a:r>
            <a:r>
              <a:rPr lang="es-ES" sz="1600" b="1" dirty="0">
                <a:latin typeface="+mj-lt"/>
              </a:rPr>
              <a:t>box-</a:t>
            </a:r>
            <a:r>
              <a:rPr lang="es-ES" sz="1600" b="1" dirty="0" err="1">
                <a:latin typeface="+mj-lt"/>
              </a:rPr>
              <a:t>sizing</a:t>
            </a:r>
            <a:r>
              <a:rPr lang="es-ES" sz="1600" dirty="0">
                <a:latin typeface="+mj-lt"/>
              </a:rPr>
              <a:t>, </a:t>
            </a:r>
            <a:r>
              <a:rPr lang="es-ES" sz="1600" dirty="0" smtClean="0">
                <a:latin typeface="+mj-lt"/>
              </a:rPr>
              <a:t> </a:t>
            </a:r>
            <a:r>
              <a:rPr lang="es-ES" sz="1600" dirty="0">
                <a:latin typeface="+mj-lt"/>
              </a:rPr>
              <a:t>permite cambiar la forma en la que el tamaño de un elemento es calculado y obliga a los </a:t>
            </a:r>
            <a:r>
              <a:rPr lang="es-ES" sz="1600" dirty="0" smtClean="0">
                <a:latin typeface="+mj-lt"/>
              </a:rPr>
              <a:t>navegadores </a:t>
            </a:r>
            <a:r>
              <a:rPr lang="es-ES" sz="1600" dirty="0">
                <a:latin typeface="+mj-lt"/>
              </a:rPr>
              <a:t>a incluir el relleno y el borde </a:t>
            </a:r>
            <a:r>
              <a:rPr lang="es-ES" sz="1600" dirty="0" smtClean="0">
                <a:latin typeface="+mj-lt"/>
              </a:rPr>
              <a:t>en las propiedades </a:t>
            </a:r>
            <a:r>
              <a:rPr lang="es-ES" sz="1600" dirty="0" err="1" smtClean="0">
                <a:latin typeface="+mj-lt"/>
              </a:rPr>
              <a:t>width</a:t>
            </a:r>
            <a:r>
              <a:rPr lang="es-ES" sz="1600" dirty="0" smtClean="0">
                <a:latin typeface="+mj-lt"/>
              </a:rPr>
              <a:t> y </a:t>
            </a:r>
            <a:r>
              <a:rPr lang="es-ES" sz="1600" dirty="0" err="1" smtClean="0">
                <a:latin typeface="+mj-lt"/>
              </a:rPr>
              <a:t>height</a:t>
            </a:r>
            <a:r>
              <a:rPr lang="es-ES" sz="1600" dirty="0" smtClean="0">
                <a:latin typeface="+mj-lt"/>
              </a:rPr>
              <a:t>.</a:t>
            </a:r>
            <a:endParaRPr lang="es-ES" sz="1600" dirty="0">
              <a:latin typeface="+mj-lt"/>
            </a:endParaRPr>
          </a:p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dirty="0" smtClean="0">
                <a:latin typeface="+mj-lt"/>
              </a:rPr>
              <a:t>La </a:t>
            </a:r>
            <a:r>
              <a:rPr lang="es-ES" sz="1600" dirty="0">
                <a:latin typeface="+mj-lt"/>
              </a:rPr>
              <a:t>propiedad box-</a:t>
            </a:r>
            <a:r>
              <a:rPr lang="es-ES" sz="1600" dirty="0" err="1">
                <a:latin typeface="+mj-lt"/>
              </a:rPr>
              <a:t>sizing</a:t>
            </a:r>
            <a:r>
              <a:rPr lang="es-ES" sz="1600" dirty="0">
                <a:latin typeface="+mj-lt"/>
              </a:rPr>
              <a:t> puede tomar tres valores:</a:t>
            </a:r>
          </a:p>
          <a:p>
            <a:pPr marL="61722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b="1" dirty="0" err="1" smtClean="0">
                <a:latin typeface="+mj-lt"/>
              </a:rPr>
              <a:t>content</a:t>
            </a:r>
            <a:r>
              <a:rPr lang="es-ES" sz="1600" b="1" dirty="0" smtClean="0">
                <a:latin typeface="+mj-lt"/>
              </a:rPr>
              <a:t>-box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err="1" smtClean="0">
                <a:latin typeface="+mj-lt"/>
              </a:rPr>
              <a:t>valorpor</a:t>
            </a:r>
            <a:r>
              <a:rPr lang="es-ES" sz="1600" dirty="0" smtClean="0">
                <a:latin typeface="+mj-lt"/>
              </a:rPr>
              <a:t> </a:t>
            </a:r>
            <a:r>
              <a:rPr lang="es-ES" sz="1600" dirty="0">
                <a:latin typeface="+mj-lt"/>
              </a:rPr>
              <a:t>defecto. Las propiedades </a:t>
            </a:r>
            <a:r>
              <a:rPr lang="es-ES" sz="1600" dirty="0" err="1">
                <a:latin typeface="+mj-lt"/>
              </a:rPr>
              <a:t>width</a:t>
            </a:r>
            <a:r>
              <a:rPr lang="es-ES" sz="1600" dirty="0">
                <a:latin typeface="+mj-lt"/>
              </a:rPr>
              <a:t> y </a:t>
            </a:r>
            <a:r>
              <a:rPr lang="es-ES" sz="1600" dirty="0" err="1">
                <a:latin typeface="+mj-lt"/>
              </a:rPr>
              <a:t>height</a:t>
            </a:r>
            <a:r>
              <a:rPr lang="es-ES" sz="1600" dirty="0">
                <a:latin typeface="+mj-lt"/>
              </a:rPr>
              <a:t> son las medidas del contenido, pero no incluyen el relleno, el borde o el margen.</a:t>
            </a:r>
          </a:p>
          <a:p>
            <a:pPr marL="61722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b="1" dirty="0" err="1" smtClean="0">
                <a:latin typeface="+mj-lt"/>
              </a:rPr>
              <a:t>padding</a:t>
            </a:r>
            <a:r>
              <a:rPr lang="es-ES" sz="1600" b="1" dirty="0" smtClean="0">
                <a:latin typeface="+mj-lt"/>
              </a:rPr>
              <a:t>-box</a:t>
            </a:r>
            <a:r>
              <a:rPr lang="es-ES" sz="1600" dirty="0">
                <a:latin typeface="+mj-lt"/>
              </a:rPr>
              <a:t>: en este caso las propiedades </a:t>
            </a:r>
            <a:r>
              <a:rPr lang="es-ES" sz="1600" dirty="0" err="1">
                <a:latin typeface="+mj-lt"/>
              </a:rPr>
              <a:t>width</a:t>
            </a:r>
            <a:r>
              <a:rPr lang="es-ES" sz="1600" dirty="0">
                <a:latin typeface="+mj-lt"/>
              </a:rPr>
              <a:t> y </a:t>
            </a:r>
            <a:r>
              <a:rPr lang="es-ES" sz="1600" dirty="0" err="1">
                <a:latin typeface="+mj-lt"/>
              </a:rPr>
              <a:t>height</a:t>
            </a:r>
            <a:r>
              <a:rPr lang="es-ES" sz="1600" dirty="0">
                <a:latin typeface="+mj-lt"/>
              </a:rPr>
              <a:t> incluyen el </a:t>
            </a:r>
            <a:r>
              <a:rPr lang="es-ES" sz="1600" dirty="0" err="1">
                <a:latin typeface="+mj-lt"/>
              </a:rPr>
              <a:t>padding</a:t>
            </a:r>
            <a:r>
              <a:rPr lang="es-ES" sz="1600" dirty="0">
                <a:latin typeface="+mj-lt"/>
              </a:rPr>
              <a:t> o relleno pero no incluyen el borde y el margen.</a:t>
            </a:r>
          </a:p>
          <a:p>
            <a:pPr marL="61722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600" b="1" dirty="0" err="1" smtClean="0">
                <a:latin typeface="+mj-lt"/>
              </a:rPr>
              <a:t>border</a:t>
            </a:r>
            <a:r>
              <a:rPr lang="es-ES" sz="1600" b="1" dirty="0" smtClean="0">
                <a:latin typeface="+mj-lt"/>
              </a:rPr>
              <a:t>-box</a:t>
            </a:r>
            <a:r>
              <a:rPr lang="es-ES" sz="1600" dirty="0">
                <a:latin typeface="+mj-lt"/>
              </a:rPr>
              <a:t>: en este caso las propiedades </a:t>
            </a:r>
            <a:r>
              <a:rPr lang="es-ES" sz="1600" dirty="0" err="1">
                <a:latin typeface="+mj-lt"/>
              </a:rPr>
              <a:t>width</a:t>
            </a:r>
            <a:r>
              <a:rPr lang="es-ES" sz="1600" dirty="0">
                <a:latin typeface="+mj-lt"/>
              </a:rPr>
              <a:t> y </a:t>
            </a:r>
            <a:r>
              <a:rPr lang="es-ES" sz="1600" dirty="0" err="1">
                <a:latin typeface="+mj-lt"/>
              </a:rPr>
              <a:t>height</a:t>
            </a:r>
            <a:r>
              <a:rPr lang="es-ES" sz="1600" dirty="0">
                <a:latin typeface="+mj-lt"/>
              </a:rPr>
              <a:t> incluyen el relleno y el borde, pero no el </a:t>
            </a:r>
            <a:r>
              <a:rPr lang="es-ES" sz="1600" dirty="0" err="1">
                <a:latin typeface="+mj-lt"/>
              </a:rPr>
              <a:t>margin</a:t>
            </a:r>
            <a:r>
              <a:rPr lang="es-ES" sz="1600" dirty="0">
                <a:latin typeface="+mj-lt"/>
              </a:rPr>
              <a:t>.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b="1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b="1" dirty="0" smtClean="0">
              <a:latin typeface="+mj-lt"/>
              <a:hlinkClick r:id="rId2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b="1" dirty="0" smtClean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600" dirty="0" smtClean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600" dirty="0">
              <a:latin typeface="+mj-lt"/>
              <a:hlinkClick r:id="rId2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600" b="1" dirty="0" smtClean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16038" y="4785677"/>
            <a:ext cx="7770762" cy="1815882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div {</a:t>
            </a:r>
          </a:p>
          <a:p>
            <a:pPr marL="360363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width: 100px; </a:t>
            </a:r>
          </a:p>
          <a:p>
            <a:pPr marL="360363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margin: 20px; </a:t>
            </a:r>
          </a:p>
          <a:p>
            <a:pPr marL="360363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padding: 10px;</a:t>
            </a:r>
          </a:p>
          <a:p>
            <a:pPr marL="360363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border: 1px solid #000000;</a:t>
            </a:r>
          </a:p>
          <a:p>
            <a:pPr marL="360363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box-sizing: border-box;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s-E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 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anchura total de la caja será 100 + (2x20)=</a:t>
            </a:r>
            <a:r>
              <a:rPr lang="es-E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140px </a:t>
            </a: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30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Box-</a:t>
            </a:r>
            <a:r>
              <a:rPr lang="es-ES" sz="4000" dirty="0" err="1" smtClean="0"/>
              <a:t>Sizing</a:t>
            </a:r>
            <a:r>
              <a:rPr lang="es-ES" sz="4000" dirty="0"/>
              <a:t>: La Regla de </a:t>
            </a:r>
            <a:r>
              <a:rPr lang="es-ES" sz="4000" dirty="0" smtClean="0"/>
              <a:t>Oro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1442" y="1628800"/>
            <a:ext cx="7920880" cy="4968552"/>
          </a:xfrm>
        </p:spPr>
        <p:txBody>
          <a:bodyPr>
            <a:noAutofit/>
          </a:bodyPr>
          <a:lstStyle/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6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b="1" dirty="0" smtClean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dirty="0">
                <a:latin typeface="+mj-lt"/>
                <a:hlinkClick r:id="rId2"/>
              </a:rPr>
              <a:t>Esta regla (* { box-</a:t>
            </a:r>
            <a:r>
              <a:rPr lang="es-ES" sz="1600" dirty="0" err="1">
                <a:latin typeface="+mj-lt"/>
                <a:hlinkClick r:id="rId2"/>
              </a:rPr>
              <a:t>sizing</a:t>
            </a:r>
            <a:r>
              <a:rPr lang="es-ES" sz="1600" dirty="0">
                <a:latin typeface="+mj-lt"/>
                <a:hlinkClick r:id="rId2"/>
              </a:rPr>
              <a:t>: </a:t>
            </a:r>
            <a:r>
              <a:rPr lang="es-ES" sz="1600" dirty="0" err="1">
                <a:latin typeface="+mj-lt"/>
                <a:hlinkClick r:id="rId2"/>
              </a:rPr>
              <a:t>border</a:t>
            </a:r>
            <a:r>
              <a:rPr lang="es-ES" sz="1600" dirty="0">
                <a:latin typeface="+mj-lt"/>
                <a:hlinkClick r:id="rId2"/>
              </a:rPr>
              <a:t>-box; }) es, de hecho, el estándar número uno en cualquier proyecto web moderno (conocido como un CSS </a:t>
            </a:r>
            <a:r>
              <a:rPr lang="es-ES" sz="1600" dirty="0" err="1">
                <a:latin typeface="+mj-lt"/>
                <a:hlinkClick r:id="rId2"/>
              </a:rPr>
              <a:t>Reset</a:t>
            </a:r>
            <a:r>
              <a:rPr lang="es-ES" sz="1600" dirty="0">
                <a:latin typeface="+mj-lt"/>
                <a:hlinkClick r:id="rId2"/>
              </a:rPr>
              <a:t>).</a:t>
            </a:r>
            <a:endParaRPr lang="es-ES" sz="1600" dirty="0" smtClean="0">
              <a:latin typeface="+mj-lt"/>
              <a:hlinkClick r:id="rId2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dirty="0"/>
              <a:t>Al aplicar esta regla al selector universal (*), le estás diciendo al navegador: "Si digo que la caja mide 100px, quiero que mida 100px en </a:t>
            </a:r>
            <a:r>
              <a:rPr lang="es-ES" sz="1600" dirty="0" err="1"/>
              <a:t>total".El</a:t>
            </a:r>
            <a:r>
              <a:rPr lang="es-ES" sz="1600" dirty="0"/>
              <a:t> navegador automáticamente empuja el </a:t>
            </a:r>
            <a:r>
              <a:rPr lang="es-ES" sz="1600" dirty="0" err="1"/>
              <a:t>padding</a:t>
            </a:r>
            <a:r>
              <a:rPr lang="es-ES" sz="1600" dirty="0"/>
              <a:t> y el </a:t>
            </a:r>
            <a:r>
              <a:rPr lang="es-ES" sz="1600" dirty="0" err="1"/>
              <a:t>border</a:t>
            </a:r>
            <a:r>
              <a:rPr lang="es-ES" sz="1600" dirty="0"/>
              <a:t> hacia adentro, robándole espacio al contenido, para garantizar que el tamaño exterior jamás supere los 100px que pediste.</a:t>
            </a: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600" b="1" dirty="0" smtClean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21</a:t>
            </a:fld>
            <a:endParaRPr lang="es-E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916038" y="1525924"/>
            <a:ext cx="7770762" cy="738664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indent="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 { </a:t>
            </a:r>
          </a:p>
          <a:p>
            <a:pPr marL="0" indent="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box-sizing: border-box; </a:t>
            </a:r>
          </a:p>
          <a:p>
            <a:pPr marL="0" indent="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91" y="4072200"/>
            <a:ext cx="3617391" cy="249298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347" y="4034437"/>
            <a:ext cx="4082975" cy="224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0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Sombras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582615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  <a:hlinkClick r:id="rId2"/>
              </a:rPr>
              <a:t>http://</a:t>
            </a:r>
            <a:r>
              <a:rPr lang="es-ES" sz="2000" dirty="0" smtClean="0">
                <a:latin typeface="+mj-lt"/>
                <a:hlinkClick r:id="rId2"/>
              </a:rPr>
              <a:t>librosweb.es/libro/css_avanzado/capitulo_1/sombras.html</a:t>
            </a: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 smtClean="0">
                <a:latin typeface="+mj-lt"/>
              </a:rPr>
              <a:t>Con la propiedad </a:t>
            </a:r>
            <a:r>
              <a:rPr lang="es-ES" sz="2000" b="1" dirty="0" smtClean="0">
                <a:latin typeface="+mj-lt"/>
              </a:rPr>
              <a:t>box-</a:t>
            </a:r>
            <a:r>
              <a:rPr lang="es-ES" sz="2000" b="1" dirty="0" err="1" smtClean="0">
                <a:latin typeface="+mj-lt"/>
              </a:rPr>
              <a:t>shadow</a:t>
            </a:r>
            <a:r>
              <a:rPr lang="es-ES" sz="2000" dirty="0" smtClean="0">
                <a:latin typeface="+mj-lt"/>
              </a:rPr>
              <a:t> podemos crear </a:t>
            </a:r>
            <a:r>
              <a:rPr lang="es-ES" sz="2000" dirty="0">
                <a:latin typeface="+mj-lt"/>
              </a:rPr>
              <a:t>sombras en las cajas. </a:t>
            </a:r>
            <a:r>
              <a:rPr lang="es-ES" sz="2000" dirty="0" smtClean="0">
                <a:latin typeface="+mj-lt"/>
              </a:rPr>
              <a:t>Esta propiedad tiene </a:t>
            </a:r>
            <a:r>
              <a:rPr lang="es-ES" sz="2000" dirty="0">
                <a:latin typeface="+mj-lt"/>
              </a:rPr>
              <a:t>varios </a:t>
            </a:r>
            <a:r>
              <a:rPr lang="es-ES" sz="2000" dirty="0" smtClean="0">
                <a:latin typeface="+mj-lt"/>
              </a:rPr>
              <a:t>atributos a especificar: </a:t>
            </a:r>
            <a:r>
              <a:rPr lang="es-ES" sz="2000" dirty="0">
                <a:latin typeface="+mj-lt"/>
              </a:rPr>
              <a:t>características de la sombra, </a:t>
            </a:r>
            <a:r>
              <a:rPr lang="es-ES" sz="2000" dirty="0" smtClean="0">
                <a:latin typeface="+mj-lt"/>
              </a:rPr>
              <a:t>difuminado</a:t>
            </a:r>
            <a:r>
              <a:rPr lang="es-ES" sz="2000" dirty="0">
                <a:latin typeface="+mj-lt"/>
              </a:rPr>
              <a:t>, separación </a:t>
            </a:r>
            <a:r>
              <a:rPr lang="es-ES" sz="2000" dirty="0" smtClean="0">
                <a:latin typeface="+mj-lt"/>
              </a:rPr>
              <a:t>entre la sombra y la caja y  </a:t>
            </a:r>
            <a:r>
              <a:rPr lang="es-ES" sz="2000" dirty="0">
                <a:latin typeface="+mj-lt"/>
              </a:rPr>
              <a:t>color.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879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Sombras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582615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b="1" dirty="0" smtClean="0">
                <a:latin typeface="+mj-lt"/>
              </a:rPr>
              <a:t>box-</a:t>
            </a:r>
            <a:r>
              <a:rPr lang="es-ES" sz="1600" b="1" dirty="0" err="1" smtClean="0">
                <a:latin typeface="+mj-lt"/>
              </a:rPr>
              <a:t>shadow</a:t>
            </a:r>
            <a:r>
              <a:rPr lang="es-ES" sz="1600" b="1" dirty="0">
                <a:latin typeface="+mj-lt"/>
              </a:rPr>
              <a:t>: </a:t>
            </a:r>
            <a:r>
              <a:rPr lang="es-ES" sz="1600" b="1" dirty="0" err="1">
                <a:latin typeface="+mj-lt"/>
              </a:rPr>
              <a:t>none</a:t>
            </a:r>
            <a:r>
              <a:rPr lang="es-ES" sz="1600" b="1" dirty="0">
                <a:latin typeface="+mj-lt"/>
              </a:rPr>
              <a:t> | [</a:t>
            </a:r>
            <a:r>
              <a:rPr lang="es-ES" sz="1600" b="1" dirty="0" err="1">
                <a:latin typeface="+mj-lt"/>
              </a:rPr>
              <a:t>inset</a:t>
            </a:r>
            <a:r>
              <a:rPr lang="es-ES" sz="1600" b="1" dirty="0">
                <a:latin typeface="+mj-lt"/>
              </a:rPr>
              <a:t>? &amp;&amp; [ &lt;offset-x&gt; &lt;offset-y&gt; &lt;</a:t>
            </a:r>
            <a:r>
              <a:rPr lang="es-ES" sz="1600" b="1" dirty="0" err="1">
                <a:latin typeface="+mj-lt"/>
              </a:rPr>
              <a:t>blur-radius</a:t>
            </a:r>
            <a:r>
              <a:rPr lang="es-ES" sz="1600" b="1" dirty="0">
                <a:latin typeface="+mj-lt"/>
              </a:rPr>
              <a:t>&gt;? &lt;spread-</a:t>
            </a:r>
            <a:r>
              <a:rPr lang="es-ES" sz="1600" b="1" dirty="0" err="1">
                <a:latin typeface="+mj-lt"/>
              </a:rPr>
              <a:t>radius</a:t>
            </a:r>
            <a:r>
              <a:rPr lang="es-ES" sz="1600" b="1" dirty="0">
                <a:latin typeface="+mj-lt"/>
              </a:rPr>
              <a:t>&gt;? &lt;color&gt;? ] ]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 smtClean="0">
                <a:latin typeface="+mj-lt"/>
              </a:rPr>
              <a:t>inset</a:t>
            </a:r>
            <a:r>
              <a:rPr lang="es-ES" sz="1600" dirty="0">
                <a:latin typeface="+mj-lt"/>
              </a:rPr>
              <a:t>: si no se especifica, la sombra </a:t>
            </a:r>
            <a:r>
              <a:rPr lang="es-ES" sz="1600" dirty="0" smtClean="0">
                <a:latin typeface="+mj-lt"/>
              </a:rPr>
              <a:t>es hacia fuera. Si ponemos la palabra </a:t>
            </a:r>
            <a:r>
              <a:rPr lang="es-ES" sz="1600" dirty="0" err="1" smtClean="0">
                <a:latin typeface="+mj-lt"/>
              </a:rPr>
              <a:t>inset</a:t>
            </a:r>
            <a:r>
              <a:rPr lang="es-ES" sz="1600" dirty="0" smtClean="0">
                <a:latin typeface="+mj-lt"/>
              </a:rPr>
              <a:t> la sombra es hacia dentro.</a:t>
            </a:r>
            <a:endParaRPr lang="es-ES" sz="1600" dirty="0">
              <a:latin typeface="+mj-lt"/>
            </a:endParaRPr>
          </a:p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smtClean="0">
                <a:latin typeface="+mj-lt"/>
              </a:rPr>
              <a:t>&lt;</a:t>
            </a:r>
            <a:r>
              <a:rPr lang="es-ES" sz="1600" b="1" dirty="0">
                <a:latin typeface="+mj-lt"/>
              </a:rPr>
              <a:t>offset-x&gt; &lt;offset-y&gt;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smtClean="0">
                <a:latin typeface="+mj-lt"/>
              </a:rPr>
              <a:t>definen el </a:t>
            </a:r>
            <a:r>
              <a:rPr lang="es-ES" sz="1600" dirty="0">
                <a:latin typeface="+mj-lt"/>
              </a:rPr>
              <a:t>desplazamiento de la sombra. &lt;offset-x&gt; especifica la distancia horizontal, los valores negativos colocan la sombra a la izquierda del elemento en vez de a la </a:t>
            </a:r>
            <a:r>
              <a:rPr lang="es-ES" sz="1600" dirty="0" smtClean="0">
                <a:latin typeface="+mj-lt"/>
              </a:rPr>
              <a:t>derecha. </a:t>
            </a:r>
            <a:r>
              <a:rPr lang="es-ES" sz="1600" dirty="0">
                <a:latin typeface="+mj-lt"/>
              </a:rPr>
              <a:t>&lt;offset-y&gt; especifica la distancia vertical, los valores negativos colocan la sombra por encima del elemento.</a:t>
            </a:r>
          </a:p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smtClean="0">
                <a:latin typeface="+mj-lt"/>
              </a:rPr>
              <a:t>&lt;</a:t>
            </a:r>
            <a:r>
              <a:rPr lang="es-ES" sz="1600" b="1" dirty="0" err="1">
                <a:latin typeface="+mj-lt"/>
              </a:rPr>
              <a:t>blur-radius</a:t>
            </a:r>
            <a:r>
              <a:rPr lang="es-ES" sz="1600" b="1" dirty="0">
                <a:latin typeface="+mj-lt"/>
              </a:rPr>
              <a:t>&gt;: </a:t>
            </a:r>
            <a:r>
              <a:rPr lang="es-ES" sz="1600" dirty="0">
                <a:latin typeface="+mj-lt"/>
              </a:rPr>
              <a:t>cuanto mayor sea este valor, mayor será la </a:t>
            </a:r>
            <a:r>
              <a:rPr lang="es-ES" sz="1600" dirty="0" err="1">
                <a:latin typeface="+mj-lt"/>
              </a:rPr>
              <a:t>difuminación</a:t>
            </a:r>
            <a:r>
              <a:rPr lang="es-ES" sz="1600" dirty="0">
                <a:latin typeface="+mj-lt"/>
              </a:rPr>
              <a:t>. Los valores negativos no son permitidos. Si no es especificado, su valor será 0 (la sombra aparece totalmente definida).</a:t>
            </a:r>
          </a:p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smtClean="0">
                <a:latin typeface="+mj-lt"/>
              </a:rPr>
              <a:t>&lt;</a:t>
            </a:r>
            <a:r>
              <a:rPr lang="es-ES" sz="1600" b="1" dirty="0">
                <a:latin typeface="+mj-lt"/>
              </a:rPr>
              <a:t>spread-</a:t>
            </a:r>
            <a:r>
              <a:rPr lang="es-ES" sz="1600" b="1" dirty="0" err="1">
                <a:latin typeface="+mj-lt"/>
              </a:rPr>
              <a:t>radius</a:t>
            </a:r>
            <a:r>
              <a:rPr lang="es-ES" sz="1600" b="1" dirty="0">
                <a:latin typeface="+mj-lt"/>
              </a:rPr>
              <a:t>&gt;:</a:t>
            </a:r>
            <a:r>
              <a:rPr lang="es-ES" sz="1600" dirty="0">
                <a:latin typeface="+mj-lt"/>
              </a:rPr>
              <a:t> los valores positivos harán que la sombra se expanda y crezca más, los valores negativos harán que la sombra se reduzca de tamaño. Si no se especifica, este será 0 (la sombra será del mismo tamaño del elemento).</a:t>
            </a:r>
          </a:p>
          <a:p>
            <a:pPr marL="34290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smtClean="0">
                <a:latin typeface="+mj-lt"/>
              </a:rPr>
              <a:t>&lt;</a:t>
            </a:r>
            <a:r>
              <a:rPr lang="es-ES" sz="1600" b="1" dirty="0">
                <a:latin typeface="+mj-lt"/>
              </a:rPr>
              <a:t>color&gt;: </a:t>
            </a:r>
            <a:r>
              <a:rPr lang="es-ES" sz="1600" dirty="0">
                <a:latin typeface="+mj-lt"/>
              </a:rPr>
              <a:t>indica el color de la sombra.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386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Sombras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752923"/>
            <a:ext cx="7920880" cy="4968552"/>
          </a:xfrm>
        </p:spPr>
        <p:txBody>
          <a:bodyPr>
            <a:noAutofit/>
          </a:bodyPr>
          <a:lstStyle/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2000" dirty="0">
                <a:latin typeface="+mj-lt"/>
              </a:rPr>
              <a:t> </a:t>
            </a: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2000" dirty="0" smtClean="0">
              <a:latin typeface="+mj-lt"/>
            </a:endParaRPr>
          </a:p>
          <a:p>
            <a:pPr marL="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24</a:t>
            </a:fld>
            <a:endParaRPr lang="es-ES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57200" y="1628800"/>
            <a:ext cx="4258816" cy="4293483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#sombra1{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#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ddd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300px;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10px;</a:t>
            </a:r>
          </a:p>
          <a:p>
            <a:pPr marL="355600" indent="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box-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shadow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5px 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5px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0 8px #333;</a:t>
            </a:r>
          </a:p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#sombra2{ 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200px; 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10px;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#999;</a:t>
            </a:r>
          </a:p>
          <a:p>
            <a:pPr marL="355600" indent="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color: #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fff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55600" indent="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box-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shadow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inset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5px 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5px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2px #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ffc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#sombra3{ 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#090; color: #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fff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400px; 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10px;</a:t>
            </a:r>
          </a:p>
          <a:p>
            <a:pPr marL="355600" indent="0" eaLnBrk="1" hangingPunct="1">
              <a:buNone/>
            </a:pP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border-radius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7px;</a:t>
            </a:r>
          </a:p>
          <a:p>
            <a:pPr marL="355600" indent="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box-</a:t>
            </a:r>
            <a:r>
              <a:rPr lang="es-ES" altLang="es-E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shadow</a:t>
            </a: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15px -10px 3px #000;</a:t>
            </a:r>
          </a:p>
          <a:p>
            <a:pPr marL="266700" indent="-266700" eaLnBrk="1" hangingPunct="1">
              <a:buNone/>
            </a:pPr>
            <a:r>
              <a:rPr lang="es-ES" altLang="es-E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endParaRPr lang="es-ES" altLang="es-E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971" y="2708920"/>
            <a:ext cx="35814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8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50511</TotalTime>
  <Words>2343</Words>
  <Application>Microsoft Office PowerPoint</Application>
  <PresentationFormat>Presentación en pantalla (4:3)</PresentationFormat>
  <Paragraphs>578</Paragraphs>
  <Slides>24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Calibri</vt:lpstr>
      <vt:lpstr>Constantia</vt:lpstr>
      <vt:lpstr>Courier New</vt:lpstr>
      <vt:lpstr>Times New Roman</vt:lpstr>
      <vt:lpstr>Wingdings</vt:lpstr>
      <vt:lpstr>Wingdings 2</vt:lpstr>
      <vt:lpstr>Flujo</vt:lpstr>
      <vt:lpstr>CSS –CAJAS</vt:lpstr>
      <vt:lpstr>Modelo de cajas (box model)</vt:lpstr>
      <vt:lpstr>Modelo de cajas (box model)</vt:lpstr>
      <vt:lpstr>Modelo de cajas (box model)</vt:lpstr>
      <vt:lpstr>Modelo de cajas (box model)</vt:lpstr>
      <vt:lpstr>Anchura y altura</vt:lpstr>
      <vt:lpstr>Márgenes</vt:lpstr>
      <vt:lpstr>Rellenos</vt:lpstr>
      <vt:lpstr>Bordes</vt:lpstr>
      <vt:lpstr>Bordes</vt:lpstr>
      <vt:lpstr>Bordes redondeados</vt:lpstr>
      <vt:lpstr>Outline</vt:lpstr>
      <vt:lpstr>Bordes con imágenes</vt:lpstr>
      <vt:lpstr>Bordes con imágenes</vt:lpstr>
      <vt:lpstr>Bordes con imágenes</vt:lpstr>
      <vt:lpstr>Bordes con imágenes</vt:lpstr>
      <vt:lpstr>Bordes con imágenes</vt:lpstr>
      <vt:lpstr>Bordes con imágenes</vt:lpstr>
      <vt:lpstr>Bordes con imágenes</vt:lpstr>
      <vt:lpstr>Box-Sizing</vt:lpstr>
      <vt:lpstr>Box-Sizing: La Regla de Oro</vt:lpstr>
      <vt:lpstr>Sombras</vt:lpstr>
      <vt:lpstr>Sombras</vt:lpstr>
      <vt:lpstr>Sombras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Ainara Montoya</dc:creator>
  <cp:lastModifiedBy>Coque</cp:lastModifiedBy>
  <cp:revision>1629</cp:revision>
  <cp:lastPrinted>2015-09-21T12:13:15Z</cp:lastPrinted>
  <dcterms:created xsi:type="dcterms:W3CDTF">2012-04-05T17:12:23Z</dcterms:created>
  <dcterms:modified xsi:type="dcterms:W3CDTF">2026-09-23T06:23:21Z</dcterms:modified>
</cp:coreProperties>
</file>